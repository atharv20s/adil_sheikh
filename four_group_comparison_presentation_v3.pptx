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presentation on resolving the temporal vulnerability window in Byzantine-secured smart grid energy trading.</a:t>
            </a:r>
          </a:p>
          <a:p>
            <a:r>
              <a:t>This project evaluates how different Byzantine Fault Tolerant consensus algorithms affect the physical security of peer-to-peer energy markets. We introduce the Static-Temporal Security Framework (STSF) to model both cryptographic strength and latency-induced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need this project? In local microgrids, peer-to-peer energy trading is essential to integrate EVs and correct grid frequency deviations. However, smart meters are deployed at customer premises and are highly vulnerable to physical and cyber tampering. A blockchain consensus layer acts as the root of trust by requiring validator agreement on valid transactions before block execution. Figure 1.1 provides a visual representation of how electric vehicles communicate bid transactions to the distribution network via blockchain nodes.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significance of the problem? False data injections don't just corrupt records—they can destabilize physical transformers and lines. More importantly, traditional security models assume consensus is instantaneous. In reality, consensus takes time. During this unfinalized window, an attacker can launch repeated attacks. Thus, latency directly determines physical grid vulnerability. Figure 1.2 illustrates the flow of false data injections targetting the telemetry lines, which increases as latency increases.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existing literature, the baseline paper by Sheikh et al. used Lamport's Oral Message protocol. It derived an excellent static security probability of 10^-173. However, OM(m) is extremely slow and requires O(n^f) messages. At n=51 and f=16, it takes 43.35 seconds per block. This massive gap leaves the grid exposed to consecutive attacks.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our proposed approach? First, we formulate the STSF equation. Since P_TAb is near 0 for all blockchains, the security simplifies to (1 - P_temporal), which is driven entirely by latency. We evaluate 8 algorithms classified into 4 research groups: Classical Full-Mesh, Committee-Delegated, Hierarchical Clustered, and Sub-Second Pipelined/Randomized protocols. Figure 1.3 visualizes the validator node layout participating in the decentralized voting round.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implement this? We construct closed-form equations for latency and throughput. Instead of simple Monte Carlo runs, our model provides analytical proofs. We map topologies accurately: Group 3 uses cluster-local link counts, and Group 2 uses smaller delegated validator pools. A Python engine was created to execute these sweeps.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timeline is organized as a 4-week research schedule. We completed literature review and vulnerability identification in Week 1, developed the core latency proofs in Week 2, and implemented the comparison engine and figures in Week 3. We are currently finalizing the defense-in-depth model in Week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terms of updates, we have successfully developed the STSF, built the Python scripts, and exported all figures. Our main challenge was comparing very different network typologies. We mitigated this by modeling cluster-local link parameters to reflect localized consensus overhead fairly.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main numerical results. Note the monotonic improvement as we move down. Classical CFM-BA has 43 seconds latency and 1.2 TPS, yielding P_secure of only 0.013. Hierarchical HTC-PBFT improves this to 92-95% by clustering validation. Finally, next-gen SS-PR-BFT (Tower BFT and RVR) hits 200+ TPS and sub-250ms latency, achieving our target P_secure &gt;= 0.98.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temporal vulnerability decay curves. The curve shows how security probability decays as a function of consensus latency. The circles represent the actual operating points of our 8 algorithms under standard grid parameters. Sub-second protocols remain safely on the far left, sealing the attack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a multi-dimensional perspective, we present a performance heatmap and a radar chart. The heatmap normalizes and colors the scores, where green is best. The radar chart maps five axes: security, throughput, inverse latency, message efficiency, and leader privacy. Sub-second protocols cover the largest area, showing complete dominance.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analyzed key management. If a single validator key is stolen, the node is compromised. By applying Shamir Secret Sharing with a (3,5) threshold on EV nodes, the attacker must compromise 3 key shares instead of 1. This reduces the compromise probability from 0.01 to 9.85 x 10^-6, which propagates and reinforces the blockchain boundary.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are our next steps? We are on track to compile the final thesis. We plan to write a full paper for IEEE Transactions. Research-wise, we will investigate the sensitivity of these models to network packet loss and jitter, and explore hybrid consensus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resolved the temporal vulnerability window by comparing 8 BFT consensus algorithms. Consensus latency is the critical parameter governing physical grid security. We recommend deploying Group 4 protocols for modern 5G networks, and Group 3 clustered consensus for legacy networks.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list of core references from the literature. These form the baseline and comparison algorithms we evaluated. Thank you for your attention, and I am now open to any questions or suggestions from the mentors.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1188720"/>
            <a:ext cx="10332720" cy="1828800"/>
          </a:xfrm>
          <a:prstGeom prst="rect">
            <a:avLst/>
          </a:prstGeom>
          <a:noFill/>
        </p:spPr>
        <p:txBody>
          <a:bodyPr wrap="square" lIns="45720" rIns="45720">
            <a:spAutoFit/>
          </a:bodyPr>
          <a:lstStyle/>
          <a:p>
            <a:pPr algn="l">
              <a:defRPr sz="3200" b="1">
                <a:solidFill>
                  <a:srgbClr val="0F172A"/>
                </a:solidFill>
                <a:latin typeface="Outfit"/>
              </a:defRPr>
            </a:pPr>
            <a:r>
              <a:t>Resolving the Temporal Vulnerability Window in</a:t>
            </a:r>
            <a:br/>
            <a:r>
              <a:t>Byzantine-Secured Smart Grid Energy Trading</a:t>
            </a:r>
          </a:p>
        </p:txBody>
      </p:sp>
      <p:sp>
        <p:nvSpPr>
          <p:cNvPr id="4" name="Rectangle 3"/>
          <p:cNvSpPr/>
          <p:nvPr/>
        </p:nvSpPr>
        <p:spPr>
          <a:xfrm>
            <a:off x="914400" y="3108960"/>
            <a:ext cx="320040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383280"/>
            <a:ext cx="10332720" cy="548640"/>
          </a:xfrm>
          <a:prstGeom prst="rect">
            <a:avLst/>
          </a:prstGeom>
          <a:noFill/>
        </p:spPr>
        <p:txBody>
          <a:bodyPr wrap="square" lIns="45720" rIns="45720">
            <a:spAutoFit/>
          </a:bodyPr>
          <a:lstStyle/>
          <a:p>
            <a:pPr algn="l">
              <a:defRPr sz="1800" b="0">
                <a:solidFill>
                  <a:srgbClr val="0D9488"/>
                </a:solidFill>
                <a:latin typeface="Outfit"/>
              </a:defRPr>
            </a:pPr>
            <a:r>
              <a:t>A Four-Group Evaluation Using the Static-Temporal Security Framework (STSF)</a:t>
            </a:r>
          </a:p>
        </p:txBody>
      </p:sp>
      <p:sp>
        <p:nvSpPr>
          <p:cNvPr id="6" name="TextBox 5"/>
          <p:cNvSpPr txBox="1"/>
          <p:nvPr/>
        </p:nvSpPr>
        <p:spPr>
          <a:xfrm>
            <a:off x="914400" y="4206240"/>
            <a:ext cx="10332720" cy="1645920"/>
          </a:xfrm>
          <a:prstGeom prst="rect">
            <a:avLst/>
          </a:prstGeom>
          <a:noFill/>
        </p:spPr>
        <p:txBody>
          <a:bodyPr wrap="square" lIns="45720" rIns="45720">
            <a:spAutoFit/>
          </a:bodyPr>
          <a:lstStyle/>
          <a:p>
            <a:pPr algn="l">
              <a:defRPr sz="1400" b="0">
                <a:solidFill>
                  <a:srgbClr val="334155"/>
                </a:solidFill>
                <a:latin typeface="Outfit"/>
              </a:defRPr>
            </a:pPr>
            <a:r>
              <a:t>Presenter: VJTI Research Student</a:t>
            </a:r>
            <a:br/>
            <a:r>
              <a:t>Guide / Mentor: Department Research Guide</a:t>
            </a:r>
            <a:br/>
            <a:r>
              <a:t>Organization / Institution: Veermata Jijabai Technological Institute (VJTI) Mumbai</a:t>
            </a:r>
            <a:br/>
            <a:r>
              <a:t>Date: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 Introduction</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400" b="1">
                <a:solidFill>
                  <a:srgbClr val="0F172A"/>
                </a:solidFill>
                <a:latin typeface="Inter"/>
              </a:defRPr>
            </a:pPr>
            <a:r>
              <a:t>Background &amp; Context of the Project:</a:t>
            </a:r>
          </a:p>
          <a:p>
            <a:pPr lvl="1">
              <a:defRPr sz="1300">
                <a:solidFill>
                  <a:srgbClr val="334155"/>
                </a:solidFill>
                <a:latin typeface="Inter"/>
              </a:defRPr>
            </a:pPr>
            <a:r>
              <a:t>P2P energy markets enable dynamic bidding between Electric Vehicles (EVs) and Distribution Networks (DNs)</a:t>
            </a:r>
          </a:p>
          <a:p>
            <a:pPr lvl="1">
              <a:defRPr sz="1300">
                <a:solidFill>
                  <a:srgbClr val="334155"/>
                </a:solidFill>
                <a:latin typeface="Inter"/>
              </a:defRPr>
            </a:pPr>
            <a:r>
              <a:t>The physical system is modeled using the standard IEEE 33-Bus distribution network topology</a:t>
            </a:r>
          </a:p>
          <a:p>
            <a:pPr lvl="1">
              <a:defRPr sz="1300">
                <a:solidFill>
                  <a:srgbClr val="334155"/>
                </a:solidFill>
                <a:latin typeface="Inter"/>
              </a:defRPr>
            </a:pPr>
            <a:r>
              <a:t>Blockchain consensus operates as the root of trust, validating and appending transaction blocks</a:t>
            </a:r>
          </a:p>
          <a:p>
            <a:pPr lvl="1">
              <a:defRPr sz="1300">
                <a:solidFill>
                  <a:srgbClr val="334155"/>
                </a:solidFill>
                <a:latin typeface="Inter"/>
              </a:defRPr>
            </a:pPr>
            <a:r>
              <a:t>Prevents malicious transactions, double-spending, and tampering on the distributed ledger</a:t>
            </a:r>
          </a:p>
          <a:p>
            <a:pPr>
              <a:defRPr sz="1400" b="1">
                <a:solidFill>
                  <a:srgbClr val="0F172A"/>
                </a:solidFill>
                <a:latin typeface="Inter"/>
              </a:defRPr>
            </a:pPr>
            <a:r>
              <a:t>Distributed Verification Needs:</a:t>
            </a:r>
          </a:p>
          <a:p>
            <a:pPr lvl="1">
              <a:defRPr sz="1300">
                <a:solidFill>
                  <a:srgbClr val="334155"/>
                </a:solidFill>
                <a:latin typeface="Inter"/>
              </a:defRPr>
            </a:pPr>
            <a:r>
              <a:t>Smart meters operate in untrusted environments and are vulnerable to compromise</a:t>
            </a:r>
          </a:p>
          <a:p>
            <a:pPr lvl="1">
              <a:defRPr sz="1300">
                <a:solidFill>
                  <a:srgbClr val="334155"/>
                </a:solidFill>
                <a:latin typeface="Inter"/>
              </a:defRPr>
            </a:pPr>
            <a:r>
              <a:t>Consensus is required to align all validators on grid state before executing control actions</a:t>
            </a:r>
          </a:p>
          <a:p>
            <a:pPr lvl="1">
              <a:defRPr sz="1300">
                <a:solidFill>
                  <a:srgbClr val="334155"/>
                </a:solidFill>
                <a:latin typeface="Inter"/>
              </a:defRPr>
            </a:pPr>
            <a:r>
              <a:t>Must tolerate up to f faulty nodes in a system of size n &gt;= 3f + 1</a:t>
            </a:r>
          </a:p>
        </p:txBody>
      </p:sp>
      <p:pic>
        <p:nvPicPr>
          <p:cNvPr id="6" name="Picture 5" descr="visual_smart_grid_trading.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1.1: Schematic of Blockchain-Secured P2P V2G Energy Trading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2. Significance of the Problem</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400" b="1">
                <a:solidFill>
                  <a:srgbClr val="0F172A"/>
                </a:solidFill>
                <a:latin typeface="Inter"/>
              </a:defRPr>
            </a:pPr>
            <a:r>
              <a:t>Physical Grid Vulnerability:</a:t>
            </a:r>
          </a:p>
          <a:p>
            <a:pPr lvl="1">
              <a:defRPr sz="1300">
                <a:solidFill>
                  <a:srgbClr val="334155"/>
                </a:solidFill>
                <a:latin typeface="Inter"/>
              </a:defRPr>
            </a:pPr>
            <a:r>
              <a:t>False Data Injection (FDI) attacks on smart meters can corrupt local battery measurements</a:t>
            </a:r>
          </a:p>
          <a:p>
            <a:pPr lvl="1">
              <a:defRPr sz="1300">
                <a:solidFill>
                  <a:srgbClr val="334155"/>
                </a:solidFill>
                <a:latin typeface="Inter"/>
              </a:defRPr>
            </a:pPr>
            <a:r>
              <a:t>If corrupted data goes undetected, it triggers faulty grid control actions, destabilizing the network</a:t>
            </a:r>
          </a:p>
          <a:p>
            <a:pPr lvl="1">
              <a:defRPr sz="1300">
                <a:solidFill>
                  <a:srgbClr val="334155"/>
                </a:solidFill>
                <a:latin typeface="Inter"/>
              </a:defRPr>
            </a:pPr>
            <a:r>
              <a:t>Financial risk: Corrupted EV nodes can claim energy supply they did not physically deliver</a:t>
            </a:r>
          </a:p>
          <a:p>
            <a:pPr>
              <a:defRPr sz="1400" b="1">
                <a:solidFill>
                  <a:srgbClr val="0F172A"/>
                </a:solidFill>
                <a:latin typeface="Inter"/>
              </a:defRPr>
            </a:pPr>
            <a:r>
              <a:t>The Temporal Constraint (Window of Vulnerability):</a:t>
            </a:r>
          </a:p>
          <a:p>
            <a:pPr lvl="1">
              <a:defRPr sz="1300">
                <a:solidFill>
                  <a:srgbClr val="334155"/>
                </a:solidFill>
                <a:latin typeface="Inter"/>
              </a:defRPr>
            </a:pPr>
            <a:r>
              <a:t>Grid transient stability operates in milliseconds; consensus must match this timescale</a:t>
            </a:r>
          </a:p>
          <a:p>
            <a:pPr lvl="1">
              <a:defRPr sz="1300">
                <a:solidFill>
                  <a:srgbClr val="334155"/>
                </a:solidFill>
                <a:latin typeface="Inter"/>
              </a:defRPr>
            </a:pPr>
            <a:r>
              <a:t>If block finalization is slow, the open consensus window acts as a vulnerability surface</a:t>
            </a:r>
          </a:p>
          <a:p>
            <a:pPr lvl="1">
              <a:defRPr sz="1300">
                <a:solidFill>
                  <a:srgbClr val="334155"/>
                </a:solidFill>
                <a:latin typeface="Inter"/>
              </a:defRPr>
            </a:pPr>
            <a:r>
              <a:t>During this window, attackers can launch multiple consecutive FDI attack attempts</a:t>
            </a:r>
          </a:p>
          <a:p>
            <a:pPr lvl="1">
              <a:defRPr sz="1300">
                <a:solidFill>
                  <a:srgbClr val="334155"/>
                </a:solidFill>
                <a:latin typeface="Inter"/>
              </a:defRPr>
            </a:pPr>
            <a:r>
              <a:t>A secure consensus protocol must minimize latency to seal this vulnerability window</a:t>
            </a:r>
          </a:p>
        </p:txBody>
      </p:sp>
      <p:pic>
        <p:nvPicPr>
          <p:cNvPr id="6" name="Picture 5" descr="visual_grid_cyberattack.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1.2: Threat Vector - FDI Cyberattack on Smart Grid Actuators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3. Existing Methods / Literature Review</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Baseline Framework: Sheikh et al. (2020):</a:t>
            </a:r>
          </a:p>
          <a:p>
            <a:pPr lvl="1">
              <a:defRPr sz="1400">
                <a:solidFill>
                  <a:srgbClr val="334155"/>
                </a:solidFill>
                <a:latin typeface="Inter"/>
              </a:defRPr>
            </a:pPr>
            <a:r>
              <a:t>Proposed securing EV trading on an IEEE 33-Bus system using Lamport's Oral Message OM(m) consensus</a:t>
            </a:r>
          </a:p>
          <a:p>
            <a:pPr lvl="1">
              <a:defRPr sz="1400">
                <a:solidFill>
                  <a:srgbClr val="334155"/>
                </a:solidFill>
                <a:latin typeface="Inter"/>
              </a:defRPr>
            </a:pPr>
            <a:r>
              <a:t>Showed blockchain reduces static attack probability from P_TA to a negligible P_TAb ≈ 10⁻¹⁷³</a:t>
            </a:r>
          </a:p>
          <a:p>
            <a:pPr>
              <a:defRPr sz="1500" b="1">
                <a:solidFill>
                  <a:srgbClr val="0F172A"/>
                </a:solidFill>
                <a:latin typeface="Inter"/>
              </a:defRPr>
            </a:pPr>
            <a:r>
              <a:t>Critical Literature Gaps Identified:</a:t>
            </a:r>
          </a:p>
          <a:p>
            <a:pPr lvl="1">
              <a:defRPr sz="1400">
                <a:solidFill>
                  <a:srgbClr val="334155"/>
                </a:solidFill>
                <a:latin typeface="Inter"/>
              </a:defRPr>
            </a:pPr>
            <a:r>
              <a:t>1. Exponential Message Overhead: OM(m) has O(n^f) complexity, requiring 10¹⁸ messages at f=16!</a:t>
            </a:r>
          </a:p>
          <a:p>
            <a:pPr lvl="1">
              <a:defRPr sz="1400">
                <a:solidFill>
                  <a:srgbClr val="334155"/>
                </a:solidFill>
                <a:latin typeface="Inter"/>
              </a:defRPr>
            </a:pPr>
            <a:r>
              <a:t>2. Unquantified Latency: Consensus duration is ignored, but resolves to L = 43.35 seconds per block</a:t>
            </a:r>
          </a:p>
          <a:p>
            <a:pPr lvl="1">
              <a:defRPr sz="1400">
                <a:solidFill>
                  <a:srgbClr val="334155"/>
                </a:solidFill>
                <a:latin typeface="Inter"/>
              </a:defRPr>
            </a:pPr>
            <a:r>
              <a:t>3. Static Security Oversight: Proves perfect static security but remains blind to temporal window exposure</a:t>
            </a:r>
          </a:p>
          <a:p>
            <a:pPr lvl="1">
              <a:defRPr sz="1400">
                <a:solidFill>
                  <a:srgbClr val="334155"/>
                </a:solidFill>
                <a:latin typeface="Inter"/>
              </a:defRPr>
            </a:pPr>
            <a:r>
              <a:t>4. Lack of Alternative Evaluation: No comparison with modern state-of-the-art BFT consensus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4. Proposed Approach</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5303520" cy="4754880"/>
          </a:xfrm>
          <a:prstGeom prst="rect">
            <a:avLst/>
          </a:prstGeom>
          <a:noFill/>
        </p:spPr>
        <p:txBody>
          <a:bodyPr wrap="square" lIns="45720" rIns="45720">
            <a:spAutoFit/>
          </a:bodyPr>
          <a:lstStyle/>
          <a:p>
            <a:pPr>
              <a:defRPr sz="1300" b="1">
                <a:solidFill>
                  <a:srgbClr val="0F172A"/>
                </a:solidFill>
                <a:latin typeface="Inter"/>
              </a:defRPr>
            </a:pPr>
            <a:r>
              <a:t>The Static-Temporal Security Framework (STSF):</a:t>
            </a:r>
          </a:p>
          <a:p>
            <a:pPr lvl="1">
              <a:defRPr sz="1200">
                <a:solidFill>
                  <a:srgbClr val="334155"/>
                </a:solidFill>
                <a:latin typeface="Inter"/>
              </a:defRPr>
            </a:pPr>
            <a:r>
              <a:t>Unifies static cryptographic strength and temporal exposure into a single security metric:</a:t>
            </a:r>
          </a:p>
          <a:p>
            <a:pPr lvl="1">
              <a:defRPr sz="1200">
                <a:solidFill>
                  <a:srgbClr val="334155"/>
                </a:solidFill>
                <a:latin typeface="Inter"/>
              </a:defRPr>
            </a:pPr>
            <a:r>
              <a:t>  P_secure = (1 - P_TAb) * (1 - P_temporal)   where  P_temporal = 1 - (1 - P_TA)^N</a:t>
            </a:r>
          </a:p>
          <a:p>
            <a:pPr lvl="1">
              <a:defRPr sz="1200">
                <a:solidFill>
                  <a:srgbClr val="334155"/>
                </a:solidFill>
                <a:latin typeface="Inter"/>
              </a:defRPr>
            </a:pPr>
            <a:r>
              <a:t>  where N = ⌊ L_consensus / τ_attack ⌋ is the number of attack attempts allowed by consensus latency</a:t>
            </a:r>
          </a:p>
          <a:p>
            <a:pPr>
              <a:defRPr sz="1300" b="1">
                <a:solidFill>
                  <a:srgbClr val="0F172A"/>
                </a:solidFill>
                <a:latin typeface="Inter"/>
              </a:defRPr>
            </a:pPr>
            <a:r>
              <a:t>Formal Consensus Classifications (4 Groups Compared):</a:t>
            </a:r>
          </a:p>
          <a:p>
            <a:pPr lvl="1">
              <a:defRPr sz="1200">
                <a:solidFill>
                  <a:srgbClr val="334155"/>
                </a:solidFill>
                <a:latin typeface="Inter"/>
              </a:defRPr>
            </a:pPr>
            <a:r>
              <a:t>1. Classical Full-Mesh Byzantine Agreement (CFM-BA) — OM(m), Classic PBFT</a:t>
            </a:r>
          </a:p>
          <a:p>
            <a:pPr lvl="1">
              <a:defRPr sz="1200">
                <a:solidFill>
                  <a:srgbClr val="334155"/>
                </a:solidFill>
                <a:latin typeface="Inter"/>
              </a:defRPr>
            </a:pPr>
            <a:r>
              <a:t>2. Committee-Delegated Consortium Consensus (CDC-C) — IBFT 2.0, QBFT</a:t>
            </a:r>
          </a:p>
          <a:p>
            <a:pPr lvl="1">
              <a:defRPr sz="1200">
                <a:solidFill>
                  <a:srgbClr val="334155"/>
                </a:solidFill>
                <a:latin typeface="Inter"/>
              </a:defRPr>
            </a:pPr>
            <a:r>
              <a:t>3. Hierarchical Topologically-Clustered PBFT (HTC-PBFT) — CE-PBFT, G-PBFT, SV-PBFT</a:t>
            </a:r>
          </a:p>
          <a:p>
            <a:pPr lvl="1">
              <a:defRPr sz="1200">
                <a:solidFill>
                  <a:srgbClr val="334155"/>
                </a:solidFill>
                <a:latin typeface="Inter"/>
              </a:defRPr>
            </a:pPr>
            <a:r>
              <a:t>4. Sub-Second Pipelined &amp; Randomized BFT (SS-PR-BFT) — Tower BFT, RVR Consensus</a:t>
            </a:r>
          </a:p>
          <a:p>
            <a:pPr>
              <a:defRPr sz="1300" b="1">
                <a:solidFill>
                  <a:srgbClr val="0F172A"/>
                </a:solidFill>
                <a:latin typeface="Inter"/>
              </a:defRPr>
            </a:pPr>
            <a:r>
              <a:t>Objectives:</a:t>
            </a:r>
          </a:p>
          <a:p>
            <a:pPr lvl="1">
              <a:defRPr sz="1200">
                <a:solidFill>
                  <a:srgbClr val="334155"/>
                </a:solidFill>
                <a:latin typeface="Inter"/>
              </a:defRPr>
            </a:pPr>
            <a:r>
              <a:t>Evaluate 8 algorithms under identical parameters; minimize L to sub-second; integrate SSS key sharing</a:t>
            </a:r>
          </a:p>
        </p:txBody>
      </p:sp>
      <p:pic>
        <p:nvPicPr>
          <p:cNvPr id="6" name="Picture 5" descr="visual_blockchain_nodes.png"/>
          <p:cNvPicPr>
            <a:picLocks noChangeAspect="1"/>
          </p:cNvPicPr>
          <p:nvPr/>
        </p:nvPicPr>
        <p:blipFill>
          <a:blip r:embed="rId3"/>
          <a:stretch>
            <a:fillRect/>
          </a:stretch>
        </p:blipFill>
        <p:spPr>
          <a:xfrm>
            <a:off x="5943600" y="1188720"/>
            <a:ext cx="5760720" cy="4114800"/>
          </a:xfrm>
          <a:prstGeom prst="rect">
            <a:avLst/>
          </a:prstGeom>
        </p:spPr>
      </p:pic>
      <p:sp>
        <p:nvSpPr>
          <p:cNvPr id="7" name="TextBox 6"/>
          <p:cNvSpPr txBox="1"/>
          <p:nvPr/>
        </p:nvSpPr>
        <p:spPr>
          <a:xfrm>
            <a:off x="5943600" y="53949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1.3: Distributed Blockchain Consensus Node Network Topology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5. Methodology</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Closed-Form Analytical Modeling Strategy:</a:t>
            </a:r>
          </a:p>
          <a:p>
            <a:pPr lvl="1">
              <a:defRPr sz="1400">
                <a:solidFill>
                  <a:srgbClr val="334155"/>
                </a:solidFill>
                <a:latin typeface="Inter"/>
              </a:defRPr>
            </a:pPr>
            <a:r>
              <a:t>Derive exact mathematical formulas for latency, message overhead, and throughput per protocol</a:t>
            </a:r>
          </a:p>
          <a:p>
            <a:pPr lvl="1">
              <a:defRPr sz="1400">
                <a:solidFill>
                  <a:srgbClr val="334155"/>
                </a:solidFill>
                <a:latin typeface="Inter"/>
              </a:defRPr>
            </a:pPr>
            <a:r>
              <a:t>Ensures results are directly traceable and free of Monte Carlo variance</a:t>
            </a:r>
          </a:p>
          <a:p>
            <a:pPr lvl="1">
              <a:defRPr sz="1400">
                <a:solidFill>
                  <a:srgbClr val="334155"/>
                </a:solidFill>
                <a:latin typeface="Inter"/>
              </a:defRPr>
            </a:pPr>
            <a:r>
              <a:t>Tower BFT Latency Model: L_TBFT = L_base + L_attack + f*(alpha*tau) + (f/n)*L_vc</a:t>
            </a:r>
          </a:p>
          <a:p>
            <a:pPr>
              <a:defRPr sz="1500" b="1">
                <a:solidFill>
                  <a:srgbClr val="0F172A"/>
                </a:solidFill>
                <a:latin typeface="Inter"/>
              </a:defRPr>
            </a:pPr>
            <a:r>
              <a:t>Parameterization and Mapping Workflows:</a:t>
            </a:r>
          </a:p>
          <a:p>
            <a:pPr lvl="1">
              <a:defRPr sz="1400">
                <a:solidFill>
                  <a:srgbClr val="334155"/>
                </a:solidFill>
                <a:latin typeface="Inter"/>
              </a:defRPr>
            </a:pPr>
            <a:r>
              <a:t>Standardized parameters across all groups: n_sen=3854 sensors, n=51 validator nodes, f=16 faults</a:t>
            </a:r>
          </a:p>
          <a:p>
            <a:pPr lvl="1">
              <a:defRPr sz="1400">
                <a:solidFill>
                  <a:srgbClr val="334155"/>
                </a:solidFill>
                <a:latin typeface="Inter"/>
              </a:defRPr>
            </a:pPr>
            <a:r>
              <a:t>Topological adjustments: Group 3 limits active comm channels: k_1,cluster = c*(c-1)/2</a:t>
            </a:r>
          </a:p>
          <a:p>
            <a:pPr lvl="1">
              <a:defRPr sz="1400">
                <a:solidFill>
                  <a:srgbClr val="334155"/>
                </a:solidFill>
                <a:latin typeface="Inter"/>
              </a:defRPr>
            </a:pPr>
            <a:r>
              <a:t>Consortium adjustments: Group 2 limits validators to N_val &lt;= 21 to represent sub-committees</a:t>
            </a:r>
          </a:p>
          <a:p>
            <a:pPr>
              <a:defRPr sz="1500" b="1">
                <a:solidFill>
                  <a:srgbClr val="0F172A"/>
                </a:solidFill>
                <a:latin typeface="Inter"/>
              </a:defRPr>
            </a:pPr>
            <a:r>
              <a:t>Development Stack:</a:t>
            </a:r>
          </a:p>
          <a:p>
            <a:pPr lvl="1">
              <a:defRPr sz="1400">
                <a:solidFill>
                  <a:srgbClr val="334155"/>
                </a:solidFill>
                <a:latin typeface="Inter"/>
              </a:defRPr>
            </a:pPr>
            <a:r>
              <a:t>Python 3.11 engine ('four_group_comparison.py') evaluates parameters and generates visual plots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6. Implementation Plan and Timeline</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Week-wise Activity Schedule &amp; Deliverables:</a:t>
            </a:r>
          </a:p>
          <a:p>
            <a:pPr lvl="1">
              <a:defRPr sz="1400">
                <a:solidFill>
                  <a:srgbClr val="334155"/>
                </a:solidFill>
                <a:latin typeface="Inter"/>
              </a:defRPr>
            </a:pPr>
            <a:r>
              <a:t>Week 1: Literature Gap Identification &amp; Vulnerability Discovery (Completed)</a:t>
            </a:r>
          </a:p>
          <a:p>
            <a:pPr lvl="1">
              <a:defRPr sz="1400">
                <a:solidFill>
                  <a:srgbClr val="334155"/>
                </a:solidFill>
                <a:latin typeface="Inter"/>
              </a:defRPr>
            </a:pPr>
            <a:r>
              <a:t>  - Output: Week 1 Report; identified 7 gaps and 4 vulnerabilities</a:t>
            </a:r>
          </a:p>
          <a:p>
            <a:pPr lvl="1">
              <a:defRPr sz="1400">
                <a:solidFill>
                  <a:srgbClr val="334155"/>
                </a:solidFill>
                <a:latin typeface="Inter"/>
              </a:defRPr>
            </a:pPr>
            <a:r>
              <a:t>Week 2: Analytical Latency &amp; Security Formulation (Completed)</a:t>
            </a:r>
          </a:p>
          <a:p>
            <a:pPr lvl="1">
              <a:defRPr sz="1400">
                <a:solidFill>
                  <a:srgbClr val="334155"/>
                </a:solidFill>
                <a:latin typeface="Inter"/>
              </a:defRPr>
            </a:pPr>
            <a:r>
              <a:t>  - Output: Week 2 Report; derived latency proofs for OM(m) vs. Tower BFT</a:t>
            </a:r>
          </a:p>
          <a:p>
            <a:pPr lvl="1">
              <a:defRPr sz="1400">
                <a:solidFill>
                  <a:srgbClr val="334155"/>
                </a:solidFill>
                <a:latin typeface="Inter"/>
              </a:defRPr>
            </a:pPr>
            <a:r>
              <a:t>Week 3: Four-Group Evaluation and Script Development (Completed)</a:t>
            </a:r>
          </a:p>
          <a:p>
            <a:pPr lvl="1">
              <a:defRPr sz="1400">
                <a:solidFill>
                  <a:srgbClr val="334155"/>
                </a:solidFill>
                <a:latin typeface="Inter"/>
              </a:defRPr>
            </a:pPr>
            <a:r>
              <a:t>  - Output: Coded comparison script, generated 9 visual figures, compiled PPT &amp; report</a:t>
            </a:r>
          </a:p>
          <a:p>
            <a:pPr lvl="1">
              <a:defRPr sz="1400">
                <a:solidFill>
                  <a:srgbClr val="334155"/>
                </a:solidFill>
                <a:latin typeface="Inter"/>
              </a:defRPr>
            </a:pPr>
            <a:r>
              <a:t>Week 4: Defense-in-Depth Cryptographic Integration &amp; Final Defense Synthesis (In Progress)</a:t>
            </a:r>
          </a:p>
          <a:p>
            <a:pPr lvl="1">
              <a:defRPr sz="1400">
                <a:solidFill>
                  <a:srgbClr val="334155"/>
                </a:solidFill>
                <a:latin typeface="Inter"/>
              </a:defRPr>
            </a:pPr>
            <a:r>
              <a:t>  - Output: Shamir secret sharing CDF modeling, final VJTI thesis compilation</a:t>
            </a:r>
          </a:p>
          <a:p>
            <a:pPr>
              <a:defRPr sz="1500" b="1">
                <a:solidFill>
                  <a:srgbClr val="0F172A"/>
                </a:solidFill>
                <a:latin typeface="Inter"/>
              </a:defRPr>
            </a:pPr>
            <a:r>
              <a:t>Key Milestones &amp; Expected Completion:</a:t>
            </a:r>
          </a:p>
          <a:p>
            <a:pPr lvl="1">
              <a:defRPr sz="1400">
                <a:solidFill>
                  <a:srgbClr val="334155"/>
                </a:solidFill>
                <a:latin typeface="Inter"/>
              </a:defRPr>
            </a:pPr>
            <a:r>
              <a:t>Modeling Sweeps: June 15 (Completed)  |  Draft Reports: June 17 (Completed)  |  Final Defense: June 20 (On Track)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7. Progress Updates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Work Completed in Weeks 1, 2, and 3:</a:t>
            </a:r>
          </a:p>
          <a:p>
            <a:pPr lvl="1">
              <a:defRPr sz="1400">
                <a:solidFill>
                  <a:srgbClr val="334155"/>
                </a:solidFill>
                <a:latin typeface="Inter"/>
              </a:defRPr>
            </a:pPr>
            <a:r>
              <a:t>1. Verified equations by replicating Sheikh's baseline curves (Fig 15 &amp; 16)</a:t>
            </a:r>
          </a:p>
          <a:p>
            <a:pPr lvl="1">
              <a:defRPr sz="1400">
                <a:solidFill>
                  <a:srgbClr val="334155"/>
                </a:solidFill>
                <a:latin typeface="Inter"/>
              </a:defRPr>
            </a:pPr>
            <a:r>
              <a:t>2. Designed the STSF framework mapping consensus latency to physical grid vulnerability</a:t>
            </a:r>
          </a:p>
          <a:p>
            <a:pPr lvl="1">
              <a:defRPr sz="1400">
                <a:solidFill>
                  <a:srgbClr val="334155"/>
                </a:solidFill>
                <a:latin typeface="Inter"/>
              </a:defRPr>
            </a:pPr>
            <a:r>
              <a:t>3. Developed the python script to run sweeps across 8 algorithms and output figures</a:t>
            </a:r>
          </a:p>
          <a:p>
            <a:pPr lvl="1">
              <a:defRPr sz="1400">
                <a:solidFill>
                  <a:srgbClr val="334155"/>
                </a:solidFill>
                <a:latin typeface="Inter"/>
              </a:defRPr>
            </a:pPr>
            <a:r>
              <a:t>4. Compiled research reports for Weeks 1, 2, and 3 detailing our progress</a:t>
            </a:r>
          </a:p>
          <a:p>
            <a:pPr>
              <a:defRPr sz="1500" b="1">
                <a:solidFill>
                  <a:srgbClr val="0F172A"/>
                </a:solidFill>
                <a:latin typeface="Inter"/>
              </a:defRPr>
            </a:pPr>
            <a:r>
              <a:t>Key Achievements and Observations:</a:t>
            </a:r>
          </a:p>
          <a:p>
            <a:pPr lvl="1">
              <a:defRPr sz="1400">
                <a:solidFill>
                  <a:srgbClr val="334155"/>
                </a:solidFill>
                <a:latin typeface="Inter"/>
              </a:defRPr>
            </a:pPr>
            <a:r>
              <a:t>Proved that latency is the decisive factor: slow block time guarantees temporal grid compromise</a:t>
            </a:r>
          </a:p>
          <a:p>
            <a:pPr lvl="1">
              <a:defRPr sz="1400">
                <a:solidFill>
                  <a:srgbClr val="334155"/>
                </a:solidFill>
                <a:latin typeface="Inter"/>
              </a:defRPr>
            </a:pPr>
            <a:r>
              <a:t>Group 4 SS-PR-BFT protocols seal the temporal vulnerability, keeping P_secure &gt;= 0.98</a:t>
            </a:r>
          </a:p>
          <a:p>
            <a:pPr>
              <a:defRPr sz="1500" b="1">
                <a:solidFill>
                  <a:srgbClr val="0F172A"/>
                </a:solidFill>
                <a:latin typeface="Inter"/>
              </a:defRPr>
            </a:pPr>
            <a:r>
              <a:t>Challenges Encountered and Mitigation Measures:</a:t>
            </a:r>
          </a:p>
          <a:p>
            <a:pPr lvl="1">
              <a:defRPr sz="1400">
                <a:solidFill>
                  <a:srgbClr val="334155"/>
                </a:solidFill>
                <a:latin typeface="Inter"/>
              </a:defRPr>
            </a:pPr>
            <a:r>
              <a:t>Challenge: Normalizing validator parameters across flat, consortium, and clustered networks</a:t>
            </a:r>
          </a:p>
          <a:p>
            <a:pPr lvl="1">
              <a:defRPr sz="1400">
                <a:solidFill>
                  <a:srgbClr val="334155"/>
                </a:solidFill>
                <a:latin typeface="Inter"/>
              </a:defRPr>
            </a:pPr>
            <a:r>
              <a:t>Mitigation: Formulated 'effective validators' and 'cluster-local communication link'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Comparison Table</a:t>
            </a:r>
          </a:p>
        </p:txBody>
      </p:sp>
      <p:graphicFrame>
        <p:nvGraphicFramePr>
          <p:cNvPr id="4" name="Table 3"/>
          <p:cNvGraphicFramePr>
            <a:graphicFrameLocks noGrp="1"/>
          </p:cNvGraphicFramePr>
          <p:nvPr/>
        </p:nvGraphicFramePr>
        <p:xfrm>
          <a:off x="457200" y="914400"/>
          <a:ext cx="9875520" cy="5029200"/>
        </p:xfrm>
        <a:graphic>
          <a:graphicData uri="http://schemas.openxmlformats.org/drawingml/2006/table">
            <a:tbl>
              <a:tblPr firstRow="1" bandRow="1">
                <a:tableStyleId>{5C22544A-7EE6-4342-B048-85BDC9FD1C3A}</a:tableStyleId>
              </a:tblPr>
              <a:tblGrid>
                <a:gridCol w="2011680"/>
                <a:gridCol w="1645920"/>
                <a:gridCol w="1188720"/>
                <a:gridCol w="731520"/>
                <a:gridCol w="731520"/>
                <a:gridCol w="1188720"/>
                <a:gridCol w="1188720"/>
                <a:gridCol w="1188720"/>
              </a:tblGrid>
              <a:tr h="502920">
                <a:tc>
                  <a:txBody>
                    <a:bodyPr/>
                    <a:lstStyle/>
                    <a:p>
                      <a:pPr algn="ctr">
                        <a:defRPr sz="1000" b="1">
                          <a:solidFill>
                            <a:srgbClr val="FFFFFF"/>
                          </a:solidFill>
                          <a:latin typeface="Inter"/>
                        </a:defRPr>
                      </a:pPr>
                      <a:r>
                        <a:t>Algorithm</a:t>
                      </a:r>
                    </a:p>
                  </a:txBody>
                  <a:tcPr>
                    <a:solidFill>
                      <a:srgbClr val="0F172A"/>
                    </a:solidFill>
                  </a:tcPr>
                </a:tc>
                <a:tc>
                  <a:txBody>
                    <a:bodyPr/>
                    <a:lstStyle/>
                    <a:p>
                      <a:pPr algn="ctr">
                        <a:defRPr sz="1000" b="1">
                          <a:solidFill>
                            <a:srgbClr val="FFFFFF"/>
                          </a:solidFill>
                          <a:latin typeface="Inter"/>
                        </a:defRPr>
                      </a:pPr>
                      <a:r>
                        <a:t>Group</a:t>
                      </a:r>
                    </a:p>
                  </a:txBody>
                  <a:tcPr>
                    <a:solidFill>
                      <a:srgbClr val="0F172A"/>
                    </a:solidFill>
                  </a:tcPr>
                </a:tc>
                <a:tc>
                  <a:txBody>
                    <a:bodyPr/>
                    <a:lstStyle/>
                    <a:p>
                      <a:pPr algn="ctr">
                        <a:defRPr sz="1000" b="1">
                          <a:solidFill>
                            <a:srgbClr val="FFFFFF"/>
                          </a:solidFill>
                          <a:latin typeface="Inter"/>
                        </a:defRPr>
                      </a:pPr>
                      <a:r>
                        <a:t>Latency</a:t>
                      </a:r>
                    </a:p>
                  </a:txBody>
                  <a:tcPr>
                    <a:solidFill>
                      <a:srgbClr val="0F172A"/>
                    </a:solidFill>
                  </a:tcPr>
                </a:tc>
                <a:tc>
                  <a:txBody>
                    <a:bodyPr/>
                    <a:lstStyle/>
                    <a:p>
                      <a:pPr algn="ctr">
                        <a:defRPr sz="1000" b="1">
                          <a:solidFill>
                            <a:srgbClr val="FFFFFF"/>
                          </a:solidFill>
                          <a:latin typeface="Inter"/>
                        </a:defRPr>
                      </a:pPr>
                      <a:r>
                        <a:t>TPS</a:t>
                      </a:r>
                    </a:p>
                  </a:txBody>
                  <a:tcPr>
                    <a:solidFill>
                      <a:srgbClr val="0F172A"/>
                    </a:solidFill>
                  </a:tcPr>
                </a:tc>
                <a:tc>
                  <a:txBody>
                    <a:bodyPr/>
                    <a:lstStyle/>
                    <a:p>
                      <a:pPr algn="ctr">
                        <a:defRPr sz="1000" b="1">
                          <a:solidFill>
                            <a:srgbClr val="FFFFFF"/>
                          </a:solidFill>
                          <a:latin typeface="Inter"/>
                        </a:defRPr>
                      </a:pPr>
                      <a:r>
                        <a:t>N_att</a:t>
                      </a:r>
                    </a:p>
                  </a:txBody>
                  <a:tcPr>
                    <a:solidFill>
                      <a:srgbClr val="0F172A"/>
                    </a:solidFill>
                  </a:tcPr>
                </a:tc>
                <a:tc>
                  <a:txBody>
                    <a:bodyPr/>
                    <a:lstStyle/>
                    <a:p>
                      <a:pPr algn="ctr">
                        <a:defRPr sz="1000" b="1">
                          <a:solidFill>
                            <a:srgbClr val="FFFFFF"/>
                          </a:solidFill>
                          <a:latin typeface="Inter"/>
                        </a:defRPr>
                      </a:pPr>
                      <a:r>
                        <a:t>P_temporal</a:t>
                      </a:r>
                    </a:p>
                  </a:txBody>
                  <a:tcPr>
                    <a:solidFill>
                      <a:srgbClr val="0F172A"/>
                    </a:solidFill>
                  </a:tcPr>
                </a:tc>
                <a:tc>
                  <a:txBody>
                    <a:bodyPr/>
                    <a:lstStyle/>
                    <a:p>
                      <a:pPr algn="ctr">
                        <a:defRPr sz="1000" b="1">
                          <a:solidFill>
                            <a:srgbClr val="FFFFFF"/>
                          </a:solidFill>
                          <a:latin typeface="Inter"/>
                        </a:defRPr>
                      </a:pPr>
                      <a:r>
                        <a:t>P_secure</a:t>
                      </a:r>
                    </a:p>
                  </a:txBody>
                  <a:tcPr>
                    <a:solidFill>
                      <a:srgbClr val="0F172A"/>
                    </a:solidFill>
                  </a:tcPr>
                </a:tc>
                <a:tc>
                  <a:txBody>
                    <a:bodyPr/>
                    <a:lstStyle/>
                    <a:p>
                      <a:pPr algn="ctr">
                        <a:defRPr sz="1000" b="1">
                          <a:solidFill>
                            <a:srgbClr val="FFFFFF"/>
                          </a:solidFill>
                          <a:latin typeface="Inter"/>
                        </a:defRPr>
                      </a:pPr>
                      <a:r>
                        <a:t>Msgs</a:t>
                      </a:r>
                    </a:p>
                  </a:txBody>
                  <a:tcPr>
                    <a:solidFill>
                      <a:srgbClr val="0F172A"/>
                    </a:solidFill>
                  </a:tcPr>
                </a:tc>
              </a:tr>
              <a:tr h="502920">
                <a:tc>
                  <a:txBody>
                    <a:bodyPr/>
                    <a:lstStyle/>
                    <a:p>
                      <a:pPr algn="ctr">
                        <a:defRPr sz="1000">
                          <a:solidFill>
                            <a:srgbClr val="FFFFFF"/>
                          </a:solidFill>
                          <a:latin typeface="Inter"/>
                        </a:defRPr>
                      </a:pPr>
                      <a:r>
                        <a:t>Lamport OM(m)</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43,350 ms</a:t>
                      </a:r>
                    </a:p>
                  </a:txBody>
                  <a:tcPr>
                    <a:solidFill>
                      <a:srgbClr val="7D273C"/>
                    </a:solidFill>
                  </a:tcPr>
                </a:tc>
                <a:tc>
                  <a:txBody>
                    <a:bodyPr/>
                    <a:lstStyle/>
                    <a:p>
                      <a:pPr algn="ctr">
                        <a:defRPr sz="1000">
                          <a:solidFill>
                            <a:srgbClr val="FFFFFF"/>
                          </a:solidFill>
                          <a:latin typeface="Inter"/>
                        </a:defRPr>
                      </a:pPr>
                      <a:r>
                        <a:t>1.2</a:t>
                      </a:r>
                    </a:p>
                  </a:txBody>
                  <a:tcPr>
                    <a:solidFill>
                      <a:srgbClr val="7D273C"/>
                    </a:solidFill>
                  </a:tcPr>
                </a:tc>
                <a:tc>
                  <a:txBody>
                    <a:bodyPr/>
                    <a:lstStyle/>
                    <a:p>
                      <a:pPr algn="ctr">
                        <a:defRPr sz="1000">
                          <a:solidFill>
                            <a:srgbClr val="FFFFFF"/>
                          </a:solidFill>
                          <a:latin typeface="Inter"/>
                        </a:defRPr>
                      </a:pPr>
                      <a:r>
                        <a:t>867</a:t>
                      </a:r>
                    </a:p>
                  </a:txBody>
                  <a:tcPr>
                    <a:solidFill>
                      <a:srgbClr val="7D273C"/>
                    </a:solidFill>
                  </a:tcPr>
                </a:tc>
                <a:tc>
                  <a:txBody>
                    <a:bodyPr/>
                    <a:lstStyle/>
                    <a:p>
                      <a:pPr algn="ctr">
                        <a:defRPr sz="1000">
                          <a:solidFill>
                            <a:srgbClr val="FFFFFF"/>
                          </a:solidFill>
                          <a:latin typeface="Inter"/>
                        </a:defRPr>
                      </a:pPr>
                      <a:r>
                        <a:t>0.9870</a:t>
                      </a:r>
                    </a:p>
                  </a:txBody>
                  <a:tcPr>
                    <a:solidFill>
                      <a:srgbClr val="7D273C"/>
                    </a:solidFill>
                  </a:tcPr>
                </a:tc>
                <a:tc>
                  <a:txBody>
                    <a:bodyPr/>
                    <a:lstStyle/>
                    <a:p>
                      <a:pPr algn="ctr">
                        <a:defRPr sz="1000">
                          <a:solidFill>
                            <a:srgbClr val="FFFFFF"/>
                          </a:solidFill>
                          <a:latin typeface="Inter"/>
                        </a:defRPr>
                      </a:pPr>
                      <a:r>
                        <a:t>0.0130</a:t>
                      </a:r>
                    </a:p>
                  </a:txBody>
                  <a:tcPr>
                    <a:solidFill>
                      <a:srgbClr val="7D273C"/>
                    </a:solidFill>
                  </a:tcPr>
                </a:tc>
                <a:tc>
                  <a:txBody>
                    <a:bodyPr/>
                    <a:lstStyle/>
                    <a:p>
                      <a:pPr algn="ctr">
                        <a:defRPr sz="1000">
                          <a:solidFill>
                            <a:srgbClr val="FFFFFF"/>
                          </a:solidFill>
                          <a:latin typeface="Inter"/>
                        </a:defRPr>
                      </a:pPr>
                      <a:r>
                        <a:t>10¹⁸</a:t>
                      </a:r>
                    </a:p>
                  </a:txBody>
                  <a:tcPr>
                    <a:solidFill>
                      <a:srgbClr val="7D273C"/>
                    </a:solidFill>
                  </a:tcPr>
                </a:tc>
              </a:tr>
              <a:tr h="502920">
                <a:tc>
                  <a:txBody>
                    <a:bodyPr/>
                    <a:lstStyle/>
                    <a:p>
                      <a:pPr algn="ctr">
                        <a:defRPr sz="1000">
                          <a:solidFill>
                            <a:srgbClr val="FFFFFF"/>
                          </a:solidFill>
                          <a:latin typeface="Inter"/>
                        </a:defRPr>
                      </a:pPr>
                      <a:r>
                        <a:t>Classic PBFT</a:t>
                      </a:r>
                    </a:p>
                  </a:txBody>
                  <a:tcPr>
                    <a:solidFill>
                      <a:srgbClr val="7D273C"/>
                    </a:solidFill>
                  </a:tcPr>
                </a:tc>
                <a:tc>
                  <a:txBody>
                    <a:bodyPr/>
                    <a:lstStyle/>
                    <a:p>
                      <a:pPr algn="ctr">
                        <a:defRPr sz="1000">
                          <a:solidFill>
                            <a:srgbClr val="FFFFFF"/>
                          </a:solidFill>
                          <a:latin typeface="Inter"/>
                        </a:defRPr>
                      </a:pPr>
                      <a:r>
                        <a:t>G1: CFM-BA</a:t>
                      </a:r>
                    </a:p>
                  </a:txBody>
                  <a:tcPr>
                    <a:solidFill>
                      <a:srgbClr val="7D273C"/>
                    </a:solidFill>
                  </a:tcPr>
                </a:tc>
                <a:tc>
                  <a:txBody>
                    <a:bodyPr/>
                    <a:lstStyle/>
                    <a:p>
                      <a:pPr algn="ctr">
                        <a:defRPr sz="1000">
                          <a:solidFill>
                            <a:srgbClr val="FFFFFF"/>
                          </a:solidFill>
                          <a:latin typeface="Inter"/>
                        </a:defRPr>
                      </a:pPr>
                      <a:r>
                        <a:t>15,300 ms</a:t>
                      </a:r>
                    </a:p>
                  </a:txBody>
                  <a:tcPr>
                    <a:solidFill>
                      <a:srgbClr val="7D273C"/>
                    </a:solidFill>
                  </a:tcPr>
                </a:tc>
                <a:tc>
                  <a:txBody>
                    <a:bodyPr/>
                    <a:lstStyle/>
                    <a:p>
                      <a:pPr algn="ctr">
                        <a:defRPr sz="1000">
                          <a:solidFill>
                            <a:srgbClr val="FFFFFF"/>
                          </a:solidFill>
                          <a:latin typeface="Inter"/>
                        </a:defRPr>
                      </a:pPr>
                      <a:r>
                        <a:t>3.3</a:t>
                      </a:r>
                    </a:p>
                  </a:txBody>
                  <a:tcPr>
                    <a:solidFill>
                      <a:srgbClr val="7D273C"/>
                    </a:solidFill>
                  </a:tcPr>
                </a:tc>
                <a:tc>
                  <a:txBody>
                    <a:bodyPr/>
                    <a:lstStyle/>
                    <a:p>
                      <a:pPr algn="ctr">
                        <a:defRPr sz="1000">
                          <a:solidFill>
                            <a:srgbClr val="FFFFFF"/>
                          </a:solidFill>
                          <a:latin typeface="Inter"/>
                        </a:defRPr>
                      </a:pPr>
                      <a:r>
                        <a:t>306</a:t>
                      </a:r>
                    </a:p>
                  </a:txBody>
                  <a:tcPr>
                    <a:solidFill>
                      <a:srgbClr val="7D273C"/>
                    </a:solidFill>
                  </a:tcPr>
                </a:tc>
                <a:tc>
                  <a:txBody>
                    <a:bodyPr/>
                    <a:lstStyle/>
                    <a:p>
                      <a:pPr algn="ctr">
                        <a:defRPr sz="1000">
                          <a:solidFill>
                            <a:srgbClr val="FFFFFF"/>
                          </a:solidFill>
                          <a:latin typeface="Inter"/>
                        </a:defRPr>
                      </a:pPr>
                      <a:r>
                        <a:t>0.7843</a:t>
                      </a:r>
                    </a:p>
                  </a:txBody>
                  <a:tcPr>
                    <a:solidFill>
                      <a:srgbClr val="7D273C"/>
                    </a:solidFill>
                  </a:tcPr>
                </a:tc>
                <a:tc>
                  <a:txBody>
                    <a:bodyPr/>
                    <a:lstStyle/>
                    <a:p>
                      <a:pPr algn="ctr">
                        <a:defRPr sz="1000">
                          <a:solidFill>
                            <a:srgbClr val="FFFFFF"/>
                          </a:solidFill>
                          <a:latin typeface="Inter"/>
                        </a:defRPr>
                      </a:pPr>
                      <a:r>
                        <a:t>0.2157</a:t>
                      </a:r>
                    </a:p>
                  </a:txBody>
                  <a:tcPr>
                    <a:solidFill>
                      <a:srgbClr val="7D273C"/>
                    </a:solidFill>
                  </a:tcPr>
                </a:tc>
                <a:tc>
                  <a:txBody>
                    <a:bodyPr/>
                    <a:lstStyle/>
                    <a:p>
                      <a:pPr algn="ctr">
                        <a:defRPr sz="1000">
                          <a:solidFill>
                            <a:srgbClr val="FFFFFF"/>
                          </a:solidFill>
                          <a:latin typeface="Inter"/>
                        </a:defRPr>
                      </a:pPr>
                      <a:r>
                        <a:t>7,803</a:t>
                      </a:r>
                    </a:p>
                  </a:txBody>
                  <a:tcPr>
                    <a:solidFill>
                      <a:srgbClr val="7D273C"/>
                    </a:solidFill>
                  </a:tcPr>
                </a:tc>
              </a:tr>
              <a:tr h="502920">
                <a:tc>
                  <a:txBody>
                    <a:bodyPr/>
                    <a:lstStyle/>
                    <a:p>
                      <a:pPr algn="ctr">
                        <a:defRPr sz="1000">
                          <a:solidFill>
                            <a:srgbClr val="FFFFFF"/>
                          </a:solidFill>
                          <a:latin typeface="Inter"/>
                        </a:defRPr>
                      </a:pPr>
                      <a:r>
                        <a:t>IBFT 2.0</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2,500 ms</a:t>
                      </a:r>
                    </a:p>
                  </a:txBody>
                  <a:tcPr>
                    <a:solidFill>
                      <a:srgbClr val="5D2F85"/>
                    </a:solidFill>
                  </a:tcPr>
                </a:tc>
                <a:tc>
                  <a:txBody>
                    <a:bodyPr/>
                    <a:lstStyle/>
                    <a:p>
                      <a:pPr algn="ctr">
                        <a:defRPr sz="1000">
                          <a:solidFill>
                            <a:srgbClr val="FFFFFF"/>
                          </a:solidFill>
                          <a:latin typeface="Inter"/>
                        </a:defRPr>
                      </a:pPr>
                      <a:r>
                        <a:t>20.0</a:t>
                      </a:r>
                    </a:p>
                  </a:txBody>
                  <a:tcPr>
                    <a:solidFill>
                      <a:srgbClr val="5D2F85"/>
                    </a:solidFill>
                  </a:tcPr>
                </a:tc>
                <a:tc>
                  <a:txBody>
                    <a:bodyPr/>
                    <a:lstStyle/>
                    <a:p>
                      <a:pPr algn="ctr">
                        <a:defRPr sz="1000">
                          <a:solidFill>
                            <a:srgbClr val="FFFFFF"/>
                          </a:solidFill>
                          <a:latin typeface="Inter"/>
                        </a:defRPr>
                      </a:pPr>
                      <a:r>
                        <a:t>50</a:t>
                      </a:r>
                    </a:p>
                  </a:txBody>
                  <a:tcPr>
                    <a:solidFill>
                      <a:srgbClr val="5D2F85"/>
                    </a:solidFill>
                  </a:tcPr>
                </a:tc>
                <a:tc>
                  <a:txBody>
                    <a:bodyPr/>
                    <a:lstStyle/>
                    <a:p>
                      <a:pPr algn="ctr">
                        <a:defRPr sz="1000">
                          <a:solidFill>
                            <a:srgbClr val="FFFFFF"/>
                          </a:solidFill>
                          <a:latin typeface="Inter"/>
                        </a:defRPr>
                      </a:pPr>
                      <a:r>
                        <a:t>0.2217</a:t>
                      </a:r>
                    </a:p>
                  </a:txBody>
                  <a:tcPr>
                    <a:solidFill>
                      <a:srgbClr val="5D2F85"/>
                    </a:solidFill>
                  </a:tcPr>
                </a:tc>
                <a:tc>
                  <a:txBody>
                    <a:bodyPr/>
                    <a:lstStyle/>
                    <a:p>
                      <a:pPr algn="ctr">
                        <a:defRPr sz="1000">
                          <a:solidFill>
                            <a:srgbClr val="FFFFFF"/>
                          </a:solidFill>
                          <a:latin typeface="Inter"/>
                        </a:defRPr>
                      </a:pPr>
                      <a:r>
                        <a:t>0.7783</a:t>
                      </a:r>
                    </a:p>
                  </a:txBody>
                  <a:tcPr>
                    <a:solidFill>
                      <a:srgbClr val="5D2F85"/>
                    </a:solidFill>
                  </a:tcPr>
                </a:tc>
                <a:tc>
                  <a:txBody>
                    <a:bodyPr/>
                    <a:lstStyle/>
                    <a:p>
                      <a:pPr algn="ctr">
                        <a:defRPr sz="1000">
                          <a:solidFill>
                            <a:srgbClr val="FFFFFF"/>
                          </a:solidFill>
                          <a:latin typeface="Inter"/>
                        </a:defRPr>
                      </a:pPr>
                      <a:r>
                        <a:t>1,323</a:t>
                      </a:r>
                    </a:p>
                  </a:txBody>
                  <a:tcPr>
                    <a:solidFill>
                      <a:srgbClr val="5D2F85"/>
                    </a:solidFill>
                  </a:tcPr>
                </a:tc>
              </a:tr>
              <a:tr h="502920">
                <a:tc>
                  <a:txBody>
                    <a:bodyPr/>
                    <a:lstStyle/>
                    <a:p>
                      <a:pPr algn="ctr">
                        <a:defRPr sz="1000">
                          <a:solidFill>
                            <a:srgbClr val="FFFFFF"/>
                          </a:solidFill>
                          <a:latin typeface="Inter"/>
                        </a:defRPr>
                      </a:pPr>
                      <a:r>
                        <a:t>QBFT</a:t>
                      </a:r>
                    </a:p>
                  </a:txBody>
                  <a:tcPr>
                    <a:solidFill>
                      <a:srgbClr val="5D2F85"/>
                    </a:solidFill>
                  </a:tcPr>
                </a:tc>
                <a:tc>
                  <a:txBody>
                    <a:bodyPr/>
                    <a:lstStyle/>
                    <a:p>
                      <a:pPr algn="ctr">
                        <a:defRPr sz="1000">
                          <a:solidFill>
                            <a:srgbClr val="FFFFFF"/>
                          </a:solidFill>
                          <a:latin typeface="Inter"/>
                        </a:defRPr>
                      </a:pPr>
                      <a:r>
                        <a:t>G2: CDC-C</a:t>
                      </a:r>
                    </a:p>
                  </a:txBody>
                  <a:tcPr>
                    <a:solidFill>
                      <a:srgbClr val="5D2F85"/>
                    </a:solidFill>
                  </a:tcPr>
                </a:tc>
                <a:tc>
                  <a:txBody>
                    <a:bodyPr/>
                    <a:lstStyle/>
                    <a:p>
                      <a:pPr algn="ctr">
                        <a:defRPr sz="1000">
                          <a:solidFill>
                            <a:srgbClr val="FFFFFF"/>
                          </a:solidFill>
                          <a:latin typeface="Inter"/>
                        </a:defRPr>
                      </a:pPr>
                      <a:r>
                        <a:t>1,500 ms</a:t>
                      </a:r>
                    </a:p>
                  </a:txBody>
                  <a:tcPr>
                    <a:solidFill>
                      <a:srgbClr val="5D2F85"/>
                    </a:solidFill>
                  </a:tcPr>
                </a:tc>
                <a:tc>
                  <a:txBody>
                    <a:bodyPr/>
                    <a:lstStyle/>
                    <a:p>
                      <a:pPr algn="ctr">
                        <a:defRPr sz="1000">
                          <a:solidFill>
                            <a:srgbClr val="FFFFFF"/>
                          </a:solidFill>
                          <a:latin typeface="Inter"/>
                        </a:defRPr>
                      </a:pPr>
                      <a:r>
                        <a:t>33.3</a:t>
                      </a:r>
                    </a:p>
                  </a:txBody>
                  <a:tcPr>
                    <a:solidFill>
                      <a:srgbClr val="5D2F85"/>
                    </a:solidFill>
                  </a:tcPr>
                </a:tc>
                <a:tc>
                  <a:txBody>
                    <a:bodyPr/>
                    <a:lstStyle/>
                    <a:p>
                      <a:pPr algn="ctr">
                        <a:defRPr sz="1000">
                          <a:solidFill>
                            <a:srgbClr val="FFFFFF"/>
                          </a:solidFill>
                          <a:latin typeface="Inter"/>
                        </a:defRPr>
                      </a:pPr>
                      <a:r>
                        <a:t>30</a:t>
                      </a:r>
                    </a:p>
                  </a:txBody>
                  <a:tcPr>
                    <a:solidFill>
                      <a:srgbClr val="5D2F85"/>
                    </a:solidFill>
                  </a:tcPr>
                </a:tc>
                <a:tc>
                  <a:txBody>
                    <a:bodyPr/>
                    <a:lstStyle/>
                    <a:p>
                      <a:pPr algn="ctr">
                        <a:defRPr sz="1000">
                          <a:solidFill>
                            <a:srgbClr val="FFFFFF"/>
                          </a:solidFill>
                          <a:latin typeface="Inter"/>
                        </a:defRPr>
                      </a:pPr>
                      <a:r>
                        <a:t>0.1396</a:t>
                      </a:r>
                    </a:p>
                  </a:txBody>
                  <a:tcPr>
                    <a:solidFill>
                      <a:srgbClr val="5D2F85"/>
                    </a:solidFill>
                  </a:tcPr>
                </a:tc>
                <a:tc>
                  <a:txBody>
                    <a:bodyPr/>
                    <a:lstStyle/>
                    <a:p>
                      <a:pPr algn="ctr">
                        <a:defRPr sz="1000">
                          <a:solidFill>
                            <a:srgbClr val="FFFFFF"/>
                          </a:solidFill>
                          <a:latin typeface="Inter"/>
                        </a:defRPr>
                      </a:pPr>
                      <a:r>
                        <a:t>0.8604</a:t>
                      </a:r>
                    </a:p>
                  </a:txBody>
                  <a:tcPr>
                    <a:solidFill>
                      <a:srgbClr val="5D2F85"/>
                    </a:solidFill>
                  </a:tcPr>
                </a:tc>
                <a:tc>
                  <a:txBody>
                    <a:bodyPr/>
                    <a:lstStyle/>
                    <a:p>
                      <a:pPr algn="ctr">
                        <a:defRPr sz="1000">
                          <a:solidFill>
                            <a:srgbClr val="FFFFFF"/>
                          </a:solidFill>
                          <a:latin typeface="Inter"/>
                        </a:defRPr>
                      </a:pPr>
                      <a:r>
                        <a:t>675</a:t>
                      </a:r>
                    </a:p>
                  </a:txBody>
                  <a:tcPr>
                    <a:solidFill>
                      <a:srgbClr val="5D2F85"/>
                    </a:solidFill>
                  </a:tcPr>
                </a:tc>
              </a:tr>
              <a:tr h="502920">
                <a:tc>
                  <a:txBody>
                    <a:bodyPr/>
                    <a:lstStyle/>
                    <a:p>
                      <a:pPr algn="ctr">
                        <a:defRPr sz="1000">
                          <a:solidFill>
                            <a:srgbClr val="FFFFFF"/>
                          </a:solidFill>
                          <a:latin typeface="Inter"/>
                        </a:defRPr>
                      </a:pPr>
                      <a:r>
                        <a:t>CE-PBFT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800 ms</a:t>
                      </a:r>
                    </a:p>
                  </a:txBody>
                  <a:tcPr>
                    <a:solidFill>
                      <a:srgbClr val="205A49"/>
                    </a:solidFill>
                  </a:tcPr>
                </a:tc>
                <a:tc>
                  <a:txBody>
                    <a:bodyPr/>
                    <a:lstStyle/>
                    <a:p>
                      <a:pPr algn="ctr">
                        <a:defRPr sz="1000">
                          <a:solidFill>
                            <a:srgbClr val="FFFFFF"/>
                          </a:solidFill>
                          <a:latin typeface="Inter"/>
                        </a:defRPr>
                      </a:pPr>
                      <a:r>
                        <a:t>62.5</a:t>
                      </a:r>
                    </a:p>
                  </a:txBody>
                  <a:tcPr>
                    <a:solidFill>
                      <a:srgbClr val="205A49"/>
                    </a:solidFill>
                  </a:tcPr>
                </a:tc>
                <a:tc>
                  <a:txBody>
                    <a:bodyPr/>
                    <a:lstStyle/>
                    <a:p>
                      <a:pPr algn="ctr">
                        <a:defRPr sz="1000">
                          <a:solidFill>
                            <a:srgbClr val="FFFFFF"/>
                          </a:solidFill>
                          <a:latin typeface="Inter"/>
                        </a:defRPr>
                      </a:pPr>
                      <a:r>
                        <a:t>16</a:t>
                      </a:r>
                    </a:p>
                  </a:txBody>
                  <a:tcPr>
                    <a:solidFill>
                      <a:srgbClr val="205A49"/>
                    </a:solidFill>
                  </a:tcPr>
                </a:tc>
                <a:tc>
                  <a:txBody>
                    <a:bodyPr/>
                    <a:lstStyle/>
                    <a:p>
                      <a:pPr algn="ctr">
                        <a:defRPr sz="1000">
                          <a:solidFill>
                            <a:srgbClr val="FFFFFF"/>
                          </a:solidFill>
                          <a:latin typeface="Inter"/>
                        </a:defRPr>
                      </a:pPr>
                      <a:r>
                        <a:t>0.0771</a:t>
                      </a:r>
                    </a:p>
                  </a:txBody>
                  <a:tcPr>
                    <a:solidFill>
                      <a:srgbClr val="205A49"/>
                    </a:solidFill>
                  </a:tcPr>
                </a:tc>
                <a:tc>
                  <a:txBody>
                    <a:bodyPr/>
                    <a:lstStyle/>
                    <a:p>
                      <a:pPr algn="ctr">
                        <a:defRPr sz="1000">
                          <a:solidFill>
                            <a:srgbClr val="FFFFFF"/>
                          </a:solidFill>
                          <a:latin typeface="Inter"/>
                        </a:defRPr>
                      </a:pPr>
                      <a:r>
                        <a:t>0.9229</a:t>
                      </a:r>
                    </a:p>
                  </a:txBody>
                  <a:tcPr>
                    <a:solidFill>
                      <a:srgbClr val="205A49"/>
                    </a:solidFill>
                  </a:tcPr>
                </a:tc>
                <a:tc>
                  <a:txBody>
                    <a:bodyPr/>
                    <a:lstStyle/>
                    <a:p>
                      <a:pPr algn="ctr">
                        <a:defRPr sz="1000">
                          <a:solidFill>
                            <a:srgbClr val="FFFFFF"/>
                          </a:solidFill>
                          <a:latin typeface="Inter"/>
                        </a:defRPr>
                      </a:pPr>
                      <a:r>
                        <a:t>1,875</a:t>
                      </a:r>
                    </a:p>
                  </a:txBody>
                  <a:tcPr>
                    <a:solidFill>
                      <a:srgbClr val="205A49"/>
                    </a:solidFill>
                  </a:tcPr>
                </a:tc>
              </a:tr>
              <a:tr h="502920">
                <a:tc>
                  <a:txBody>
                    <a:bodyPr/>
                    <a:lstStyle/>
                    <a:p>
                      <a:pPr algn="ctr">
                        <a:defRPr sz="1000">
                          <a:solidFill>
                            <a:srgbClr val="FFFFFF"/>
                          </a:solidFill>
                          <a:latin typeface="Inter"/>
                        </a:defRPr>
                      </a:pPr>
                      <a:r>
                        <a:t>G-PBFT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650 ms</a:t>
                      </a:r>
                    </a:p>
                  </a:txBody>
                  <a:tcPr>
                    <a:solidFill>
                      <a:srgbClr val="205A49"/>
                    </a:solidFill>
                  </a:tcPr>
                </a:tc>
                <a:tc>
                  <a:txBody>
                    <a:bodyPr/>
                    <a:lstStyle/>
                    <a:p>
                      <a:pPr algn="ctr">
                        <a:defRPr sz="1000">
                          <a:solidFill>
                            <a:srgbClr val="FFFFFF"/>
                          </a:solidFill>
                          <a:latin typeface="Inter"/>
                        </a:defRPr>
                      </a:pPr>
                      <a:r>
                        <a:t>76.9</a:t>
                      </a:r>
                    </a:p>
                  </a:txBody>
                  <a:tcPr>
                    <a:solidFill>
                      <a:srgbClr val="205A49"/>
                    </a:solidFill>
                  </a:tcPr>
                </a:tc>
                <a:tc>
                  <a:txBody>
                    <a:bodyPr/>
                    <a:lstStyle/>
                    <a:p>
                      <a:pPr algn="ctr">
                        <a:defRPr sz="1000">
                          <a:solidFill>
                            <a:srgbClr val="FFFFFF"/>
                          </a:solidFill>
                          <a:latin typeface="Inter"/>
                        </a:defRPr>
                      </a:pPr>
                      <a:r>
                        <a:t>13</a:t>
                      </a:r>
                    </a:p>
                  </a:txBody>
                  <a:tcPr>
                    <a:solidFill>
                      <a:srgbClr val="205A49"/>
                    </a:solidFill>
                  </a:tcPr>
                </a:tc>
                <a:tc>
                  <a:txBody>
                    <a:bodyPr/>
                    <a:lstStyle/>
                    <a:p>
                      <a:pPr algn="ctr">
                        <a:defRPr sz="1000">
                          <a:solidFill>
                            <a:srgbClr val="FFFFFF"/>
                          </a:solidFill>
                          <a:latin typeface="Inter"/>
                        </a:defRPr>
                      </a:pPr>
                      <a:r>
                        <a:t>0.0631</a:t>
                      </a:r>
                    </a:p>
                  </a:txBody>
                  <a:tcPr>
                    <a:solidFill>
                      <a:srgbClr val="205A49"/>
                    </a:solidFill>
                  </a:tcPr>
                </a:tc>
                <a:tc>
                  <a:txBody>
                    <a:bodyPr/>
                    <a:lstStyle/>
                    <a:p>
                      <a:pPr algn="ctr">
                        <a:defRPr sz="1000">
                          <a:solidFill>
                            <a:srgbClr val="FFFFFF"/>
                          </a:solidFill>
                          <a:latin typeface="Inter"/>
                        </a:defRPr>
                      </a:pPr>
                      <a:r>
                        <a:t>0.9369</a:t>
                      </a:r>
                    </a:p>
                  </a:txBody>
                  <a:tcPr>
                    <a:solidFill>
                      <a:srgbClr val="205A49"/>
                    </a:solidFill>
                  </a:tcPr>
                </a:tc>
                <a:tc>
                  <a:txBody>
                    <a:bodyPr/>
                    <a:lstStyle/>
                    <a:p>
                      <a:pPr algn="ctr">
                        <a:defRPr sz="1000">
                          <a:solidFill>
                            <a:srgbClr val="FFFFFF"/>
                          </a:solidFill>
                          <a:latin typeface="Inter"/>
                        </a:defRPr>
                      </a:pPr>
                      <a:r>
                        <a:t>2,700</a:t>
                      </a:r>
                    </a:p>
                  </a:txBody>
                  <a:tcPr>
                    <a:solidFill>
                      <a:srgbClr val="205A49"/>
                    </a:solidFill>
                  </a:tcPr>
                </a:tc>
              </a:tr>
              <a:tr h="502920">
                <a:tc>
                  <a:txBody>
                    <a:bodyPr/>
                    <a:lstStyle/>
                    <a:p>
                      <a:pPr algn="ctr">
                        <a:defRPr sz="1000">
                          <a:solidFill>
                            <a:srgbClr val="FFFFFF"/>
                          </a:solidFill>
                          <a:latin typeface="Inter"/>
                        </a:defRPr>
                      </a:pPr>
                      <a:r>
                        <a:t>SV-PBFT</a:t>
                      </a:r>
                    </a:p>
                  </a:txBody>
                  <a:tcPr>
                    <a:solidFill>
                      <a:srgbClr val="205A49"/>
                    </a:solidFill>
                  </a:tcPr>
                </a:tc>
                <a:tc>
                  <a:txBody>
                    <a:bodyPr/>
                    <a:lstStyle/>
                    <a:p>
                      <a:pPr algn="ctr">
                        <a:defRPr sz="1000">
                          <a:solidFill>
                            <a:srgbClr val="FFFFFF"/>
                          </a:solidFill>
                          <a:latin typeface="Inter"/>
                        </a:defRPr>
                      </a:pPr>
                      <a:r>
                        <a:t>G3: HTC-PBFT</a:t>
                      </a:r>
                    </a:p>
                  </a:txBody>
                  <a:tcPr>
                    <a:solidFill>
                      <a:srgbClr val="205A49"/>
                    </a:solidFill>
                  </a:tcPr>
                </a:tc>
                <a:tc>
                  <a:txBody>
                    <a:bodyPr/>
                    <a:lstStyle/>
                    <a:p>
                      <a:pPr algn="ctr">
                        <a:defRPr sz="1000">
                          <a:solidFill>
                            <a:srgbClr val="FFFFFF"/>
                          </a:solidFill>
                          <a:latin typeface="Inter"/>
                        </a:defRPr>
                      </a:pPr>
                      <a:r>
                        <a:t>500 ms</a:t>
                      </a:r>
                    </a:p>
                  </a:txBody>
                  <a:tcPr>
                    <a:solidFill>
                      <a:srgbClr val="205A49"/>
                    </a:solidFill>
                  </a:tcPr>
                </a:tc>
                <a:tc>
                  <a:txBody>
                    <a:bodyPr/>
                    <a:lstStyle/>
                    <a:p>
                      <a:pPr algn="ctr">
                        <a:defRPr sz="1000">
                          <a:solidFill>
                            <a:srgbClr val="FFFFFF"/>
                          </a:solidFill>
                          <a:latin typeface="Inter"/>
                        </a:defRPr>
                      </a:pPr>
                      <a:r>
                        <a:t>100.0</a:t>
                      </a:r>
                    </a:p>
                  </a:txBody>
                  <a:tcPr>
                    <a:solidFill>
                      <a:srgbClr val="205A49"/>
                    </a:solidFill>
                  </a:tcPr>
                </a:tc>
                <a:tc>
                  <a:txBody>
                    <a:bodyPr/>
                    <a:lstStyle/>
                    <a:p>
                      <a:pPr algn="ctr">
                        <a:defRPr sz="1000">
                          <a:solidFill>
                            <a:srgbClr val="FFFFFF"/>
                          </a:solidFill>
                          <a:latin typeface="Inter"/>
                        </a:defRPr>
                      </a:pPr>
                      <a:r>
                        <a:t>10</a:t>
                      </a:r>
                    </a:p>
                  </a:txBody>
                  <a:tcPr>
                    <a:solidFill>
                      <a:srgbClr val="205A49"/>
                    </a:solidFill>
                  </a:tcPr>
                </a:tc>
                <a:tc>
                  <a:txBody>
                    <a:bodyPr/>
                    <a:lstStyle/>
                    <a:p>
                      <a:pPr algn="ctr">
                        <a:defRPr sz="1000">
                          <a:solidFill>
                            <a:srgbClr val="FFFFFF"/>
                          </a:solidFill>
                          <a:latin typeface="Inter"/>
                        </a:defRPr>
                      </a:pPr>
                      <a:r>
                        <a:t>0.0489</a:t>
                      </a:r>
                    </a:p>
                  </a:txBody>
                  <a:tcPr>
                    <a:solidFill>
                      <a:srgbClr val="205A49"/>
                    </a:solidFill>
                  </a:tcPr>
                </a:tc>
                <a:tc>
                  <a:txBody>
                    <a:bodyPr/>
                    <a:lstStyle/>
                    <a:p>
                      <a:pPr algn="ctr">
                        <a:defRPr sz="1000">
                          <a:solidFill>
                            <a:srgbClr val="FFFFFF"/>
                          </a:solidFill>
                          <a:latin typeface="Inter"/>
                        </a:defRPr>
                      </a:pPr>
                      <a:r>
                        <a:t>0.9511</a:t>
                      </a:r>
                    </a:p>
                  </a:txBody>
                  <a:tcPr>
                    <a:solidFill>
                      <a:srgbClr val="205A49"/>
                    </a:solidFill>
                  </a:tcPr>
                </a:tc>
                <a:tc>
                  <a:txBody>
                    <a:bodyPr/>
                    <a:lstStyle/>
                    <a:p>
                      <a:pPr algn="ctr">
                        <a:defRPr sz="1000">
                          <a:solidFill>
                            <a:srgbClr val="FFFFFF"/>
                          </a:solidFill>
                          <a:latin typeface="Inter"/>
                        </a:defRPr>
                      </a:pPr>
                      <a:r>
                        <a:t>1,200</a:t>
                      </a:r>
                    </a:p>
                  </a:txBody>
                  <a:tcPr>
                    <a:solidFill>
                      <a:srgbClr val="205A49"/>
                    </a:solidFill>
                  </a:tcPr>
                </a:tc>
              </a:tr>
              <a:tr h="502920">
                <a:tc>
                  <a:txBody>
                    <a:bodyPr/>
                    <a:lstStyle/>
                    <a:p>
                      <a:pPr algn="ctr">
                        <a:defRPr sz="1000">
                          <a:solidFill>
                            <a:srgbClr val="FFFFFF"/>
                          </a:solidFill>
                          <a:latin typeface="Inter"/>
                        </a:defRPr>
                      </a:pPr>
                      <a:r>
                        <a:t>Tower BFT</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243 ms</a:t>
                      </a:r>
                    </a:p>
                  </a:txBody>
                  <a:tcPr>
                    <a:solidFill>
                      <a:srgbClr val="2C458A"/>
                    </a:solidFill>
                  </a:tcPr>
                </a:tc>
                <a:tc>
                  <a:txBody>
                    <a:bodyPr/>
                    <a:lstStyle/>
                    <a:p>
                      <a:pPr algn="ctr">
                        <a:defRPr sz="1000">
                          <a:solidFill>
                            <a:srgbClr val="FFFFFF"/>
                          </a:solidFill>
                          <a:latin typeface="Inter"/>
                        </a:defRPr>
                      </a:pPr>
                      <a:r>
                        <a:t>205.8</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0.0199</a:t>
                      </a:r>
                    </a:p>
                  </a:txBody>
                  <a:tcPr>
                    <a:solidFill>
                      <a:srgbClr val="2C458A"/>
                    </a:solidFill>
                  </a:tcPr>
                </a:tc>
                <a:tc>
                  <a:txBody>
                    <a:bodyPr/>
                    <a:lstStyle/>
                    <a:p>
                      <a:pPr algn="ctr">
                        <a:defRPr sz="1000">
                          <a:solidFill>
                            <a:srgbClr val="FFFFFF"/>
                          </a:solidFill>
                          <a:latin typeface="Inter"/>
                        </a:defRPr>
                      </a:pPr>
                      <a:r>
                        <a:t>0.9802</a:t>
                      </a:r>
                    </a:p>
                  </a:txBody>
                  <a:tcPr>
                    <a:solidFill>
                      <a:srgbClr val="2C458A"/>
                    </a:solidFill>
                  </a:tcPr>
                </a:tc>
                <a:tc>
                  <a:txBody>
                    <a:bodyPr/>
                    <a:lstStyle/>
                    <a:p>
                      <a:pPr algn="ctr">
                        <a:defRPr sz="1000">
                          <a:solidFill>
                            <a:srgbClr val="FFFFFF"/>
                          </a:solidFill>
                          <a:latin typeface="Inter"/>
                        </a:defRPr>
                      </a:pPr>
                      <a:r>
                        <a:t>1,275</a:t>
                      </a:r>
                    </a:p>
                  </a:txBody>
                  <a:tcPr>
                    <a:solidFill>
                      <a:srgbClr val="2C458A"/>
                    </a:solidFill>
                  </a:tcPr>
                </a:tc>
              </a:tr>
              <a:tr h="502920">
                <a:tc>
                  <a:txBody>
                    <a:bodyPr/>
                    <a:lstStyle/>
                    <a:p>
                      <a:pPr algn="ctr">
                        <a:defRPr sz="1000">
                          <a:solidFill>
                            <a:srgbClr val="FFFFFF"/>
                          </a:solidFill>
                          <a:latin typeface="Inter"/>
                        </a:defRPr>
                      </a:pPr>
                      <a:r>
                        <a:t>RVR</a:t>
                      </a:r>
                    </a:p>
                  </a:txBody>
                  <a:tcPr>
                    <a:solidFill>
                      <a:srgbClr val="2C458A"/>
                    </a:solidFill>
                  </a:tcPr>
                </a:tc>
                <a:tc>
                  <a:txBody>
                    <a:bodyPr/>
                    <a:lstStyle/>
                    <a:p>
                      <a:pPr algn="ctr">
                        <a:defRPr sz="1000">
                          <a:solidFill>
                            <a:srgbClr val="FFFFFF"/>
                          </a:solidFill>
                          <a:latin typeface="Inter"/>
                        </a:defRPr>
                      </a:pPr>
                      <a:r>
                        <a:t>G4: SS-PR-BFT</a:t>
                      </a:r>
                    </a:p>
                  </a:txBody>
                  <a:tcPr>
                    <a:solidFill>
                      <a:srgbClr val="2C458A"/>
                    </a:solidFill>
                  </a:tcPr>
                </a:tc>
                <a:tc>
                  <a:txBody>
                    <a:bodyPr/>
                    <a:lstStyle/>
                    <a:p>
                      <a:pPr algn="ctr">
                        <a:defRPr sz="1000">
                          <a:solidFill>
                            <a:srgbClr val="FFFFFF"/>
                          </a:solidFill>
                          <a:latin typeface="Inter"/>
                        </a:defRPr>
                      </a:pPr>
                      <a:r>
                        <a:t>200 ms</a:t>
                      </a:r>
                    </a:p>
                  </a:txBody>
                  <a:tcPr>
                    <a:solidFill>
                      <a:srgbClr val="2C458A"/>
                    </a:solidFill>
                  </a:tcPr>
                </a:tc>
                <a:tc>
                  <a:txBody>
                    <a:bodyPr/>
                    <a:lstStyle/>
                    <a:p>
                      <a:pPr algn="ctr">
                        <a:defRPr sz="1000">
                          <a:solidFill>
                            <a:srgbClr val="FFFFFF"/>
                          </a:solidFill>
                          <a:latin typeface="Inter"/>
                        </a:defRPr>
                      </a:pPr>
                      <a:r>
                        <a:t>250.0</a:t>
                      </a:r>
                    </a:p>
                  </a:txBody>
                  <a:tcPr>
                    <a:solidFill>
                      <a:srgbClr val="2C458A"/>
                    </a:solidFill>
                  </a:tcPr>
                </a:tc>
                <a:tc>
                  <a:txBody>
                    <a:bodyPr/>
                    <a:lstStyle/>
                    <a:p>
                      <a:pPr algn="ctr">
                        <a:defRPr sz="1000">
                          <a:solidFill>
                            <a:srgbClr val="FFFFFF"/>
                          </a:solidFill>
                          <a:latin typeface="Inter"/>
                        </a:defRPr>
                      </a:pPr>
                      <a:r>
                        <a:t>4</a:t>
                      </a:r>
                    </a:p>
                  </a:txBody>
                  <a:tcPr>
                    <a:solidFill>
                      <a:srgbClr val="2C458A"/>
                    </a:solidFill>
                  </a:tcPr>
                </a:tc>
                <a:tc>
                  <a:txBody>
                    <a:bodyPr/>
                    <a:lstStyle/>
                    <a:p>
                      <a:pPr algn="ctr">
                        <a:defRPr sz="1000">
                          <a:solidFill>
                            <a:srgbClr val="FFFFFF"/>
                          </a:solidFill>
                          <a:latin typeface="Inter"/>
                        </a:defRPr>
                      </a:pPr>
                      <a:r>
                        <a:t>0.0199</a:t>
                      </a:r>
                    </a:p>
                  </a:txBody>
                  <a:tcPr>
                    <a:solidFill>
                      <a:srgbClr val="2C458A"/>
                    </a:solidFill>
                  </a:tcPr>
                </a:tc>
                <a:tc>
                  <a:txBody>
                    <a:bodyPr/>
                    <a:lstStyle/>
                    <a:p>
                      <a:pPr algn="ctr">
                        <a:defRPr sz="1000">
                          <a:solidFill>
                            <a:srgbClr val="FFFFFF"/>
                          </a:solidFill>
                          <a:latin typeface="Inter"/>
                        </a:defRPr>
                      </a:pPr>
                      <a:r>
                        <a:t>0.9802</a:t>
                      </a:r>
                    </a:p>
                  </a:txBody>
                  <a:tcPr>
                    <a:solidFill>
                      <a:srgbClr val="2C458A"/>
                    </a:solidFill>
                  </a:tcPr>
                </a:tc>
                <a:tc>
                  <a:txBody>
                    <a:bodyPr/>
                    <a:lstStyle/>
                    <a:p>
                      <a:pPr algn="ctr">
                        <a:defRPr sz="1000">
                          <a:solidFill>
                            <a:srgbClr val="FFFFFF"/>
                          </a:solidFill>
                          <a:latin typeface="Inter"/>
                        </a:defRPr>
                      </a:pPr>
                      <a:r>
                        <a:t>1,020</a:t>
                      </a:r>
                    </a:p>
                  </a:txBody>
                  <a:tcPr>
                    <a:solidFill>
                      <a:srgbClr val="2C458A"/>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Latency and Security Curves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Consensus Latency (Left Plot):</a:t>
            </a:r>
          </a:p>
          <a:p>
            <a:pPr>
              <a:defRPr sz="1500" b="0">
                <a:solidFill>
                  <a:srgbClr val="0F172A"/>
                </a:solidFill>
                <a:latin typeface="Inter"/>
              </a:defRPr>
            </a:pPr>
            <a:r>
              <a:t>  • OM(m) grows exponentially, hitting 43.35s</a:t>
            </a:r>
          </a:p>
          <a:p>
            <a:pPr>
              <a:defRPr sz="1500" b="0">
                <a:solidFill>
                  <a:srgbClr val="0F172A"/>
                </a:solidFill>
                <a:latin typeface="Inter"/>
              </a:defRPr>
            </a:pPr>
            <a:r>
              <a:t>  • Tower BFT stays flat sub-250ms due to PoH pipelining</a:t>
            </a:r>
          </a:p>
          <a:p>
            <a:pPr>
              <a:defRPr sz="1500" b="0">
                <a:solidFill>
                  <a:srgbClr val="0F172A"/>
                </a:solidFill>
                <a:latin typeface="Inter"/>
              </a:defRPr>
            </a:pPr>
          </a:p>
          <a:p>
            <a:pPr>
              <a:defRPr sz="1500" b="0">
                <a:solidFill>
                  <a:srgbClr val="0F172A"/>
                </a:solidFill>
                <a:latin typeface="Inter"/>
              </a:defRPr>
            </a:pPr>
            <a:r>
              <a:t>Static-Temporal Security (Right Plot):</a:t>
            </a:r>
          </a:p>
          <a:p>
            <a:pPr>
              <a:defRPr sz="1500" b="0">
                <a:solidFill>
                  <a:srgbClr val="0F172A"/>
                </a:solidFill>
                <a:latin typeface="Inter"/>
              </a:defRPr>
            </a:pPr>
            <a:r>
              <a:t>  • CFM-BA (Group 1) collapses to ~0.01 under faults due to 867 attempts</a:t>
            </a:r>
          </a:p>
          <a:p>
            <a:pPr>
              <a:defRPr sz="1500" b="0">
                <a:solidFill>
                  <a:srgbClr val="0F172A"/>
                </a:solidFill>
                <a:latin typeface="Inter"/>
              </a:defRPr>
            </a:pPr>
            <a:r>
              <a:t>  • CDC-C (Group 2) and HTC-PBFT (Group 3) achieve intermediate bounds</a:t>
            </a:r>
          </a:p>
          <a:p>
            <a:pPr>
              <a:defRPr sz="1500" b="0">
                <a:solidFill>
                  <a:srgbClr val="0F172A"/>
                </a:solidFill>
                <a:latin typeface="Inter"/>
              </a:defRPr>
            </a:pPr>
            <a:r>
              <a:t>  • SS-PR-BFT (Group 4) maintains high P_secure &gt;= 0.98</a:t>
            </a:r>
          </a:p>
        </p:txBody>
      </p:sp>
      <p:pic>
        <p:nvPicPr>
          <p:cNvPr id="5" name="Picture 4" descr="comparison_temporal_decay.png"/>
          <p:cNvPicPr>
            <a:picLocks noChangeAspect="1"/>
          </p:cNvPicPr>
          <p:nvPr/>
        </p:nvPicPr>
        <p:blipFill>
          <a:blip r:embed="rId3"/>
          <a:stretch>
            <a:fillRect/>
          </a:stretch>
        </p:blipFill>
        <p:spPr>
          <a:xfrm>
            <a:off x="5943600" y="1188720"/>
            <a:ext cx="5760720" cy="3200400"/>
          </a:xfrm>
          <a:prstGeom prst="rect">
            <a:avLst/>
          </a:prstGeom>
        </p:spPr>
      </p:pic>
      <p:sp>
        <p:nvSpPr>
          <p:cNvPr id="6" name="TextBox 5"/>
          <p:cNvSpPr txBox="1"/>
          <p:nvPr/>
        </p:nvSpPr>
        <p:spPr>
          <a:xfrm>
            <a:off x="5943600" y="4480559"/>
            <a:ext cx="5760720" cy="274320"/>
          </a:xfrm>
          <a:prstGeom prst="rect">
            <a:avLst/>
          </a:prstGeom>
          <a:noFill/>
        </p:spPr>
        <p:txBody>
          <a:bodyPr wrap="square" lIns="45720" rIns="45720">
            <a:spAutoFit/>
          </a:bodyPr>
          <a:lstStyle/>
          <a:p>
            <a:pPr algn="ctr">
              <a:defRPr sz="1000" b="0">
                <a:solidFill>
                  <a:srgbClr val="334155"/>
                </a:solidFill>
                <a:latin typeface="Outfit"/>
              </a:defRPr>
            </a:pPr>
            <a:r>
              <a:t>Figure 1: P_temporal Decay Curves with Operating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Heatmap and Radar</a:t>
            </a:r>
          </a:p>
        </p:txBody>
      </p:sp>
      <p:pic>
        <p:nvPicPr>
          <p:cNvPr id="4" name="Picture 3" descr="comparison_heatmap.png"/>
          <p:cNvPicPr>
            <a:picLocks noChangeAspect="1"/>
          </p:cNvPicPr>
          <p:nvPr/>
        </p:nvPicPr>
        <p:blipFill>
          <a:blip r:embed="rId3"/>
          <a:stretch>
            <a:fillRect/>
          </a:stretch>
        </p:blipFill>
        <p:spPr>
          <a:xfrm>
            <a:off x="457200" y="1371600"/>
            <a:ext cx="5486400" cy="2743200"/>
          </a:xfrm>
          <a:prstGeom prst="rect">
            <a:avLst/>
          </a:prstGeom>
        </p:spPr>
      </p:pic>
      <p:sp>
        <p:nvSpPr>
          <p:cNvPr id="5" name="TextBox 4"/>
          <p:cNvSpPr txBox="1"/>
          <p:nvPr/>
        </p:nvSpPr>
        <p:spPr>
          <a:xfrm>
            <a:off x="457200" y="4206240"/>
            <a:ext cx="5486400" cy="274320"/>
          </a:xfrm>
          <a:prstGeom prst="rect">
            <a:avLst/>
          </a:prstGeom>
          <a:noFill/>
        </p:spPr>
        <p:txBody>
          <a:bodyPr wrap="square" lIns="45720" rIns="45720">
            <a:spAutoFit/>
          </a:bodyPr>
          <a:lstStyle/>
          <a:p>
            <a:pPr algn="ctr">
              <a:defRPr sz="1000" b="0">
                <a:solidFill>
                  <a:srgbClr val="334155"/>
                </a:solidFill>
                <a:latin typeface="Outfit"/>
              </a:defRPr>
            </a:pPr>
            <a:r>
              <a:t>Figure 2: Performance Heatmap (Normalized)</a:t>
            </a:r>
          </a:p>
        </p:txBody>
      </p:sp>
      <p:pic>
        <p:nvPicPr>
          <p:cNvPr id="6" name="Picture 5" descr="comparison_radar.png"/>
          <p:cNvPicPr>
            <a:picLocks noChangeAspect="1"/>
          </p:cNvPicPr>
          <p:nvPr/>
        </p:nvPicPr>
        <p:blipFill>
          <a:blip r:embed="rId4"/>
          <a:stretch>
            <a:fillRect/>
          </a:stretch>
        </p:blipFill>
        <p:spPr>
          <a:xfrm>
            <a:off x="6583680" y="1097280"/>
            <a:ext cx="4572000" cy="4572000"/>
          </a:xfrm>
          <a:prstGeom prst="rect">
            <a:avLst/>
          </a:prstGeom>
        </p:spPr>
      </p:pic>
      <p:sp>
        <p:nvSpPr>
          <p:cNvPr id="7" name="TextBox 6"/>
          <p:cNvSpPr txBox="1"/>
          <p:nvPr/>
        </p:nvSpPr>
        <p:spPr>
          <a:xfrm>
            <a:off x="6583680" y="5760720"/>
            <a:ext cx="4572000" cy="274320"/>
          </a:xfrm>
          <a:prstGeom prst="rect">
            <a:avLst/>
          </a:prstGeom>
          <a:noFill/>
        </p:spPr>
        <p:txBody>
          <a:bodyPr wrap="square" lIns="45720" rIns="45720">
            <a:spAutoFit/>
          </a:bodyPr>
          <a:lstStyle/>
          <a:p>
            <a:pPr algn="ctr">
              <a:defRPr sz="1000" b="0">
                <a:solidFill>
                  <a:srgbClr val="334155"/>
                </a:solidFill>
                <a:latin typeface="Outfit"/>
              </a:defRPr>
            </a:pPr>
            <a:r>
              <a:t>Figure 3: Multi-Dimensional Tradeoff Radar Chart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182880"/>
            <a:ext cx="10972800" cy="548640"/>
          </a:xfrm>
          <a:prstGeom prst="rect">
            <a:avLst/>
          </a:prstGeom>
          <a:noFill/>
        </p:spPr>
        <p:txBody>
          <a:bodyPr wrap="square" lIns="45720" rIns="45720">
            <a:spAutoFit/>
          </a:bodyPr>
          <a:lstStyle/>
          <a:p>
            <a:pPr algn="l">
              <a:defRPr sz="2400" b="1">
                <a:solidFill>
                  <a:srgbClr val="0284C7"/>
                </a:solidFill>
                <a:latin typeface="Outfit"/>
              </a:defRPr>
            </a:pPr>
            <a:r>
              <a:t>8. Results &amp; Discussion: Key Management Thresholds</a:t>
            </a:r>
          </a:p>
        </p:txBody>
      </p:sp>
      <p:sp>
        <p:nvSpPr>
          <p:cNvPr id="4" name="TextBox 3"/>
          <p:cNvSpPr txBox="1"/>
          <p:nvPr/>
        </p:nvSpPr>
        <p:spPr>
          <a:xfrm>
            <a:off x="457200" y="1188720"/>
            <a:ext cx="5303520" cy="4572000"/>
          </a:xfrm>
          <a:prstGeom prst="rect">
            <a:avLst/>
          </a:prstGeom>
          <a:noFill/>
        </p:spPr>
        <p:txBody>
          <a:bodyPr wrap="square" lIns="45720" rIns="45720">
            <a:spAutoFit/>
          </a:bodyPr>
          <a:lstStyle/>
          <a:p>
            <a:pPr>
              <a:defRPr sz="1500" b="0">
                <a:solidFill>
                  <a:srgbClr val="0F172A"/>
                </a:solidFill>
                <a:latin typeface="Inter"/>
              </a:defRPr>
            </a:pPr>
            <a:r>
              <a:t>Baseline paper assumed constant receiver risk P_R = 0.01</a:t>
            </a:r>
          </a:p>
          <a:p>
            <a:pPr>
              <a:defRPr sz="1500" b="0">
                <a:solidFill>
                  <a:srgbClr val="0F172A"/>
                </a:solidFill>
                <a:latin typeface="Inter"/>
              </a:defRPr>
            </a:pPr>
            <a:r>
              <a:t>We model threshold cryptography: Shamir Secret Sharing (k, d)</a:t>
            </a:r>
          </a:p>
          <a:p>
            <a:pPr>
              <a:defRPr sz="1500" b="0">
                <a:solidFill>
                  <a:srgbClr val="0F172A"/>
                </a:solidFill>
                <a:latin typeface="Inter"/>
              </a:defRPr>
            </a:pPr>
            <a:r>
              <a:t>Probability of compromise derived using Binomial CDF:</a:t>
            </a:r>
          </a:p>
          <a:p>
            <a:pPr>
              <a:defRPr sz="1500" b="0">
                <a:solidFill>
                  <a:srgbClr val="0F172A"/>
                </a:solidFill>
                <a:latin typeface="Inter"/>
              </a:defRPr>
            </a:pPr>
            <a:r>
              <a:t>  P_R,shamir = sum_{i=k}^{d} (d choose i) * P_R^i * (1-P_R)^(d-i)</a:t>
            </a:r>
          </a:p>
          <a:p>
            <a:pPr>
              <a:defRPr sz="1500" b="0">
                <a:solidFill>
                  <a:srgbClr val="0F172A"/>
                </a:solidFill>
                <a:latin typeface="Inter"/>
              </a:defRPr>
            </a:pPr>
          </a:p>
          <a:p>
            <a:pPr>
              <a:defRPr sz="1500" b="0">
                <a:solidFill>
                  <a:srgbClr val="0F172A"/>
                </a:solidFill>
                <a:latin typeface="Inter"/>
              </a:defRPr>
            </a:pPr>
            <a:r>
              <a:t>For a (3, 5) threshold setup:</a:t>
            </a:r>
          </a:p>
          <a:p>
            <a:pPr>
              <a:defRPr sz="1500" b="0">
                <a:solidFill>
                  <a:srgbClr val="0F172A"/>
                </a:solidFill>
                <a:latin typeface="Inter"/>
              </a:defRPr>
            </a:pPr>
            <a:r>
              <a:t>  • Receiver compromise probability drops to 9.85 x 10⁻⁶</a:t>
            </a:r>
          </a:p>
          <a:p>
            <a:pPr>
              <a:defRPr sz="1500" b="0">
                <a:solidFill>
                  <a:srgbClr val="0F172A"/>
                </a:solidFill>
                <a:latin typeface="Inter"/>
              </a:defRPr>
            </a:pPr>
            <a:r>
              <a:t>  • Over 1,000x reduction in validator compromise risk!</a:t>
            </a:r>
          </a:p>
          <a:p>
            <a:pPr>
              <a:defRPr sz="1500" b="0">
                <a:solidFill>
                  <a:srgbClr val="0F172A"/>
                </a:solidFill>
                <a:latin typeface="Inter"/>
              </a:defRPr>
            </a:pPr>
            <a:r>
              <a:t>  • Directly reinforces the blockchain static barrier P_Rb (Eq. 20)</a:t>
            </a:r>
          </a:p>
        </p:txBody>
      </p:sp>
      <p:pic>
        <p:nvPicPr>
          <p:cNvPr id="5" name="Picture 4" descr="analytical_key_management.png"/>
          <p:cNvPicPr>
            <a:picLocks noChangeAspect="1"/>
          </p:cNvPicPr>
          <p:nvPr/>
        </p:nvPicPr>
        <p:blipFill>
          <a:blip r:embed="rId3"/>
          <a:stretch>
            <a:fillRect/>
          </a:stretch>
        </p:blipFill>
        <p:spPr>
          <a:xfrm>
            <a:off x="5943600" y="1188720"/>
            <a:ext cx="5486400" cy="4114800"/>
          </a:xfrm>
          <a:prstGeom prst="rect">
            <a:avLst/>
          </a:prstGeom>
        </p:spPr>
      </p:pic>
      <p:sp>
        <p:nvSpPr>
          <p:cNvPr id="6" name="TextBox 5"/>
          <p:cNvSpPr txBox="1"/>
          <p:nvPr/>
        </p:nvSpPr>
        <p:spPr>
          <a:xfrm>
            <a:off x="5943600" y="5394959"/>
            <a:ext cx="5486400" cy="274320"/>
          </a:xfrm>
          <a:prstGeom prst="rect">
            <a:avLst/>
          </a:prstGeom>
          <a:noFill/>
        </p:spPr>
        <p:txBody>
          <a:bodyPr wrap="square" lIns="45720" rIns="45720">
            <a:spAutoFit/>
          </a:bodyPr>
          <a:lstStyle/>
          <a:p>
            <a:pPr algn="ctr">
              <a:defRPr sz="1000" b="0">
                <a:solidFill>
                  <a:srgbClr val="334155"/>
                </a:solidFill>
                <a:latin typeface="Outfit"/>
              </a:defRPr>
            </a:pPr>
            <a:r>
              <a:t>Figure 4: Effective P_R vs. Threshold size (k, 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9. Next Steps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600" b="1">
                <a:solidFill>
                  <a:srgbClr val="0F172A"/>
                </a:solidFill>
                <a:latin typeface="Inter"/>
              </a:defRPr>
            </a:pPr>
            <a:r>
              <a:t>Planned Research Activities:</a:t>
            </a:r>
          </a:p>
          <a:p>
            <a:pPr lvl="1">
              <a:defRPr sz="1500">
                <a:solidFill>
                  <a:srgbClr val="334155"/>
                </a:solidFill>
                <a:latin typeface="Inter"/>
              </a:defRPr>
            </a:pPr>
            <a:r>
              <a:t>Complete the draft of the research paper for submission to IEEE Transactions</a:t>
            </a:r>
          </a:p>
          <a:p>
            <a:pPr lvl="1">
              <a:defRPr sz="1500">
                <a:solidFill>
                  <a:srgbClr val="334155"/>
                </a:solidFill>
                <a:latin typeface="Inter"/>
              </a:defRPr>
            </a:pPr>
            <a:r>
              <a:t>Perform network sensitivity analysis: sweeping packet loss rate (0% to 20%) and network delay jitter</a:t>
            </a:r>
          </a:p>
          <a:p>
            <a:pPr lvl="1">
              <a:defRPr sz="1500">
                <a:solidFill>
                  <a:srgbClr val="334155"/>
                </a:solidFill>
                <a:latin typeface="Inter"/>
              </a:defRPr>
            </a:pPr>
            <a:r>
              <a:t>Model view-change latency overhead under high leader failure scenarios (f &gt; 16)</a:t>
            </a:r>
          </a:p>
          <a:p>
            <a:pPr>
              <a:defRPr sz="1600" b="1">
                <a:solidFill>
                  <a:srgbClr val="0F172A"/>
                </a:solidFill>
                <a:latin typeface="Inter"/>
              </a:defRPr>
            </a:pPr>
            <a:r>
              <a:t>Pending Milestones:</a:t>
            </a:r>
          </a:p>
          <a:p>
            <a:pPr lvl="1">
              <a:defRPr sz="1500">
                <a:solidFill>
                  <a:srgbClr val="334155"/>
                </a:solidFill>
                <a:latin typeface="Inter"/>
              </a:defRPr>
            </a:pPr>
            <a:r>
              <a:t>Integrate hybrid consensus (Hierarchical clustering + Sub-Second finality)</a:t>
            </a:r>
          </a:p>
          <a:p>
            <a:pPr lvl="1">
              <a:defRPr sz="1500">
                <a:solidFill>
                  <a:srgbClr val="334155"/>
                </a:solidFill>
                <a:latin typeface="Inter"/>
              </a:defRPr>
            </a:pPr>
            <a:r>
              <a:t>Resolve code performance optimizations for the smart grid simulation tool</a:t>
            </a:r>
          </a:p>
          <a:p>
            <a:pPr lvl="1">
              <a:defRPr sz="1500">
                <a:solidFill>
                  <a:srgbClr val="334155"/>
                </a:solidFill>
                <a:latin typeface="Inter"/>
              </a:defRPr>
            </a:pPr>
            <a:r>
              <a:t>Final thesis report submission to VJTI Department of Electrical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10. Conclusion</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500" b="1">
                <a:solidFill>
                  <a:srgbClr val="0F172A"/>
                </a:solidFill>
                <a:latin typeface="Inter"/>
              </a:defRPr>
            </a:pPr>
            <a:r>
              <a:t>Summary of Work Completed:</a:t>
            </a:r>
          </a:p>
          <a:p>
            <a:pPr lvl="1">
              <a:defRPr sz="1400">
                <a:solidFill>
                  <a:srgbClr val="334155"/>
                </a:solidFill>
                <a:latin typeface="Inter"/>
              </a:defRPr>
            </a:pPr>
            <a:r>
              <a:t>Derived exact analytical proofs for latency and throughput, addressing Sheikh's static model gaps</a:t>
            </a:r>
          </a:p>
          <a:p>
            <a:pPr lvl="1">
              <a:defRPr sz="1400">
                <a:solidFill>
                  <a:srgbClr val="334155"/>
                </a:solidFill>
                <a:latin typeface="Inter"/>
              </a:defRPr>
            </a:pPr>
            <a:r>
              <a:t>Formulated the Static-Temporal Security Framework (STSF) to model latency-induced vulnerability</a:t>
            </a:r>
          </a:p>
          <a:p>
            <a:pPr lvl="1">
              <a:defRPr sz="1400">
                <a:solidFill>
                  <a:srgbClr val="334155"/>
                </a:solidFill>
                <a:latin typeface="Inter"/>
              </a:defRPr>
            </a:pPr>
            <a:r>
              <a:t>Evaluated 8 algorithms in 4 groups (CFM-BA, CDC-C, HTC-PBFT, SS-PR-BFT) on identical grid parameters</a:t>
            </a:r>
          </a:p>
          <a:p>
            <a:pPr lvl="1">
              <a:defRPr sz="1400">
                <a:solidFill>
                  <a:srgbClr val="334155"/>
                </a:solidFill>
                <a:latin typeface="Inter"/>
              </a:defRPr>
            </a:pPr>
            <a:r>
              <a:t>Proved that Sub-Second protocols (Group 4) maintain P_secure &gt;= 0.98 by limiting attack attempts to N=4</a:t>
            </a:r>
          </a:p>
          <a:p>
            <a:pPr>
              <a:defRPr sz="1500" b="1">
                <a:solidFill>
                  <a:srgbClr val="0F172A"/>
                </a:solidFill>
                <a:latin typeface="Inter"/>
              </a:defRPr>
            </a:pPr>
            <a:r>
              <a:t>Key Deployment Recommendations:</a:t>
            </a:r>
          </a:p>
          <a:p>
            <a:pPr lvl="1">
              <a:defRPr sz="1400">
                <a:solidFill>
                  <a:srgbClr val="334155"/>
                </a:solidFill>
                <a:latin typeface="Inter"/>
              </a:defRPr>
            </a:pPr>
            <a:r>
              <a:t>For modern 5G grids: Deploy Group 4 (Tower BFT, RVR) to support 250 TPS with low vulnerability</a:t>
            </a:r>
          </a:p>
          <a:p>
            <a:pPr lvl="1">
              <a:defRPr sz="1400">
                <a:solidFill>
                  <a:srgbClr val="334155"/>
                </a:solidFill>
                <a:latin typeface="Inter"/>
              </a:defRPr>
            </a:pPr>
            <a:r>
              <a:t>For legacy SCADA grids: Deploy Group 3 (Hierarchical HTC-PBFT) to achieve P_secure &gt; 0.92 without sub-ms sync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_generated.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457200" y="274320"/>
            <a:ext cx="10972800" cy="640080"/>
          </a:xfrm>
          <a:prstGeom prst="rect">
            <a:avLst/>
          </a:prstGeom>
          <a:noFill/>
        </p:spPr>
        <p:txBody>
          <a:bodyPr wrap="square" lIns="45720" rIns="45720">
            <a:spAutoFit/>
          </a:bodyPr>
          <a:lstStyle/>
          <a:p>
            <a:pPr algn="l">
              <a:defRPr sz="2800" b="1">
                <a:solidFill>
                  <a:srgbClr val="0284C7"/>
                </a:solidFill>
                <a:latin typeface="Outfit"/>
              </a:defRPr>
            </a:pPr>
            <a:r>
              <a:t>11. References</a:t>
            </a:r>
          </a:p>
        </p:txBody>
      </p:sp>
      <p:sp>
        <p:nvSpPr>
          <p:cNvPr id="4" name="Rectangle 3"/>
          <p:cNvSpPr/>
          <p:nvPr/>
        </p:nvSpPr>
        <p:spPr>
          <a:xfrm>
            <a:off x="457200" y="914400"/>
            <a:ext cx="1828800" cy="45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4754880"/>
          </a:xfrm>
          <a:prstGeom prst="rect">
            <a:avLst/>
          </a:prstGeom>
          <a:noFill/>
        </p:spPr>
        <p:txBody>
          <a:bodyPr wrap="square" lIns="45720" rIns="45720">
            <a:spAutoFit/>
          </a:bodyPr>
          <a:lstStyle/>
          <a:p>
            <a:pPr>
              <a:defRPr sz="1200" b="0">
                <a:solidFill>
                  <a:srgbClr val="334155"/>
                </a:solidFill>
                <a:latin typeface="Inter"/>
              </a:defRPr>
            </a:pPr>
            <a:r>
              <a:t>[1] A. Sheikh et al., 'Secured Energy Trading Using Byzantine-Based Blockchain Consensus,' IEEE Access, vol. 8, 2020.</a:t>
            </a:r>
          </a:p>
          <a:p>
            <a:pPr>
              <a:defRPr sz="1200" b="0">
                <a:solidFill>
                  <a:srgbClr val="334155"/>
                </a:solidFill>
                <a:latin typeface="Inter"/>
              </a:defRPr>
            </a:pPr>
            <a:r>
              <a:t>[2] L. Lamport et al., 'The Byzantine Generals Problem,' ACM TOPLAS, vol. 4, no. 3, 1982.</a:t>
            </a:r>
          </a:p>
          <a:p>
            <a:pPr>
              <a:defRPr sz="1200" b="0">
                <a:solidFill>
                  <a:srgbClr val="334155"/>
                </a:solidFill>
                <a:latin typeface="Inter"/>
              </a:defRPr>
            </a:pPr>
            <a:r>
              <a:t>[3] M. Castro and B. Liskov, 'Practical Byzantine Fault Tolerance,' in Proc. OSDI, 1999.</a:t>
            </a:r>
          </a:p>
          <a:p>
            <a:pPr>
              <a:defRPr sz="1200" b="0">
                <a:solidFill>
                  <a:srgbClr val="334155"/>
                </a:solidFill>
                <a:latin typeface="Inter"/>
              </a:defRPr>
            </a:pPr>
            <a:r>
              <a:t>[4] X. Ding et al., 'CE-PBFT: An Optimized PBFT Consensus Algorithm for Microgrid Power Trading,' IEEE Trans. Smart Grid, 2024.</a:t>
            </a:r>
          </a:p>
          <a:p>
            <a:pPr>
              <a:defRPr sz="1200" b="0">
                <a:solidFill>
                  <a:srgbClr val="334155"/>
                </a:solidFill>
                <a:latin typeface="Inter"/>
              </a:defRPr>
            </a:pPr>
            <a:r>
              <a:t>[5] Z. Xu et al., 'G-PBFT Algorithm and its Application in Distributed Energy Trading,' Applied Energy, 2025.</a:t>
            </a:r>
          </a:p>
          <a:p>
            <a:pPr>
              <a:defRPr sz="1200" b="0">
                <a:solidFill>
                  <a:srgbClr val="334155"/>
                </a:solidFill>
                <a:latin typeface="Inter"/>
              </a:defRPr>
            </a:pPr>
            <a:r>
              <a:t>[6] Y. Suo et al., 'SV-PBFT: An Efficient and Stable Blockchain PBFT Improved Consensus Algorithm for Vehicle-to-Vehicle Energy Transactions,' IEEE IoT Journal, 2025.</a:t>
            </a:r>
          </a:p>
          <a:p>
            <a:pPr>
              <a:defRPr sz="1200" b="0">
                <a:solidFill>
                  <a:srgbClr val="334155"/>
                </a:solidFill>
                <a:latin typeface="Inter"/>
              </a:defRPr>
            </a:pPr>
            <a:r>
              <a:t>[7] A. Yakovenko, 'Solana: A new architecture for a high performance blockchain,' Solana Whitepaper, 2018.</a:t>
            </a:r>
          </a:p>
          <a:p>
            <a:pPr>
              <a:defRPr sz="1200" b="0">
                <a:solidFill>
                  <a:srgbClr val="334155"/>
                </a:solidFill>
                <a:latin typeface="Inter"/>
              </a:defRPr>
            </a:pPr>
            <a:r>
              <a:t>[8] H. Wang et al., 'RVR Consensus: A Verifiable, Weighted-Random, Byzantine-Tolerant Smart Grid Framework,' IEEE TPDS,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