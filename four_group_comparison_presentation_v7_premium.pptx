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our presentation on resolving the temporal vulnerability window in Byzantine-secured smart grid energy trading.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begin with WHY we need this project...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the exact Problem Statement...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is this problem highly significant? Because False Data Injections destabilize physical transformers...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to WHAT is currently done...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solve this? We propose evaluating the grid using our new Static-Temporal Security Framework (STSF).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14400"/>
            <a:ext cx="10698480" cy="502920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Outfit"/>
              </a:defRPr>
            </a:pPr>
            <a:r>
              <a:t>Resolving the Temporal Vulnerability Window in</a:t>
            </a:r>
            <a:br/>
            <a:r>
              <a:t>Byzantine-Secured Smart Grid Energy Trading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36576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9488"/>
                </a:solidFill>
                <a:latin typeface="Outfit"/>
              </a:defRPr>
            </a:pPr>
            <a:r>
              <a:t>A Four-Group Evaluation Using the Static-Temporal Security Framework (STSF)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Outfit"/>
              </a:defRPr>
            </a:pPr>
            <a:r>
              <a:t>Presenter: VJTI Research Student</a:t>
            </a:r>
            <a:br/>
            <a:r>
              <a:t>Guide / Mentor: Uday sir and Sunny Sir</a:t>
            </a:r>
            <a:br/>
            <a:r>
              <a:t>Organization: Veermata Jijabai Technological Institute (VJTI) Mumbai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1. Background and Context (Why)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P2P Energy Markets in the Smart Grid: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Peer-to-peer trading enables dynamic bidding between EVs and Distribution Networks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Modeled using standard IEEE 33-Bus distribution network topology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Distributed Verification Needs: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Smart meters operate in untrusted environments (highly vulnerable)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Blockchain consensus operates as the root of trust for transaction blocks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Requires validator agreement on grid state before executing control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480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smart_grid_tr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4864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1.1: Schematic of Blockchain-Secured P2P Energy Trading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2. The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Core Problem Definition: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Traditional security models assume consensus is instantaneous.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In reality, achieving Byzantine Fault Tolerance (BFT) requires time (Latency = L).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While consensus is pending, the smart grid remains in an unfinalized state.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The Temporal Vulnerability Window: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Latency creates an open window for repeated False Data Injection (FDI) attacks.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If the consensus protocol is too slow, attackers succeed by simply attempting multiple times.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Goal of this Research: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Prove that consensus latency directly governs physical grid security.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Identify the optimal protocol that seals this vulnerability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3. Significance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Physical Grid Destabilization: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FDI attacks on smart meters corrupt local measurements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Undetected corrupted data triggers faulty control actions, causing severe voltage sags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Bridging the Timescale Gap: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Grid transient stability operates in milliseconds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Blockchain consensus traditionally takes seconds or minutes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A secure protocol MUST match the millisecond timescale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480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grid_cyberat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4864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1.2: Threat Vector - FDI Cyberattack on Smart Grid Actuators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4. Literature Review (What)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Baseline Framework: Sheikh et al. (2020):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Proposed securing EV trading on an IEEE 33-Bus system using Lamport's Oral Message OM(m)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Showed blockchain reduces static attack probability to a negligible P_TAb ≈ 10⁻¹⁷³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Critical Literature Gaps Identified: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1. Exponential Overhead: OM(m) has O(n^f) complexity, requiring 10¹⁸ messages at f=16!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2. Unquantified Latency: Consensus duration is mathematically L = 43.35 seconds per block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3. Static Security Oversight: Remains blind to temporal window exposure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4. Lack of Alternative Evaluation: No comparison with modern state-of-the-art BFT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5. Proposed Approach (How)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The Static-Temporal Security Framework (STSF):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Unifies static cryptographic strength and temporal exposure: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  P_secure = (1 - P_TAb) * (1 - P_temporal)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  where P_temporal = 1 - (1 - P_TA)^N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N is the number of attacks allowed by latency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4 Consensus Groups Evaluated: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1. Classical Full-Mesh (CFM-BA) — OM(m), PBFT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2. Committee-Delegated (CDC-C) — IBFT 2.0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3. Hierarchical Clustered (HTC-PBFT) — CE-PBFT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4. Sub-Second Pipelined (SS-PR-BFT) — Tower BFT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480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equ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4864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1.3: Cryptographic STSF Governing Equations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6.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Closed-Form Analytical Modeling Strategy: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Derive exact mathematical formulas for latency, message overhead, and throughput per protocol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Ensures results are directly traceable and free of Monte Carlo variance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Parameterization and Mapping Workflows: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Standardized parameters: n_sen=3854 sensors, n=51 validator nodes, f=16 faults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Topological adjustments: Group 3 limits active comm channels; Group 2 uses sub-committees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Development Stack: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Python 3.11 engine evaluates parameters and generates all visual plots programmatically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480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method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4864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1.4: Analytical Modeling Workflow and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7. Implementation Plan and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Week-wise Activity Schedule &amp; Deliverables: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Week 1: Literature Gap Identification &amp; Vulnerability Discovery (Completed)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Week 2: Analytical Latency &amp; Security Formulation (Completed)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Week 3: Four-Group Evaluation and Script Development (Completed)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Week 4: Defense-in-Depth Cryptographic Integration &amp; Final Synthesis (In Progress)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Key Milestones &amp; Expected Completion: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Modeling Sweeps: June 15 (Completed)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Draft Reports: June 17 (Completed)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Final Defense: June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480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4864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1.5: Project Delivery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8. Progress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Work Completed in Weeks 1, 2, and 3: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1. Verified equations by replicating Sheikh's baseline curves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2. Designed the STSF framework mapping consensus latency to physical vulnerability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3. Developed the python script to run sweeps across 8 algorithms and output figures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Key Achievements and Observations: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Proved latency is the decisive factor: slow block time guarantees temporal grid compromise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Group 4 SS-PR-BFT protocols seal the temporal vulnerability, keeping P_secure &gt;= 0.98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9. Results &amp; Discussion: Comparison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11430000" cy="566928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9875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188720"/>
                <a:gridCol w="731520"/>
                <a:gridCol w="731520"/>
                <a:gridCol w="118872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N_att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P_temporal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P_secure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Msgs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Lamport OM(m)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G1: CFM-BA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43,350 ms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867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0.9870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0.0130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10¹⁸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Classic PBFT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G1: CFM-BA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15,300 ms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306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0.7843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0.2157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7,803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IBFT 2.0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G2: CDC-C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2,500 ms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0.2217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0.7783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1,323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QBFT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G2: CDC-C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1,500 ms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33.3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0.1396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0.8604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675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CE-PBFT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G3: HTC-PBFT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800 ms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62.5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0.0771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0.9229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1,875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G3: HTC-PBFT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650 ms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76.9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0.0631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0.9369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2,700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SV-PBFT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G3: HTC-PBFT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500 ms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0.0489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0.9511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Tower BFT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G4: SS-PR-BFT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243 ms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205.8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0.0199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0.9802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1,275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RVR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G4: SS-PR-BFT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200 ms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250.0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0.0101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0.9899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1,020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10. Results &amp; Discussion: Latency and Security Curves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12064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Consensus Latency (Left Plot):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OM(m) grows exponentially, hitting 43.35s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Tower BFT stays flat sub-250ms due to PoH pipelining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Static-Temporal Security (Right Plot):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CFM-BA (Group 1) collapses to ~0.01 under faults due to 867 attempts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CDC-C (Group 2) and HTC-PBFT (Group 3) achieve intermediate bounds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SS-PR-BFT (Group 4) maintains high P_secure &gt;= 0.98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234439"/>
            <a:ext cx="6126479" cy="4480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rison_temporal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80160"/>
            <a:ext cx="603504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54864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1: P_temporal Decay Curves with Operating 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11. Results &amp; Discussion: Heatmap and Radar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760720" cy="35661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66928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6634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2: Performance Heatmap (Normalized)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868680"/>
            <a:ext cx="5120640" cy="53949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rison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914400"/>
            <a:ext cx="502920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6035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3: Multi-Dimensional Tradeoff Radar Chart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12. Results &amp; Discussion: Key Management Thresholds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12064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Threshold Cryptography Impact: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Baseline assumed constant receiver risk P_R = 0.01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We model Shamir Secret Sharing (k, d)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Probability of compromise uses Binomial CDF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For a (3, 5) setup: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Receiver compromise probability drops to 9.85 x 10⁻⁶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Over 1,000x reduction in validator compromise risk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Reinforces the blockchain static barrier P_Rb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234439"/>
            <a:ext cx="6035040" cy="4754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nalytical_key_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80160"/>
            <a:ext cx="59436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576071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4: Effective P_R vs. Threshold size (k, 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13.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Planned Research Activities: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Complete the draft of the research paper for submission to IEEE Transactions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Perform network sensitivity analysis: sweeping packet loss rate (0% to 20%) and network delay jitter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Model view-change latency overhead under high leader failure scenarios (f &gt; 16)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Pending Milestones: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Integrate hybrid consensus (Hierarchical clustering + Sub-Second finality)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Resolve code performance optimizations for the smart grid simulation tool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Final thesis report submission to VJTI Department of Electrical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14. Summary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Summary of Work Completed: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Derived exact analytical proofs for latency and throughput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Formulated the Static-Temporal Security Framework (STSF) to model latency-induced vulnerability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Proved that Sub-Second protocols (Group 4) maintain P_secure &gt;= 0.98 by limiting attack attempts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Key Deployment Recommendations: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For modern 5G grids: Deploy Group 4 (Tower BFT, RVR) to support 250 TPS with low vulnerability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For legacy SCADA grids: Deploy Group 3 (Hierarchical HTC-PBFT) to achieve P_secure &gt; 0.92 without sub-ms sync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15.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[1] A. Sheikh et al., 'Secured Energy Trading Using Byzantine-Based Blockchain Consensus,' IEEE Access, vol. 8, 2020.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[2] L. Lamport et al., 'The Byzantine Generals Problem,' ACM TOPLAS, vol. 4, no. 3, 1982.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[3] M. Castro and B. Liskov, 'Practical Byzantine Fault Tolerance,' in Proc. OSDI, 1999.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[4] X. Ding et al., 'CE-PBFT: An Optimized PBFT Consensus Algorithm for Microgrid Power Trading,' IEEE Trans. Smart Grid, 2024.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[5] Z. Xu et al., 'G-PBFT Algorithm and its Application in Distributed Energy Trading,' Applied Energy, 2025.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[6] Y. Suo et al., 'SV-PBFT: An Efficient and Stable Blockchain PBFT Improved Consensus Algorithm for Vehicle-to-Vehicle Energy Transactions,' IEEE IoT Journal, 2025.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[7] A. Yakovenko, 'Solana: A new architecture for a high performance blockchain,' Solana Whitepaper, 2018.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[8] H. Wang et al., 'RVR Consensus: A Verifiable, Weighted-Random, Byzantine-Tolerant Smart Grid Framework,' IEEE TPDS,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