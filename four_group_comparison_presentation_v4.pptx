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our presentation on resolving the temporal vulnerability window in Byzantine-secured smart grid energy trading.</a:t>
            </a:r>
          </a:p>
          <a:p>
            <a:r>
              <a:t>This project evaluates how different Byzantine Fault Tolerant consensus algorithms affect the physical security of peer-to-peer energy markets. We introduce the Static-Temporal Security Framework (STSF) to model both cryptographic strength and latency-induced vulnerabilities.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begin with WHY we need this project. In modern microgrids, peer-to-peer energy trading is essential to integrate EVs. However, smart meters are deployed at customer premises and are highly vulnerable to tampering. A blockchain consensus layer acts as the root of trust by requiring validator agreement on valid transactions before executing any grid action. Figure 1.1 provides a visual representation of how electric vehicles communicate bid transactions to the distribution network.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Framing the exact Problem Statement: Blockchain is secure, but it is not instantaneous. This latency creates a temporal vulnerability window. While consensus is pending, attackers can launch repeated FDI attacks against the grid. The core problem we address is: how do we quantify this temporal vulnerability, and which consensus protocol successfully seals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is this problem highly significant? Because False Data Injections don't just corrupt digital records—they can destabilize physical transformers. Grid transient stability operates in milliseconds. If our consensus protocol takes seconds, it is entirely inadequate for smart grid protection. Figure 1.2 illustrates this threat vector, showing how an open window allows cyberattacks to bypass the blockchain.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WHAT is currently done. The baseline paper by Sheikh et al. used Lamport's Oral Message protocol. It derived an excellent static security probability. However, we identified massive gaps: OM(m) requires O(n^f) messages. At n=51 and f=16, it takes 43.35 seconds per block! This huge latency leaves the grid entirely exposed to the temporal vulnerability we just framed.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solve this? We propose evaluating the grid using our new Static-Temporal Security Framework (STSF). STSF directly penalizes slow protocols. We apply this framework across 8 algorithms classified into 4 distinct research groups, ranging from Classical Full-Mesh to Sub-Second Pipelined protocols. Figure 1.3 visualizes the decentralized node layout used in our comparative simulation.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implement this? We construct closed-form equations for latency and throughput. Instead of simple Monte Carlo runs, our model provides analytical proofs. We map topologies accurately: Group 3 uses cluster-local link counts, and Group 2 uses smaller delegated validator pools. A Python engine was created to execute these sweeps.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timeline is organized as a 4-week research schedule. We completed literature review and vulnerability identification in Week 1, developed the core latency proofs in Week 2, and implemented the comparison engine and figures in Week 3. We are currently finalizing the defense-in-depth model in Week 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terms of updates, we have successfully developed the STSF, built the Python scripts, and exported all figures. Our main challenge was comparing very different network typologies. We mitigated this by modeling cluster-local link parameters to reflect localized consensus overhead fairly.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main numerical results. Note the monotonic improvement as we move down. Classical CFM-BA has 43 seconds latency and 1.2 TPS, yielding P_secure of only 0.013. Hierarchical HTC-PBFT improves this to 92-95% by clustering validation. Finally, next-gen SS-PR-BFT (Tower BFT and RVR) hits 200+ TPS and sub-250ms latency, achieving our target P_secure &gt;= 0.98.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visualizes the temporal vulnerability decay curves. The curve shows how security probability decays as a function of consensus latency. The circles represent the actual operating points of our 8 algorithms under standard grid parameters. Sub-second protocols remain safely on the far left, sealing the attack window.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provide a multi-dimensional perspective, we present a performance heatmap and a radar chart. The heatmap normalizes and colors the scores, where green is best. The radar chart maps five axes: security, throughput, inverse latency, message efficiency, and leader privacy. Sub-second protocols cover the largest area, showing complete dominance.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also analyzed key management. If a single validator key is stolen, the node is compromised. By applying Shamir Secret Sharing with a (3,5) threshold on EV nodes, the attacker must compromise 3 key shares instead of 1. This reduces the compromise probability from 0.01 to 9.85 x 10^-6, which propagates and reinforces the blockchain boundary.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are our next steps? We are on track to compile the final thesis. We plan to write a full paper for IEEE Transactions. Research-wise, we will investigate the sensitivity of these models to network packet loss and jitter, and explore hybrid consensus mechanisms.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we have resolved the temporal vulnerability window by comparing 8 BFT consensus algorithms. Consensus latency is the critical parameter governing physical grid security. We recommend deploying Group 4 protocols for modern 5G networks, and Group 3 clustered consensus for legacy networks.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list of core references from the literature. These form the baseline and comparison algorithms we evaluated. Thank you for your attention, and I am now open to any questions or suggestions from the mentors.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8.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1188720"/>
            <a:ext cx="10332720" cy="1828800"/>
          </a:xfrm>
          <a:prstGeom prst="rect">
            <a:avLst/>
          </a:prstGeom>
          <a:noFill/>
        </p:spPr>
        <p:txBody>
          <a:bodyPr wrap="square" lIns="45720" rIns="45720">
            <a:spAutoFit/>
          </a:bodyPr>
          <a:lstStyle/>
          <a:p>
            <a:pPr algn="l">
              <a:defRPr sz="3200" b="1">
                <a:solidFill>
                  <a:srgbClr val="0F172A"/>
                </a:solidFill>
                <a:latin typeface="Outfit"/>
              </a:defRPr>
            </a:pPr>
            <a:r>
              <a:t>Resolving the Temporal Vulnerability Window in</a:t>
            </a:r>
            <a:br/>
            <a:r>
              <a:t>Byzantine-Secured Smart Grid Energy Trading</a:t>
            </a:r>
          </a:p>
        </p:txBody>
      </p:sp>
      <p:sp>
        <p:nvSpPr>
          <p:cNvPr id="4" name="Rectangle 3"/>
          <p:cNvSpPr/>
          <p:nvPr/>
        </p:nvSpPr>
        <p:spPr>
          <a:xfrm>
            <a:off x="914400" y="3108960"/>
            <a:ext cx="32004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383280"/>
            <a:ext cx="10332720" cy="548640"/>
          </a:xfrm>
          <a:prstGeom prst="rect">
            <a:avLst/>
          </a:prstGeom>
          <a:noFill/>
        </p:spPr>
        <p:txBody>
          <a:bodyPr wrap="square" lIns="45720" rIns="45720">
            <a:spAutoFit/>
          </a:bodyPr>
          <a:lstStyle/>
          <a:p>
            <a:pPr algn="l">
              <a:defRPr sz="1800" b="0">
                <a:solidFill>
                  <a:srgbClr val="0D9488"/>
                </a:solidFill>
                <a:latin typeface="Outfit"/>
              </a:defRPr>
            </a:pPr>
            <a:r>
              <a:t>A Four-Group Evaluation Using the Static-Temporal Security Framework (STSF)</a:t>
            </a:r>
          </a:p>
        </p:txBody>
      </p:sp>
      <p:sp>
        <p:nvSpPr>
          <p:cNvPr id="6" name="TextBox 5"/>
          <p:cNvSpPr txBox="1"/>
          <p:nvPr/>
        </p:nvSpPr>
        <p:spPr>
          <a:xfrm>
            <a:off x="914400" y="4206240"/>
            <a:ext cx="10332720" cy="1645920"/>
          </a:xfrm>
          <a:prstGeom prst="rect">
            <a:avLst/>
          </a:prstGeom>
          <a:noFill/>
        </p:spPr>
        <p:txBody>
          <a:bodyPr wrap="square" lIns="45720" rIns="45720">
            <a:spAutoFit/>
          </a:bodyPr>
          <a:lstStyle/>
          <a:p>
            <a:pPr algn="l">
              <a:defRPr sz="1400" b="0">
                <a:solidFill>
                  <a:srgbClr val="334155"/>
                </a:solidFill>
                <a:latin typeface="Outfit"/>
              </a:defRPr>
            </a:pPr>
            <a:r>
              <a:t>Presenter: VJTI Research Student</a:t>
            </a:r>
            <a:br/>
            <a:r>
              <a:t>Guide / Mentor: Department Research Guide</a:t>
            </a:r>
            <a:br/>
            <a:r>
              <a:t>Organization / Institution: Veermata Jijabai Technological Institute (VJTI) Mumbai</a:t>
            </a:r>
            <a:br/>
            <a:r>
              <a:t>Date: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1. Background and Context (Why)</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5303520" cy="4754880"/>
          </a:xfrm>
          <a:prstGeom prst="rect">
            <a:avLst/>
          </a:prstGeom>
          <a:noFill/>
        </p:spPr>
        <p:txBody>
          <a:bodyPr wrap="square" lIns="45720" rIns="45720">
            <a:spAutoFit/>
          </a:bodyPr>
          <a:lstStyle/>
          <a:p>
            <a:pPr>
              <a:defRPr sz="1400" b="1">
                <a:solidFill>
                  <a:srgbClr val="0F172A"/>
                </a:solidFill>
                <a:latin typeface="Inter"/>
              </a:defRPr>
            </a:pPr>
            <a:r>
              <a:t>P2P Energy Markets in the Smart Grid:</a:t>
            </a:r>
          </a:p>
          <a:p>
            <a:pPr lvl="1">
              <a:defRPr sz="1300">
                <a:solidFill>
                  <a:srgbClr val="334155"/>
                </a:solidFill>
                <a:latin typeface="Inter"/>
              </a:defRPr>
            </a:pPr>
            <a:r>
              <a:t>Peer-to-peer trading enables dynamic bidding between Electric Vehicles (EVs) and Distribution Networks (DNs)</a:t>
            </a:r>
          </a:p>
          <a:p>
            <a:pPr lvl="1">
              <a:defRPr sz="1300">
                <a:solidFill>
                  <a:srgbClr val="334155"/>
                </a:solidFill>
                <a:latin typeface="Inter"/>
              </a:defRPr>
            </a:pPr>
            <a:r>
              <a:t>We model the physical system using the standard IEEE 33-Bus distribution network topology</a:t>
            </a:r>
          </a:p>
          <a:p>
            <a:pPr>
              <a:defRPr sz="1400" b="1">
                <a:solidFill>
                  <a:srgbClr val="0F172A"/>
                </a:solidFill>
                <a:latin typeface="Inter"/>
              </a:defRPr>
            </a:pPr>
            <a:r>
              <a:t>The Need for Distributed Verification:</a:t>
            </a:r>
          </a:p>
          <a:p>
            <a:pPr lvl="1">
              <a:defRPr sz="1300">
                <a:solidFill>
                  <a:srgbClr val="334155"/>
                </a:solidFill>
                <a:latin typeface="Inter"/>
              </a:defRPr>
            </a:pPr>
            <a:r>
              <a:t>Smart meters operate in untrusted environments and are highly vulnerable to physical and cyber tampering</a:t>
            </a:r>
          </a:p>
          <a:p>
            <a:pPr lvl="1">
              <a:defRPr sz="1300">
                <a:solidFill>
                  <a:srgbClr val="334155"/>
                </a:solidFill>
                <a:latin typeface="Inter"/>
              </a:defRPr>
            </a:pPr>
            <a:r>
              <a:t>Blockchain consensus operates as the root of trust, verifying and appending transaction blocks</a:t>
            </a:r>
          </a:p>
          <a:p>
            <a:pPr lvl="1">
              <a:defRPr sz="1300">
                <a:solidFill>
                  <a:srgbClr val="334155"/>
                </a:solidFill>
                <a:latin typeface="Inter"/>
              </a:defRPr>
            </a:pPr>
            <a:r>
              <a:t>Consensus aligns all validators on the grid state before executing control actions, tolerating up to f faulty nodes</a:t>
            </a:r>
          </a:p>
        </p:txBody>
      </p:sp>
      <p:pic>
        <p:nvPicPr>
          <p:cNvPr id="6" name="Picture 5" descr="visual_smart_grid_trading.png"/>
          <p:cNvPicPr>
            <a:picLocks noChangeAspect="1"/>
          </p:cNvPicPr>
          <p:nvPr/>
        </p:nvPicPr>
        <p:blipFill>
          <a:blip r:embed="rId3"/>
          <a:stretch>
            <a:fillRect/>
          </a:stretch>
        </p:blipFill>
        <p:spPr>
          <a:xfrm>
            <a:off x="5943600" y="1188720"/>
            <a:ext cx="5760720" cy="4114800"/>
          </a:xfrm>
          <a:prstGeom prst="rect">
            <a:avLst/>
          </a:prstGeom>
        </p:spPr>
      </p:pic>
      <p:sp>
        <p:nvSpPr>
          <p:cNvPr id="7" name="TextBox 6"/>
          <p:cNvSpPr txBox="1"/>
          <p:nvPr/>
        </p:nvSpPr>
        <p:spPr>
          <a:xfrm>
            <a:off x="5943600" y="5394959"/>
            <a:ext cx="5760720" cy="274320"/>
          </a:xfrm>
          <a:prstGeom prst="rect">
            <a:avLst/>
          </a:prstGeom>
          <a:noFill/>
        </p:spPr>
        <p:txBody>
          <a:bodyPr wrap="square" lIns="45720" rIns="45720">
            <a:spAutoFit/>
          </a:bodyPr>
          <a:lstStyle/>
          <a:p>
            <a:pPr algn="ctr">
              <a:defRPr sz="1000" b="0">
                <a:solidFill>
                  <a:srgbClr val="334155"/>
                </a:solidFill>
                <a:latin typeface="Outfit"/>
              </a:defRPr>
            </a:pPr>
            <a:r>
              <a:t>Figure 1.1: Schematic of Blockchain-Secured P2P V2G Energy Trading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2. The Problem Statement</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4754880"/>
          </a:xfrm>
          <a:prstGeom prst="rect">
            <a:avLst/>
          </a:prstGeom>
          <a:noFill/>
        </p:spPr>
        <p:txBody>
          <a:bodyPr wrap="square" lIns="45720" rIns="45720">
            <a:spAutoFit/>
          </a:bodyPr>
          <a:lstStyle/>
          <a:p>
            <a:pPr>
              <a:defRPr sz="1600" b="1">
                <a:solidFill>
                  <a:srgbClr val="0F172A"/>
                </a:solidFill>
                <a:latin typeface="Inter"/>
              </a:defRPr>
            </a:pPr>
            <a:r>
              <a:t>Core Problem Definition:</a:t>
            </a:r>
          </a:p>
          <a:p>
            <a:pPr lvl="1">
              <a:defRPr sz="1500">
                <a:solidFill>
                  <a:srgbClr val="334155"/>
                </a:solidFill>
                <a:latin typeface="Inter"/>
              </a:defRPr>
            </a:pPr>
            <a:r>
              <a:t>Traditional blockchain security models assume that consensus is instantaneous.</a:t>
            </a:r>
          </a:p>
          <a:p>
            <a:pPr lvl="1">
              <a:defRPr sz="1500">
                <a:solidFill>
                  <a:srgbClr val="334155"/>
                </a:solidFill>
                <a:latin typeface="Inter"/>
              </a:defRPr>
            </a:pPr>
            <a:r>
              <a:t>In reality, achieving Byzantine Fault Tolerance (BFT) requires time (Latency = L).</a:t>
            </a:r>
          </a:p>
          <a:p>
            <a:pPr lvl="1">
              <a:defRPr sz="1500">
                <a:solidFill>
                  <a:srgbClr val="334155"/>
                </a:solidFill>
                <a:latin typeface="Inter"/>
              </a:defRPr>
            </a:pPr>
            <a:r>
              <a:t>While consensus is pending, the smart grid remains in an unfinalized state.</a:t>
            </a:r>
          </a:p>
          <a:p>
            <a:pPr>
              <a:defRPr sz="1600" b="1">
                <a:solidFill>
                  <a:srgbClr val="0F172A"/>
                </a:solidFill>
                <a:latin typeface="Inter"/>
              </a:defRPr>
            </a:pPr>
            <a:r>
              <a:t>The Temporal Vulnerability Window:</a:t>
            </a:r>
          </a:p>
          <a:p>
            <a:pPr lvl="1">
              <a:defRPr sz="1500">
                <a:solidFill>
                  <a:srgbClr val="334155"/>
                </a:solidFill>
                <a:latin typeface="Inter"/>
              </a:defRPr>
            </a:pPr>
            <a:r>
              <a:t>This latency creates an open window during which malicious nodes can launch repeated False Data Injection (FDI) attacks.</a:t>
            </a:r>
          </a:p>
          <a:p>
            <a:pPr lvl="1">
              <a:defRPr sz="1500">
                <a:solidFill>
                  <a:srgbClr val="334155"/>
                </a:solidFill>
                <a:latin typeface="Inter"/>
              </a:defRPr>
            </a:pPr>
            <a:r>
              <a:t>If the consensus protocol is too slow, the attacker will succeed simply by attempting multiple times before the block is sealed.</a:t>
            </a:r>
          </a:p>
          <a:p>
            <a:pPr>
              <a:defRPr sz="1600" b="1">
                <a:solidFill>
                  <a:srgbClr val="0F172A"/>
                </a:solidFill>
                <a:latin typeface="Inter"/>
              </a:defRPr>
            </a:pPr>
            <a:r>
              <a:t>Goal of this Research:</a:t>
            </a:r>
          </a:p>
          <a:p>
            <a:pPr lvl="1">
              <a:defRPr sz="1500">
                <a:solidFill>
                  <a:srgbClr val="334155"/>
                </a:solidFill>
                <a:latin typeface="Inter"/>
              </a:defRPr>
            </a:pPr>
            <a:r>
              <a:t>To prove that consensus latency directly governs physical grid security, and to find the optimal protocol that seals this vulnerability window.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3. Significance of the Problem</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5303520" cy="4754880"/>
          </a:xfrm>
          <a:prstGeom prst="rect">
            <a:avLst/>
          </a:prstGeom>
          <a:noFill/>
        </p:spPr>
        <p:txBody>
          <a:bodyPr wrap="square" lIns="45720" rIns="45720">
            <a:spAutoFit/>
          </a:bodyPr>
          <a:lstStyle/>
          <a:p>
            <a:pPr>
              <a:defRPr sz="1500" b="1">
                <a:solidFill>
                  <a:srgbClr val="0F172A"/>
                </a:solidFill>
                <a:latin typeface="Inter"/>
              </a:defRPr>
            </a:pPr>
            <a:r>
              <a:t>Physical Grid Destabilization:</a:t>
            </a:r>
          </a:p>
          <a:p>
            <a:pPr lvl="1">
              <a:defRPr sz="1400">
                <a:solidFill>
                  <a:srgbClr val="334155"/>
                </a:solidFill>
                <a:latin typeface="Inter"/>
              </a:defRPr>
            </a:pPr>
            <a:r>
              <a:t>False Data Injection (FDI) attacks on smart meters can corrupt local battery measurements</a:t>
            </a:r>
          </a:p>
          <a:p>
            <a:pPr lvl="1">
              <a:defRPr sz="1400">
                <a:solidFill>
                  <a:srgbClr val="334155"/>
                </a:solidFill>
                <a:latin typeface="Inter"/>
              </a:defRPr>
            </a:pPr>
            <a:r>
              <a:t>If corrupted data goes undetected, it triggers faulty grid control actions, destabilizing the physical network (e.g., voltage sags)</a:t>
            </a:r>
          </a:p>
          <a:p>
            <a:pPr>
              <a:defRPr sz="1500" b="1">
                <a:solidFill>
                  <a:srgbClr val="0F172A"/>
                </a:solidFill>
                <a:latin typeface="Inter"/>
              </a:defRPr>
            </a:pPr>
            <a:r>
              <a:t>Bridging the Timescale Gap:</a:t>
            </a:r>
          </a:p>
          <a:p>
            <a:pPr lvl="1">
              <a:defRPr sz="1400">
                <a:solidFill>
                  <a:srgbClr val="334155"/>
                </a:solidFill>
                <a:latin typeface="Inter"/>
              </a:defRPr>
            </a:pPr>
            <a:r>
              <a:t>Grid transient stability operates in milliseconds, but blockchain consensus traditionally takes seconds or minutes</a:t>
            </a:r>
          </a:p>
          <a:p>
            <a:pPr lvl="1">
              <a:defRPr sz="1400">
                <a:solidFill>
                  <a:srgbClr val="334155"/>
                </a:solidFill>
                <a:latin typeface="Inter"/>
              </a:defRPr>
            </a:pPr>
            <a:r>
              <a:t>A secure consensus protocol must match the millisecond timescale to prevent successful successive attacks</a:t>
            </a:r>
          </a:p>
        </p:txBody>
      </p:sp>
      <p:pic>
        <p:nvPicPr>
          <p:cNvPr id="6" name="Picture 5" descr="visual_grid_cyberattack.png"/>
          <p:cNvPicPr>
            <a:picLocks noChangeAspect="1"/>
          </p:cNvPicPr>
          <p:nvPr/>
        </p:nvPicPr>
        <p:blipFill>
          <a:blip r:embed="rId3"/>
          <a:stretch>
            <a:fillRect/>
          </a:stretch>
        </p:blipFill>
        <p:spPr>
          <a:xfrm>
            <a:off x="5943600" y="1188720"/>
            <a:ext cx="5760720" cy="4114800"/>
          </a:xfrm>
          <a:prstGeom prst="rect">
            <a:avLst/>
          </a:prstGeom>
        </p:spPr>
      </p:pic>
      <p:sp>
        <p:nvSpPr>
          <p:cNvPr id="7" name="TextBox 6"/>
          <p:cNvSpPr txBox="1"/>
          <p:nvPr/>
        </p:nvSpPr>
        <p:spPr>
          <a:xfrm>
            <a:off x="5943600" y="5394959"/>
            <a:ext cx="5760720" cy="274320"/>
          </a:xfrm>
          <a:prstGeom prst="rect">
            <a:avLst/>
          </a:prstGeom>
          <a:noFill/>
        </p:spPr>
        <p:txBody>
          <a:bodyPr wrap="square" lIns="45720" rIns="45720">
            <a:spAutoFit/>
          </a:bodyPr>
          <a:lstStyle/>
          <a:p>
            <a:pPr algn="ctr">
              <a:defRPr sz="1000" b="0">
                <a:solidFill>
                  <a:srgbClr val="334155"/>
                </a:solidFill>
                <a:latin typeface="Outfit"/>
              </a:defRPr>
            </a:pPr>
            <a:r>
              <a:t>Figure 1.2: Threat Vector - FDI Cyberattack on Smart Grid Actuators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4. Literature Review (What)</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4754880"/>
          </a:xfrm>
          <a:prstGeom prst="rect">
            <a:avLst/>
          </a:prstGeom>
          <a:noFill/>
        </p:spPr>
        <p:txBody>
          <a:bodyPr wrap="square" lIns="45720" rIns="45720">
            <a:spAutoFit/>
          </a:bodyPr>
          <a:lstStyle/>
          <a:p>
            <a:pPr>
              <a:defRPr sz="1500" b="1">
                <a:solidFill>
                  <a:srgbClr val="0F172A"/>
                </a:solidFill>
                <a:latin typeface="Inter"/>
              </a:defRPr>
            </a:pPr>
            <a:r>
              <a:t>Baseline Framework: Sheikh et al. (2020):</a:t>
            </a:r>
          </a:p>
          <a:p>
            <a:pPr lvl="1">
              <a:defRPr sz="1400">
                <a:solidFill>
                  <a:srgbClr val="334155"/>
                </a:solidFill>
                <a:latin typeface="Inter"/>
              </a:defRPr>
            </a:pPr>
            <a:r>
              <a:t>Proposed securing EV trading on an IEEE 33-Bus system using Lamport's Oral Message OM(m) consensus</a:t>
            </a:r>
          </a:p>
          <a:p>
            <a:pPr lvl="1">
              <a:defRPr sz="1400">
                <a:solidFill>
                  <a:srgbClr val="334155"/>
                </a:solidFill>
                <a:latin typeface="Inter"/>
              </a:defRPr>
            </a:pPr>
            <a:r>
              <a:t>Showed blockchain reduces static attack probability from P_TA to a negligible P_TAb ≈ 10⁻¹⁷³</a:t>
            </a:r>
          </a:p>
          <a:p>
            <a:pPr>
              <a:defRPr sz="1500" b="1">
                <a:solidFill>
                  <a:srgbClr val="0F172A"/>
                </a:solidFill>
                <a:latin typeface="Inter"/>
              </a:defRPr>
            </a:pPr>
            <a:r>
              <a:t>Critical Literature Gaps Identified:</a:t>
            </a:r>
          </a:p>
          <a:p>
            <a:pPr lvl="1">
              <a:defRPr sz="1400">
                <a:solidFill>
                  <a:srgbClr val="334155"/>
                </a:solidFill>
                <a:latin typeface="Inter"/>
              </a:defRPr>
            </a:pPr>
            <a:r>
              <a:t>1. Exponential Message Overhead: OM(m) has O(n^f) complexity, requiring 10¹⁸ messages at f=16!</a:t>
            </a:r>
          </a:p>
          <a:p>
            <a:pPr lvl="1">
              <a:defRPr sz="1400">
                <a:solidFill>
                  <a:srgbClr val="334155"/>
                </a:solidFill>
                <a:latin typeface="Inter"/>
              </a:defRPr>
            </a:pPr>
            <a:r>
              <a:t>2. Unquantified Latency: Consensus duration is ignored, but mathematically resolves to L = 43.35 seconds per block</a:t>
            </a:r>
          </a:p>
          <a:p>
            <a:pPr lvl="1">
              <a:defRPr sz="1400">
                <a:solidFill>
                  <a:srgbClr val="334155"/>
                </a:solidFill>
                <a:latin typeface="Inter"/>
              </a:defRPr>
            </a:pPr>
            <a:r>
              <a:t>3. Static Security Oversight: Proves perfect static security but remains blind to temporal window exposure</a:t>
            </a:r>
          </a:p>
          <a:p>
            <a:pPr lvl="1">
              <a:defRPr sz="1400">
                <a:solidFill>
                  <a:srgbClr val="334155"/>
                </a:solidFill>
                <a:latin typeface="Inter"/>
              </a:defRPr>
            </a:pPr>
            <a:r>
              <a:t>4. Lack of Alternative Evaluation: No comparison with modern state-of-the-art BFT consensus models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5. Proposed Approach (How)</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5303520" cy="4754880"/>
          </a:xfrm>
          <a:prstGeom prst="rect">
            <a:avLst/>
          </a:prstGeom>
          <a:noFill/>
        </p:spPr>
        <p:txBody>
          <a:bodyPr wrap="square" lIns="45720" rIns="45720">
            <a:spAutoFit/>
          </a:bodyPr>
          <a:lstStyle/>
          <a:p>
            <a:pPr>
              <a:defRPr sz="1300" b="1">
                <a:solidFill>
                  <a:srgbClr val="0F172A"/>
                </a:solidFill>
                <a:latin typeface="Inter"/>
              </a:defRPr>
            </a:pPr>
            <a:r>
              <a:t>The Static-Temporal Security Framework (STSF):</a:t>
            </a:r>
          </a:p>
          <a:p>
            <a:pPr lvl="1">
              <a:defRPr sz="1200">
                <a:solidFill>
                  <a:srgbClr val="334155"/>
                </a:solidFill>
                <a:latin typeface="Inter"/>
              </a:defRPr>
            </a:pPr>
            <a:r>
              <a:t>We propose a new framework that unifies static cryptographic strength and temporal exposure:</a:t>
            </a:r>
          </a:p>
          <a:p>
            <a:pPr lvl="1">
              <a:defRPr sz="1200">
                <a:solidFill>
                  <a:srgbClr val="334155"/>
                </a:solidFill>
                <a:latin typeface="Inter"/>
              </a:defRPr>
            </a:pPr>
            <a:r>
              <a:t>  P_secure = (1 - P_TAb) * (1 - P_temporal)   where  P_temporal = 1 - (1 - P_TA)^N</a:t>
            </a:r>
          </a:p>
          <a:p>
            <a:pPr lvl="1">
              <a:defRPr sz="1200">
                <a:solidFill>
                  <a:srgbClr val="334155"/>
                </a:solidFill>
                <a:latin typeface="Inter"/>
              </a:defRPr>
            </a:pPr>
            <a:r>
              <a:t>  where N = ⌊ L_consensus / τ_attack ⌋ is the number of attack attempts allowed by consensus latency</a:t>
            </a:r>
          </a:p>
          <a:p>
            <a:pPr>
              <a:defRPr sz="1300" b="1">
                <a:solidFill>
                  <a:srgbClr val="0F172A"/>
                </a:solidFill>
                <a:latin typeface="Inter"/>
              </a:defRPr>
            </a:pPr>
            <a:r>
              <a:t>Formal Consensus Classifications (4 Groups Evaluated):</a:t>
            </a:r>
          </a:p>
          <a:p>
            <a:pPr lvl="1">
              <a:defRPr sz="1200">
                <a:solidFill>
                  <a:srgbClr val="334155"/>
                </a:solidFill>
                <a:latin typeface="Inter"/>
              </a:defRPr>
            </a:pPr>
            <a:r>
              <a:t>1. Classical Full-Mesh Byzantine Agreement (CFM-BA) — OM(m), Classic PBFT</a:t>
            </a:r>
          </a:p>
          <a:p>
            <a:pPr lvl="1">
              <a:defRPr sz="1200">
                <a:solidFill>
                  <a:srgbClr val="334155"/>
                </a:solidFill>
                <a:latin typeface="Inter"/>
              </a:defRPr>
            </a:pPr>
            <a:r>
              <a:t>2. Committee-Delegated Consortium Consensus (CDC-C) — IBFT 2.0, QBFT</a:t>
            </a:r>
          </a:p>
          <a:p>
            <a:pPr lvl="1">
              <a:defRPr sz="1200">
                <a:solidFill>
                  <a:srgbClr val="334155"/>
                </a:solidFill>
                <a:latin typeface="Inter"/>
              </a:defRPr>
            </a:pPr>
            <a:r>
              <a:t>3. Hierarchical Topologically-Clustered PBFT (HTC-PBFT) — CE-PBFT, G-PBFT, SV-PBFT</a:t>
            </a:r>
          </a:p>
          <a:p>
            <a:pPr lvl="1">
              <a:defRPr sz="1200">
                <a:solidFill>
                  <a:srgbClr val="334155"/>
                </a:solidFill>
                <a:latin typeface="Inter"/>
              </a:defRPr>
            </a:pPr>
            <a:r>
              <a:t>4. Sub-Second Pipelined &amp; Randomized BFT (SS-PR-BFT) — Tower BFT, RVR Consensus</a:t>
            </a:r>
          </a:p>
        </p:txBody>
      </p:sp>
      <p:pic>
        <p:nvPicPr>
          <p:cNvPr id="6" name="Picture 5" descr="visual_blockchain_nodes.png"/>
          <p:cNvPicPr>
            <a:picLocks noChangeAspect="1"/>
          </p:cNvPicPr>
          <p:nvPr/>
        </p:nvPicPr>
        <p:blipFill>
          <a:blip r:embed="rId3"/>
          <a:stretch>
            <a:fillRect/>
          </a:stretch>
        </p:blipFill>
        <p:spPr>
          <a:xfrm>
            <a:off x="5943600" y="1188720"/>
            <a:ext cx="5760720" cy="4114800"/>
          </a:xfrm>
          <a:prstGeom prst="rect">
            <a:avLst/>
          </a:prstGeom>
        </p:spPr>
      </p:pic>
      <p:sp>
        <p:nvSpPr>
          <p:cNvPr id="7" name="TextBox 6"/>
          <p:cNvSpPr txBox="1"/>
          <p:nvPr/>
        </p:nvSpPr>
        <p:spPr>
          <a:xfrm>
            <a:off x="5943600" y="5394959"/>
            <a:ext cx="5760720" cy="274320"/>
          </a:xfrm>
          <a:prstGeom prst="rect">
            <a:avLst/>
          </a:prstGeom>
          <a:noFill/>
        </p:spPr>
        <p:txBody>
          <a:bodyPr wrap="square" lIns="45720" rIns="45720">
            <a:spAutoFit/>
          </a:bodyPr>
          <a:lstStyle/>
          <a:p>
            <a:pPr algn="ctr">
              <a:defRPr sz="1000" b="0">
                <a:solidFill>
                  <a:srgbClr val="334155"/>
                </a:solidFill>
                <a:latin typeface="Outfit"/>
              </a:defRPr>
            </a:pPr>
            <a:r>
              <a:t>Figure 1.3: Distributed Blockchain Consensus Node Network Topology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6. Methodology</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4754880"/>
          </a:xfrm>
          <a:prstGeom prst="rect">
            <a:avLst/>
          </a:prstGeom>
          <a:noFill/>
        </p:spPr>
        <p:txBody>
          <a:bodyPr wrap="square" lIns="45720" rIns="45720">
            <a:spAutoFit/>
          </a:bodyPr>
          <a:lstStyle/>
          <a:p>
            <a:pPr>
              <a:defRPr sz="1500" b="1">
                <a:solidFill>
                  <a:srgbClr val="0F172A"/>
                </a:solidFill>
                <a:latin typeface="Inter"/>
              </a:defRPr>
            </a:pPr>
            <a:r>
              <a:t>Closed-Form Analytical Modeling Strategy:</a:t>
            </a:r>
          </a:p>
          <a:p>
            <a:pPr lvl="1">
              <a:defRPr sz="1400">
                <a:solidFill>
                  <a:srgbClr val="334155"/>
                </a:solidFill>
                <a:latin typeface="Inter"/>
              </a:defRPr>
            </a:pPr>
            <a:r>
              <a:t>Derive exact mathematical formulas for latency, message overhead, and throughput per protocol</a:t>
            </a:r>
          </a:p>
          <a:p>
            <a:pPr lvl="1">
              <a:defRPr sz="1400">
                <a:solidFill>
                  <a:srgbClr val="334155"/>
                </a:solidFill>
                <a:latin typeface="Inter"/>
              </a:defRPr>
            </a:pPr>
            <a:r>
              <a:t>Ensures results are directly traceable and free of Monte Carlo variance</a:t>
            </a:r>
          </a:p>
          <a:p>
            <a:pPr lvl="1">
              <a:defRPr sz="1400">
                <a:solidFill>
                  <a:srgbClr val="334155"/>
                </a:solidFill>
                <a:latin typeface="Inter"/>
              </a:defRPr>
            </a:pPr>
            <a:r>
              <a:t>Tower BFT Latency Model: L_TBFT = L_base + L_attack + f*(alpha*tau) + (f/n)*L_vc</a:t>
            </a:r>
          </a:p>
          <a:p>
            <a:pPr>
              <a:defRPr sz="1500" b="1">
                <a:solidFill>
                  <a:srgbClr val="0F172A"/>
                </a:solidFill>
                <a:latin typeface="Inter"/>
              </a:defRPr>
            </a:pPr>
            <a:r>
              <a:t>Parameterization and Mapping Workflows:</a:t>
            </a:r>
          </a:p>
          <a:p>
            <a:pPr lvl="1">
              <a:defRPr sz="1400">
                <a:solidFill>
                  <a:srgbClr val="334155"/>
                </a:solidFill>
                <a:latin typeface="Inter"/>
              </a:defRPr>
            </a:pPr>
            <a:r>
              <a:t>Standardized parameters across all groups: n_sen=3854 sensors, n=51 validator nodes, f=16 faults</a:t>
            </a:r>
          </a:p>
          <a:p>
            <a:pPr lvl="1">
              <a:defRPr sz="1400">
                <a:solidFill>
                  <a:srgbClr val="334155"/>
                </a:solidFill>
                <a:latin typeface="Inter"/>
              </a:defRPr>
            </a:pPr>
            <a:r>
              <a:t>Topological adjustments: Group 3 limits active comm channels: k_1,cluster = c*(c-1)/2</a:t>
            </a:r>
          </a:p>
          <a:p>
            <a:pPr lvl="1">
              <a:defRPr sz="1400">
                <a:solidFill>
                  <a:srgbClr val="334155"/>
                </a:solidFill>
                <a:latin typeface="Inter"/>
              </a:defRPr>
            </a:pPr>
            <a:r>
              <a:t>Consortium adjustments: Group 2 limits validators to N_val &lt;= 21 to represent sub-committees</a:t>
            </a:r>
          </a:p>
          <a:p>
            <a:pPr>
              <a:defRPr sz="1500" b="1">
                <a:solidFill>
                  <a:srgbClr val="0F172A"/>
                </a:solidFill>
                <a:latin typeface="Inter"/>
              </a:defRPr>
            </a:pPr>
            <a:r>
              <a:t>Development Stack:</a:t>
            </a:r>
          </a:p>
          <a:p>
            <a:pPr lvl="1">
              <a:defRPr sz="1400">
                <a:solidFill>
                  <a:srgbClr val="334155"/>
                </a:solidFill>
                <a:latin typeface="Inter"/>
              </a:defRPr>
            </a:pPr>
            <a:r>
              <a:t>Python 3.11 engine ('four_group_comparison.py') evaluates parameters and generates visual plots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7. Implementation Plan and Timeline</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4754880"/>
          </a:xfrm>
          <a:prstGeom prst="rect">
            <a:avLst/>
          </a:prstGeom>
          <a:noFill/>
        </p:spPr>
        <p:txBody>
          <a:bodyPr wrap="square" lIns="45720" rIns="45720">
            <a:spAutoFit/>
          </a:bodyPr>
          <a:lstStyle/>
          <a:p>
            <a:pPr>
              <a:defRPr sz="1500" b="1">
                <a:solidFill>
                  <a:srgbClr val="0F172A"/>
                </a:solidFill>
                <a:latin typeface="Inter"/>
              </a:defRPr>
            </a:pPr>
            <a:r>
              <a:t>Week-wise Activity Schedule &amp; Deliverables:</a:t>
            </a:r>
          </a:p>
          <a:p>
            <a:pPr lvl="1">
              <a:defRPr sz="1400">
                <a:solidFill>
                  <a:srgbClr val="334155"/>
                </a:solidFill>
                <a:latin typeface="Inter"/>
              </a:defRPr>
            </a:pPr>
            <a:r>
              <a:t>Week 1: Literature Gap Identification &amp; Vulnerability Discovery (Completed)</a:t>
            </a:r>
          </a:p>
          <a:p>
            <a:pPr lvl="1">
              <a:defRPr sz="1400">
                <a:solidFill>
                  <a:srgbClr val="334155"/>
                </a:solidFill>
                <a:latin typeface="Inter"/>
              </a:defRPr>
            </a:pPr>
            <a:r>
              <a:t>  - Output: Week 1 Report; identified 7 gaps and 4 vulnerabilities</a:t>
            </a:r>
          </a:p>
          <a:p>
            <a:pPr lvl="1">
              <a:defRPr sz="1400">
                <a:solidFill>
                  <a:srgbClr val="334155"/>
                </a:solidFill>
                <a:latin typeface="Inter"/>
              </a:defRPr>
            </a:pPr>
            <a:r>
              <a:t>Week 2: Analytical Latency &amp; Security Formulation (Completed)</a:t>
            </a:r>
          </a:p>
          <a:p>
            <a:pPr lvl="1">
              <a:defRPr sz="1400">
                <a:solidFill>
                  <a:srgbClr val="334155"/>
                </a:solidFill>
                <a:latin typeface="Inter"/>
              </a:defRPr>
            </a:pPr>
            <a:r>
              <a:t>  - Output: Week 2 Report; derived latency proofs for OM(m) vs. Tower BFT</a:t>
            </a:r>
          </a:p>
          <a:p>
            <a:pPr lvl="1">
              <a:defRPr sz="1400">
                <a:solidFill>
                  <a:srgbClr val="334155"/>
                </a:solidFill>
                <a:latin typeface="Inter"/>
              </a:defRPr>
            </a:pPr>
            <a:r>
              <a:t>Week 3: Four-Group Evaluation and Script Development (Completed)</a:t>
            </a:r>
          </a:p>
          <a:p>
            <a:pPr lvl="1">
              <a:defRPr sz="1400">
                <a:solidFill>
                  <a:srgbClr val="334155"/>
                </a:solidFill>
                <a:latin typeface="Inter"/>
              </a:defRPr>
            </a:pPr>
            <a:r>
              <a:t>  - Output: Coded comparison script, generated 9 visual figures, compiled PPT &amp; report</a:t>
            </a:r>
          </a:p>
          <a:p>
            <a:pPr lvl="1">
              <a:defRPr sz="1400">
                <a:solidFill>
                  <a:srgbClr val="334155"/>
                </a:solidFill>
                <a:latin typeface="Inter"/>
              </a:defRPr>
            </a:pPr>
            <a:r>
              <a:t>Week 4: Defense-in-Depth Cryptographic Integration &amp; Final Defense Synthesis (In Progress)</a:t>
            </a:r>
          </a:p>
          <a:p>
            <a:pPr lvl="1">
              <a:defRPr sz="1400">
                <a:solidFill>
                  <a:srgbClr val="334155"/>
                </a:solidFill>
                <a:latin typeface="Inter"/>
              </a:defRPr>
            </a:pPr>
            <a:r>
              <a:t>  - Output: Shamir secret sharing CDF modeling, final VJTI thesis compilation</a:t>
            </a:r>
          </a:p>
          <a:p>
            <a:pPr>
              <a:defRPr sz="1500" b="1">
                <a:solidFill>
                  <a:srgbClr val="0F172A"/>
                </a:solidFill>
                <a:latin typeface="Inter"/>
              </a:defRPr>
            </a:pPr>
            <a:r>
              <a:t>Key Milestones &amp; Expected Completion:</a:t>
            </a:r>
          </a:p>
          <a:p>
            <a:pPr lvl="1">
              <a:defRPr sz="1400">
                <a:solidFill>
                  <a:srgbClr val="334155"/>
                </a:solidFill>
                <a:latin typeface="Inter"/>
              </a:defRPr>
            </a:pPr>
            <a:r>
              <a:t>Modeling Sweeps: June 15 (Completed)  |  Draft Reports: June 17 (Completed)  |  Final Defense: June 20 (On Track)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8. Progress Updates</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4754880"/>
          </a:xfrm>
          <a:prstGeom prst="rect">
            <a:avLst/>
          </a:prstGeom>
          <a:noFill/>
        </p:spPr>
        <p:txBody>
          <a:bodyPr wrap="square" lIns="45720" rIns="45720">
            <a:spAutoFit/>
          </a:bodyPr>
          <a:lstStyle/>
          <a:p>
            <a:pPr>
              <a:defRPr sz="1500" b="1">
                <a:solidFill>
                  <a:srgbClr val="0F172A"/>
                </a:solidFill>
                <a:latin typeface="Inter"/>
              </a:defRPr>
            </a:pPr>
            <a:r>
              <a:t>Work Completed in Weeks 1, 2, and 3:</a:t>
            </a:r>
          </a:p>
          <a:p>
            <a:pPr lvl="1">
              <a:defRPr sz="1400">
                <a:solidFill>
                  <a:srgbClr val="334155"/>
                </a:solidFill>
                <a:latin typeface="Inter"/>
              </a:defRPr>
            </a:pPr>
            <a:r>
              <a:t>1. Verified equations by replicating Sheikh's baseline curves (Fig 15 &amp; 16)</a:t>
            </a:r>
          </a:p>
          <a:p>
            <a:pPr lvl="1">
              <a:defRPr sz="1400">
                <a:solidFill>
                  <a:srgbClr val="334155"/>
                </a:solidFill>
                <a:latin typeface="Inter"/>
              </a:defRPr>
            </a:pPr>
            <a:r>
              <a:t>2. Designed the STSF framework mapping consensus latency to physical grid vulnerability</a:t>
            </a:r>
          </a:p>
          <a:p>
            <a:pPr lvl="1">
              <a:defRPr sz="1400">
                <a:solidFill>
                  <a:srgbClr val="334155"/>
                </a:solidFill>
                <a:latin typeface="Inter"/>
              </a:defRPr>
            </a:pPr>
            <a:r>
              <a:t>3. Developed the python script to run sweeps across 8 algorithms and output figures</a:t>
            </a:r>
          </a:p>
          <a:p>
            <a:pPr lvl="1">
              <a:defRPr sz="1400">
                <a:solidFill>
                  <a:srgbClr val="334155"/>
                </a:solidFill>
                <a:latin typeface="Inter"/>
              </a:defRPr>
            </a:pPr>
            <a:r>
              <a:t>4. Compiled research reports for Weeks 1, 2, and 3 detailing our progress</a:t>
            </a:r>
          </a:p>
          <a:p>
            <a:pPr>
              <a:defRPr sz="1500" b="1">
                <a:solidFill>
                  <a:srgbClr val="0F172A"/>
                </a:solidFill>
                <a:latin typeface="Inter"/>
              </a:defRPr>
            </a:pPr>
            <a:r>
              <a:t>Key Achievements and Observations:</a:t>
            </a:r>
          </a:p>
          <a:p>
            <a:pPr lvl="1">
              <a:defRPr sz="1400">
                <a:solidFill>
                  <a:srgbClr val="334155"/>
                </a:solidFill>
                <a:latin typeface="Inter"/>
              </a:defRPr>
            </a:pPr>
            <a:r>
              <a:t>Proved that latency is the decisive factor: slow block time guarantees temporal grid compromise</a:t>
            </a:r>
          </a:p>
          <a:p>
            <a:pPr lvl="1">
              <a:defRPr sz="1400">
                <a:solidFill>
                  <a:srgbClr val="334155"/>
                </a:solidFill>
                <a:latin typeface="Inter"/>
              </a:defRPr>
            </a:pPr>
            <a:r>
              <a:t>Group 4 SS-PR-BFT protocols seal the temporal vulnerability, keeping P_secure &gt;= 0.98</a:t>
            </a:r>
          </a:p>
          <a:p>
            <a:pPr>
              <a:defRPr sz="1500" b="1">
                <a:solidFill>
                  <a:srgbClr val="0F172A"/>
                </a:solidFill>
                <a:latin typeface="Inter"/>
              </a:defRPr>
            </a:pPr>
            <a:r>
              <a:t>Challenges Encountered and Mitigation Measures:</a:t>
            </a:r>
          </a:p>
          <a:p>
            <a:pPr lvl="1">
              <a:defRPr sz="1400">
                <a:solidFill>
                  <a:srgbClr val="334155"/>
                </a:solidFill>
                <a:latin typeface="Inter"/>
              </a:defRPr>
            </a:pPr>
            <a:r>
              <a:t>Challenge: Normalizing validator parameters across flat, consortium, and clustered networks</a:t>
            </a:r>
          </a:p>
          <a:p>
            <a:pPr lvl="1">
              <a:defRPr sz="1400">
                <a:solidFill>
                  <a:srgbClr val="334155"/>
                </a:solidFill>
                <a:latin typeface="Inter"/>
              </a:defRPr>
            </a:pPr>
            <a:r>
              <a:t>Mitigation: Formulated 'effective validators' and 'cluster-local communication link' parameters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82880"/>
            <a:ext cx="10972800" cy="548640"/>
          </a:xfrm>
          <a:prstGeom prst="rect">
            <a:avLst/>
          </a:prstGeom>
          <a:noFill/>
        </p:spPr>
        <p:txBody>
          <a:bodyPr wrap="square" lIns="45720" rIns="45720">
            <a:spAutoFit/>
          </a:bodyPr>
          <a:lstStyle/>
          <a:p>
            <a:pPr algn="l">
              <a:defRPr sz="2400" b="1">
                <a:solidFill>
                  <a:srgbClr val="0284C7"/>
                </a:solidFill>
                <a:latin typeface="Outfit"/>
              </a:defRPr>
            </a:pPr>
            <a:r>
              <a:t>9. Results &amp; Discussion: Comparison Table</a:t>
            </a:r>
          </a:p>
        </p:txBody>
      </p:sp>
      <p:graphicFrame>
        <p:nvGraphicFramePr>
          <p:cNvPr id="4" name="Table 3"/>
          <p:cNvGraphicFramePr>
            <a:graphicFrameLocks noGrp="1"/>
          </p:cNvGraphicFramePr>
          <p:nvPr/>
        </p:nvGraphicFramePr>
        <p:xfrm>
          <a:off x="457200" y="914400"/>
          <a:ext cx="9875520" cy="5029200"/>
        </p:xfrm>
        <a:graphic>
          <a:graphicData uri="http://schemas.openxmlformats.org/drawingml/2006/table">
            <a:tbl>
              <a:tblPr firstRow="1" bandRow="1">
                <a:tableStyleId>{5C22544A-7EE6-4342-B048-85BDC9FD1C3A}</a:tableStyleId>
              </a:tblPr>
              <a:tblGrid>
                <a:gridCol w="2011680"/>
                <a:gridCol w="1645920"/>
                <a:gridCol w="1188720"/>
                <a:gridCol w="731520"/>
                <a:gridCol w="731520"/>
                <a:gridCol w="1188720"/>
                <a:gridCol w="1188720"/>
                <a:gridCol w="1188720"/>
              </a:tblGrid>
              <a:tr h="502920">
                <a:tc>
                  <a:txBody>
                    <a:bodyPr/>
                    <a:lstStyle/>
                    <a:p>
                      <a:pPr algn="ctr">
                        <a:defRPr sz="1000" b="1">
                          <a:solidFill>
                            <a:srgbClr val="FFFFFF"/>
                          </a:solidFill>
                          <a:latin typeface="Inter"/>
                        </a:defRPr>
                      </a:pPr>
                      <a:r>
                        <a:t>Algorithm</a:t>
                      </a:r>
                    </a:p>
                  </a:txBody>
                  <a:tcPr>
                    <a:solidFill>
                      <a:srgbClr val="0F172A"/>
                    </a:solidFill>
                  </a:tcPr>
                </a:tc>
                <a:tc>
                  <a:txBody>
                    <a:bodyPr/>
                    <a:lstStyle/>
                    <a:p>
                      <a:pPr algn="ctr">
                        <a:defRPr sz="1000" b="1">
                          <a:solidFill>
                            <a:srgbClr val="FFFFFF"/>
                          </a:solidFill>
                          <a:latin typeface="Inter"/>
                        </a:defRPr>
                      </a:pPr>
                      <a:r>
                        <a:t>Group</a:t>
                      </a:r>
                    </a:p>
                  </a:txBody>
                  <a:tcPr>
                    <a:solidFill>
                      <a:srgbClr val="0F172A"/>
                    </a:solidFill>
                  </a:tcPr>
                </a:tc>
                <a:tc>
                  <a:txBody>
                    <a:bodyPr/>
                    <a:lstStyle/>
                    <a:p>
                      <a:pPr algn="ctr">
                        <a:defRPr sz="1000" b="1">
                          <a:solidFill>
                            <a:srgbClr val="FFFFFF"/>
                          </a:solidFill>
                          <a:latin typeface="Inter"/>
                        </a:defRPr>
                      </a:pPr>
                      <a:r>
                        <a:t>Latency</a:t>
                      </a:r>
                    </a:p>
                  </a:txBody>
                  <a:tcPr>
                    <a:solidFill>
                      <a:srgbClr val="0F172A"/>
                    </a:solidFill>
                  </a:tcPr>
                </a:tc>
                <a:tc>
                  <a:txBody>
                    <a:bodyPr/>
                    <a:lstStyle/>
                    <a:p>
                      <a:pPr algn="ctr">
                        <a:defRPr sz="1000" b="1">
                          <a:solidFill>
                            <a:srgbClr val="FFFFFF"/>
                          </a:solidFill>
                          <a:latin typeface="Inter"/>
                        </a:defRPr>
                      </a:pPr>
                      <a:r>
                        <a:t>TPS</a:t>
                      </a:r>
                    </a:p>
                  </a:txBody>
                  <a:tcPr>
                    <a:solidFill>
                      <a:srgbClr val="0F172A"/>
                    </a:solidFill>
                  </a:tcPr>
                </a:tc>
                <a:tc>
                  <a:txBody>
                    <a:bodyPr/>
                    <a:lstStyle/>
                    <a:p>
                      <a:pPr algn="ctr">
                        <a:defRPr sz="1000" b="1">
                          <a:solidFill>
                            <a:srgbClr val="FFFFFF"/>
                          </a:solidFill>
                          <a:latin typeface="Inter"/>
                        </a:defRPr>
                      </a:pPr>
                      <a:r>
                        <a:t>N_att</a:t>
                      </a:r>
                    </a:p>
                  </a:txBody>
                  <a:tcPr>
                    <a:solidFill>
                      <a:srgbClr val="0F172A"/>
                    </a:solidFill>
                  </a:tcPr>
                </a:tc>
                <a:tc>
                  <a:txBody>
                    <a:bodyPr/>
                    <a:lstStyle/>
                    <a:p>
                      <a:pPr algn="ctr">
                        <a:defRPr sz="1000" b="1">
                          <a:solidFill>
                            <a:srgbClr val="FFFFFF"/>
                          </a:solidFill>
                          <a:latin typeface="Inter"/>
                        </a:defRPr>
                      </a:pPr>
                      <a:r>
                        <a:t>P_temporal</a:t>
                      </a:r>
                    </a:p>
                  </a:txBody>
                  <a:tcPr>
                    <a:solidFill>
                      <a:srgbClr val="0F172A"/>
                    </a:solidFill>
                  </a:tcPr>
                </a:tc>
                <a:tc>
                  <a:txBody>
                    <a:bodyPr/>
                    <a:lstStyle/>
                    <a:p>
                      <a:pPr algn="ctr">
                        <a:defRPr sz="1000" b="1">
                          <a:solidFill>
                            <a:srgbClr val="FFFFFF"/>
                          </a:solidFill>
                          <a:latin typeface="Inter"/>
                        </a:defRPr>
                      </a:pPr>
                      <a:r>
                        <a:t>P_secure</a:t>
                      </a:r>
                    </a:p>
                  </a:txBody>
                  <a:tcPr>
                    <a:solidFill>
                      <a:srgbClr val="0F172A"/>
                    </a:solidFill>
                  </a:tcPr>
                </a:tc>
                <a:tc>
                  <a:txBody>
                    <a:bodyPr/>
                    <a:lstStyle/>
                    <a:p>
                      <a:pPr algn="ctr">
                        <a:defRPr sz="1000" b="1">
                          <a:solidFill>
                            <a:srgbClr val="FFFFFF"/>
                          </a:solidFill>
                          <a:latin typeface="Inter"/>
                        </a:defRPr>
                      </a:pPr>
                      <a:r>
                        <a:t>Msgs</a:t>
                      </a:r>
                    </a:p>
                  </a:txBody>
                  <a:tcPr>
                    <a:solidFill>
                      <a:srgbClr val="0F172A"/>
                    </a:solidFill>
                  </a:tcPr>
                </a:tc>
              </a:tr>
              <a:tr h="502920">
                <a:tc>
                  <a:txBody>
                    <a:bodyPr/>
                    <a:lstStyle/>
                    <a:p>
                      <a:pPr algn="ctr">
                        <a:defRPr sz="1000">
                          <a:solidFill>
                            <a:srgbClr val="FFFFFF"/>
                          </a:solidFill>
                          <a:latin typeface="Inter"/>
                        </a:defRPr>
                      </a:pPr>
                      <a:r>
                        <a:t>Lamport OM(m)</a:t>
                      </a:r>
                    </a:p>
                  </a:txBody>
                  <a:tcPr>
                    <a:solidFill>
                      <a:srgbClr val="7D273C"/>
                    </a:solidFill>
                  </a:tcPr>
                </a:tc>
                <a:tc>
                  <a:txBody>
                    <a:bodyPr/>
                    <a:lstStyle/>
                    <a:p>
                      <a:pPr algn="ctr">
                        <a:defRPr sz="1000">
                          <a:solidFill>
                            <a:srgbClr val="FFFFFF"/>
                          </a:solidFill>
                          <a:latin typeface="Inter"/>
                        </a:defRPr>
                      </a:pPr>
                      <a:r>
                        <a:t>G1: CFM-BA</a:t>
                      </a:r>
                    </a:p>
                  </a:txBody>
                  <a:tcPr>
                    <a:solidFill>
                      <a:srgbClr val="7D273C"/>
                    </a:solidFill>
                  </a:tcPr>
                </a:tc>
                <a:tc>
                  <a:txBody>
                    <a:bodyPr/>
                    <a:lstStyle/>
                    <a:p>
                      <a:pPr algn="ctr">
                        <a:defRPr sz="1000">
                          <a:solidFill>
                            <a:srgbClr val="FFFFFF"/>
                          </a:solidFill>
                          <a:latin typeface="Inter"/>
                        </a:defRPr>
                      </a:pPr>
                      <a:r>
                        <a:t>43,350 ms</a:t>
                      </a:r>
                    </a:p>
                  </a:txBody>
                  <a:tcPr>
                    <a:solidFill>
                      <a:srgbClr val="7D273C"/>
                    </a:solidFill>
                  </a:tcPr>
                </a:tc>
                <a:tc>
                  <a:txBody>
                    <a:bodyPr/>
                    <a:lstStyle/>
                    <a:p>
                      <a:pPr algn="ctr">
                        <a:defRPr sz="1000">
                          <a:solidFill>
                            <a:srgbClr val="FFFFFF"/>
                          </a:solidFill>
                          <a:latin typeface="Inter"/>
                        </a:defRPr>
                      </a:pPr>
                      <a:r>
                        <a:t>1.2</a:t>
                      </a:r>
                    </a:p>
                  </a:txBody>
                  <a:tcPr>
                    <a:solidFill>
                      <a:srgbClr val="7D273C"/>
                    </a:solidFill>
                  </a:tcPr>
                </a:tc>
                <a:tc>
                  <a:txBody>
                    <a:bodyPr/>
                    <a:lstStyle/>
                    <a:p>
                      <a:pPr algn="ctr">
                        <a:defRPr sz="1000">
                          <a:solidFill>
                            <a:srgbClr val="FFFFFF"/>
                          </a:solidFill>
                          <a:latin typeface="Inter"/>
                        </a:defRPr>
                      </a:pPr>
                      <a:r>
                        <a:t>867</a:t>
                      </a:r>
                    </a:p>
                  </a:txBody>
                  <a:tcPr>
                    <a:solidFill>
                      <a:srgbClr val="7D273C"/>
                    </a:solidFill>
                  </a:tcPr>
                </a:tc>
                <a:tc>
                  <a:txBody>
                    <a:bodyPr/>
                    <a:lstStyle/>
                    <a:p>
                      <a:pPr algn="ctr">
                        <a:defRPr sz="1000">
                          <a:solidFill>
                            <a:srgbClr val="FFFFFF"/>
                          </a:solidFill>
                          <a:latin typeface="Inter"/>
                        </a:defRPr>
                      </a:pPr>
                      <a:r>
                        <a:t>0.9870</a:t>
                      </a:r>
                    </a:p>
                  </a:txBody>
                  <a:tcPr>
                    <a:solidFill>
                      <a:srgbClr val="7D273C"/>
                    </a:solidFill>
                  </a:tcPr>
                </a:tc>
                <a:tc>
                  <a:txBody>
                    <a:bodyPr/>
                    <a:lstStyle/>
                    <a:p>
                      <a:pPr algn="ctr">
                        <a:defRPr sz="1000">
                          <a:solidFill>
                            <a:srgbClr val="FFFFFF"/>
                          </a:solidFill>
                          <a:latin typeface="Inter"/>
                        </a:defRPr>
                      </a:pPr>
                      <a:r>
                        <a:t>0.0130</a:t>
                      </a:r>
                    </a:p>
                  </a:txBody>
                  <a:tcPr>
                    <a:solidFill>
                      <a:srgbClr val="7D273C"/>
                    </a:solidFill>
                  </a:tcPr>
                </a:tc>
                <a:tc>
                  <a:txBody>
                    <a:bodyPr/>
                    <a:lstStyle/>
                    <a:p>
                      <a:pPr algn="ctr">
                        <a:defRPr sz="1000">
                          <a:solidFill>
                            <a:srgbClr val="FFFFFF"/>
                          </a:solidFill>
                          <a:latin typeface="Inter"/>
                        </a:defRPr>
                      </a:pPr>
                      <a:r>
                        <a:t>10¹⁸</a:t>
                      </a:r>
                    </a:p>
                  </a:txBody>
                  <a:tcPr>
                    <a:solidFill>
                      <a:srgbClr val="7D273C"/>
                    </a:solidFill>
                  </a:tcPr>
                </a:tc>
              </a:tr>
              <a:tr h="502920">
                <a:tc>
                  <a:txBody>
                    <a:bodyPr/>
                    <a:lstStyle/>
                    <a:p>
                      <a:pPr algn="ctr">
                        <a:defRPr sz="1000">
                          <a:solidFill>
                            <a:srgbClr val="FFFFFF"/>
                          </a:solidFill>
                          <a:latin typeface="Inter"/>
                        </a:defRPr>
                      </a:pPr>
                      <a:r>
                        <a:t>Classic PBFT</a:t>
                      </a:r>
                    </a:p>
                  </a:txBody>
                  <a:tcPr>
                    <a:solidFill>
                      <a:srgbClr val="7D273C"/>
                    </a:solidFill>
                  </a:tcPr>
                </a:tc>
                <a:tc>
                  <a:txBody>
                    <a:bodyPr/>
                    <a:lstStyle/>
                    <a:p>
                      <a:pPr algn="ctr">
                        <a:defRPr sz="1000">
                          <a:solidFill>
                            <a:srgbClr val="FFFFFF"/>
                          </a:solidFill>
                          <a:latin typeface="Inter"/>
                        </a:defRPr>
                      </a:pPr>
                      <a:r>
                        <a:t>G1: CFM-BA</a:t>
                      </a:r>
                    </a:p>
                  </a:txBody>
                  <a:tcPr>
                    <a:solidFill>
                      <a:srgbClr val="7D273C"/>
                    </a:solidFill>
                  </a:tcPr>
                </a:tc>
                <a:tc>
                  <a:txBody>
                    <a:bodyPr/>
                    <a:lstStyle/>
                    <a:p>
                      <a:pPr algn="ctr">
                        <a:defRPr sz="1000">
                          <a:solidFill>
                            <a:srgbClr val="FFFFFF"/>
                          </a:solidFill>
                          <a:latin typeface="Inter"/>
                        </a:defRPr>
                      </a:pPr>
                      <a:r>
                        <a:t>15,300 ms</a:t>
                      </a:r>
                    </a:p>
                  </a:txBody>
                  <a:tcPr>
                    <a:solidFill>
                      <a:srgbClr val="7D273C"/>
                    </a:solidFill>
                  </a:tcPr>
                </a:tc>
                <a:tc>
                  <a:txBody>
                    <a:bodyPr/>
                    <a:lstStyle/>
                    <a:p>
                      <a:pPr algn="ctr">
                        <a:defRPr sz="1000">
                          <a:solidFill>
                            <a:srgbClr val="FFFFFF"/>
                          </a:solidFill>
                          <a:latin typeface="Inter"/>
                        </a:defRPr>
                      </a:pPr>
                      <a:r>
                        <a:t>3.3</a:t>
                      </a:r>
                    </a:p>
                  </a:txBody>
                  <a:tcPr>
                    <a:solidFill>
                      <a:srgbClr val="7D273C"/>
                    </a:solidFill>
                  </a:tcPr>
                </a:tc>
                <a:tc>
                  <a:txBody>
                    <a:bodyPr/>
                    <a:lstStyle/>
                    <a:p>
                      <a:pPr algn="ctr">
                        <a:defRPr sz="1000">
                          <a:solidFill>
                            <a:srgbClr val="FFFFFF"/>
                          </a:solidFill>
                          <a:latin typeface="Inter"/>
                        </a:defRPr>
                      </a:pPr>
                      <a:r>
                        <a:t>306</a:t>
                      </a:r>
                    </a:p>
                  </a:txBody>
                  <a:tcPr>
                    <a:solidFill>
                      <a:srgbClr val="7D273C"/>
                    </a:solidFill>
                  </a:tcPr>
                </a:tc>
                <a:tc>
                  <a:txBody>
                    <a:bodyPr/>
                    <a:lstStyle/>
                    <a:p>
                      <a:pPr algn="ctr">
                        <a:defRPr sz="1000">
                          <a:solidFill>
                            <a:srgbClr val="FFFFFF"/>
                          </a:solidFill>
                          <a:latin typeface="Inter"/>
                        </a:defRPr>
                      </a:pPr>
                      <a:r>
                        <a:t>0.7843</a:t>
                      </a:r>
                    </a:p>
                  </a:txBody>
                  <a:tcPr>
                    <a:solidFill>
                      <a:srgbClr val="7D273C"/>
                    </a:solidFill>
                  </a:tcPr>
                </a:tc>
                <a:tc>
                  <a:txBody>
                    <a:bodyPr/>
                    <a:lstStyle/>
                    <a:p>
                      <a:pPr algn="ctr">
                        <a:defRPr sz="1000">
                          <a:solidFill>
                            <a:srgbClr val="FFFFFF"/>
                          </a:solidFill>
                          <a:latin typeface="Inter"/>
                        </a:defRPr>
                      </a:pPr>
                      <a:r>
                        <a:t>0.2157</a:t>
                      </a:r>
                    </a:p>
                  </a:txBody>
                  <a:tcPr>
                    <a:solidFill>
                      <a:srgbClr val="7D273C"/>
                    </a:solidFill>
                  </a:tcPr>
                </a:tc>
                <a:tc>
                  <a:txBody>
                    <a:bodyPr/>
                    <a:lstStyle/>
                    <a:p>
                      <a:pPr algn="ctr">
                        <a:defRPr sz="1000">
                          <a:solidFill>
                            <a:srgbClr val="FFFFFF"/>
                          </a:solidFill>
                          <a:latin typeface="Inter"/>
                        </a:defRPr>
                      </a:pPr>
                      <a:r>
                        <a:t>7,803</a:t>
                      </a:r>
                    </a:p>
                  </a:txBody>
                  <a:tcPr>
                    <a:solidFill>
                      <a:srgbClr val="7D273C"/>
                    </a:solidFill>
                  </a:tcPr>
                </a:tc>
              </a:tr>
              <a:tr h="502920">
                <a:tc>
                  <a:txBody>
                    <a:bodyPr/>
                    <a:lstStyle/>
                    <a:p>
                      <a:pPr algn="ctr">
                        <a:defRPr sz="1000">
                          <a:solidFill>
                            <a:srgbClr val="FFFFFF"/>
                          </a:solidFill>
                          <a:latin typeface="Inter"/>
                        </a:defRPr>
                      </a:pPr>
                      <a:r>
                        <a:t>IBFT 2.0</a:t>
                      </a:r>
                    </a:p>
                  </a:txBody>
                  <a:tcPr>
                    <a:solidFill>
                      <a:srgbClr val="5D2F85"/>
                    </a:solidFill>
                  </a:tcPr>
                </a:tc>
                <a:tc>
                  <a:txBody>
                    <a:bodyPr/>
                    <a:lstStyle/>
                    <a:p>
                      <a:pPr algn="ctr">
                        <a:defRPr sz="1000">
                          <a:solidFill>
                            <a:srgbClr val="FFFFFF"/>
                          </a:solidFill>
                          <a:latin typeface="Inter"/>
                        </a:defRPr>
                      </a:pPr>
                      <a:r>
                        <a:t>G2: CDC-C</a:t>
                      </a:r>
                    </a:p>
                  </a:txBody>
                  <a:tcPr>
                    <a:solidFill>
                      <a:srgbClr val="5D2F85"/>
                    </a:solidFill>
                  </a:tcPr>
                </a:tc>
                <a:tc>
                  <a:txBody>
                    <a:bodyPr/>
                    <a:lstStyle/>
                    <a:p>
                      <a:pPr algn="ctr">
                        <a:defRPr sz="1000">
                          <a:solidFill>
                            <a:srgbClr val="FFFFFF"/>
                          </a:solidFill>
                          <a:latin typeface="Inter"/>
                        </a:defRPr>
                      </a:pPr>
                      <a:r>
                        <a:t>2,500 ms</a:t>
                      </a:r>
                    </a:p>
                  </a:txBody>
                  <a:tcPr>
                    <a:solidFill>
                      <a:srgbClr val="5D2F85"/>
                    </a:solidFill>
                  </a:tcPr>
                </a:tc>
                <a:tc>
                  <a:txBody>
                    <a:bodyPr/>
                    <a:lstStyle/>
                    <a:p>
                      <a:pPr algn="ctr">
                        <a:defRPr sz="1000">
                          <a:solidFill>
                            <a:srgbClr val="FFFFFF"/>
                          </a:solidFill>
                          <a:latin typeface="Inter"/>
                        </a:defRPr>
                      </a:pPr>
                      <a:r>
                        <a:t>20.0</a:t>
                      </a:r>
                    </a:p>
                  </a:txBody>
                  <a:tcPr>
                    <a:solidFill>
                      <a:srgbClr val="5D2F85"/>
                    </a:solidFill>
                  </a:tcPr>
                </a:tc>
                <a:tc>
                  <a:txBody>
                    <a:bodyPr/>
                    <a:lstStyle/>
                    <a:p>
                      <a:pPr algn="ctr">
                        <a:defRPr sz="1000">
                          <a:solidFill>
                            <a:srgbClr val="FFFFFF"/>
                          </a:solidFill>
                          <a:latin typeface="Inter"/>
                        </a:defRPr>
                      </a:pPr>
                      <a:r>
                        <a:t>50</a:t>
                      </a:r>
                    </a:p>
                  </a:txBody>
                  <a:tcPr>
                    <a:solidFill>
                      <a:srgbClr val="5D2F85"/>
                    </a:solidFill>
                  </a:tcPr>
                </a:tc>
                <a:tc>
                  <a:txBody>
                    <a:bodyPr/>
                    <a:lstStyle/>
                    <a:p>
                      <a:pPr algn="ctr">
                        <a:defRPr sz="1000">
                          <a:solidFill>
                            <a:srgbClr val="FFFFFF"/>
                          </a:solidFill>
                          <a:latin typeface="Inter"/>
                        </a:defRPr>
                      </a:pPr>
                      <a:r>
                        <a:t>0.2217</a:t>
                      </a:r>
                    </a:p>
                  </a:txBody>
                  <a:tcPr>
                    <a:solidFill>
                      <a:srgbClr val="5D2F85"/>
                    </a:solidFill>
                  </a:tcPr>
                </a:tc>
                <a:tc>
                  <a:txBody>
                    <a:bodyPr/>
                    <a:lstStyle/>
                    <a:p>
                      <a:pPr algn="ctr">
                        <a:defRPr sz="1000">
                          <a:solidFill>
                            <a:srgbClr val="FFFFFF"/>
                          </a:solidFill>
                          <a:latin typeface="Inter"/>
                        </a:defRPr>
                      </a:pPr>
                      <a:r>
                        <a:t>0.7783</a:t>
                      </a:r>
                    </a:p>
                  </a:txBody>
                  <a:tcPr>
                    <a:solidFill>
                      <a:srgbClr val="5D2F85"/>
                    </a:solidFill>
                  </a:tcPr>
                </a:tc>
                <a:tc>
                  <a:txBody>
                    <a:bodyPr/>
                    <a:lstStyle/>
                    <a:p>
                      <a:pPr algn="ctr">
                        <a:defRPr sz="1000">
                          <a:solidFill>
                            <a:srgbClr val="FFFFFF"/>
                          </a:solidFill>
                          <a:latin typeface="Inter"/>
                        </a:defRPr>
                      </a:pPr>
                      <a:r>
                        <a:t>1,323</a:t>
                      </a:r>
                    </a:p>
                  </a:txBody>
                  <a:tcPr>
                    <a:solidFill>
                      <a:srgbClr val="5D2F85"/>
                    </a:solidFill>
                  </a:tcPr>
                </a:tc>
              </a:tr>
              <a:tr h="502920">
                <a:tc>
                  <a:txBody>
                    <a:bodyPr/>
                    <a:lstStyle/>
                    <a:p>
                      <a:pPr algn="ctr">
                        <a:defRPr sz="1000">
                          <a:solidFill>
                            <a:srgbClr val="FFFFFF"/>
                          </a:solidFill>
                          <a:latin typeface="Inter"/>
                        </a:defRPr>
                      </a:pPr>
                      <a:r>
                        <a:t>QBFT</a:t>
                      </a:r>
                    </a:p>
                  </a:txBody>
                  <a:tcPr>
                    <a:solidFill>
                      <a:srgbClr val="5D2F85"/>
                    </a:solidFill>
                  </a:tcPr>
                </a:tc>
                <a:tc>
                  <a:txBody>
                    <a:bodyPr/>
                    <a:lstStyle/>
                    <a:p>
                      <a:pPr algn="ctr">
                        <a:defRPr sz="1000">
                          <a:solidFill>
                            <a:srgbClr val="FFFFFF"/>
                          </a:solidFill>
                          <a:latin typeface="Inter"/>
                        </a:defRPr>
                      </a:pPr>
                      <a:r>
                        <a:t>G2: CDC-C</a:t>
                      </a:r>
                    </a:p>
                  </a:txBody>
                  <a:tcPr>
                    <a:solidFill>
                      <a:srgbClr val="5D2F85"/>
                    </a:solidFill>
                  </a:tcPr>
                </a:tc>
                <a:tc>
                  <a:txBody>
                    <a:bodyPr/>
                    <a:lstStyle/>
                    <a:p>
                      <a:pPr algn="ctr">
                        <a:defRPr sz="1000">
                          <a:solidFill>
                            <a:srgbClr val="FFFFFF"/>
                          </a:solidFill>
                          <a:latin typeface="Inter"/>
                        </a:defRPr>
                      </a:pPr>
                      <a:r>
                        <a:t>1,500 ms</a:t>
                      </a:r>
                    </a:p>
                  </a:txBody>
                  <a:tcPr>
                    <a:solidFill>
                      <a:srgbClr val="5D2F85"/>
                    </a:solidFill>
                  </a:tcPr>
                </a:tc>
                <a:tc>
                  <a:txBody>
                    <a:bodyPr/>
                    <a:lstStyle/>
                    <a:p>
                      <a:pPr algn="ctr">
                        <a:defRPr sz="1000">
                          <a:solidFill>
                            <a:srgbClr val="FFFFFF"/>
                          </a:solidFill>
                          <a:latin typeface="Inter"/>
                        </a:defRPr>
                      </a:pPr>
                      <a:r>
                        <a:t>33.3</a:t>
                      </a:r>
                    </a:p>
                  </a:txBody>
                  <a:tcPr>
                    <a:solidFill>
                      <a:srgbClr val="5D2F85"/>
                    </a:solidFill>
                  </a:tcPr>
                </a:tc>
                <a:tc>
                  <a:txBody>
                    <a:bodyPr/>
                    <a:lstStyle/>
                    <a:p>
                      <a:pPr algn="ctr">
                        <a:defRPr sz="1000">
                          <a:solidFill>
                            <a:srgbClr val="FFFFFF"/>
                          </a:solidFill>
                          <a:latin typeface="Inter"/>
                        </a:defRPr>
                      </a:pPr>
                      <a:r>
                        <a:t>30</a:t>
                      </a:r>
                    </a:p>
                  </a:txBody>
                  <a:tcPr>
                    <a:solidFill>
                      <a:srgbClr val="5D2F85"/>
                    </a:solidFill>
                  </a:tcPr>
                </a:tc>
                <a:tc>
                  <a:txBody>
                    <a:bodyPr/>
                    <a:lstStyle/>
                    <a:p>
                      <a:pPr algn="ctr">
                        <a:defRPr sz="1000">
                          <a:solidFill>
                            <a:srgbClr val="FFFFFF"/>
                          </a:solidFill>
                          <a:latin typeface="Inter"/>
                        </a:defRPr>
                      </a:pPr>
                      <a:r>
                        <a:t>0.1396</a:t>
                      </a:r>
                    </a:p>
                  </a:txBody>
                  <a:tcPr>
                    <a:solidFill>
                      <a:srgbClr val="5D2F85"/>
                    </a:solidFill>
                  </a:tcPr>
                </a:tc>
                <a:tc>
                  <a:txBody>
                    <a:bodyPr/>
                    <a:lstStyle/>
                    <a:p>
                      <a:pPr algn="ctr">
                        <a:defRPr sz="1000">
                          <a:solidFill>
                            <a:srgbClr val="FFFFFF"/>
                          </a:solidFill>
                          <a:latin typeface="Inter"/>
                        </a:defRPr>
                      </a:pPr>
                      <a:r>
                        <a:t>0.8604</a:t>
                      </a:r>
                    </a:p>
                  </a:txBody>
                  <a:tcPr>
                    <a:solidFill>
                      <a:srgbClr val="5D2F85"/>
                    </a:solidFill>
                  </a:tcPr>
                </a:tc>
                <a:tc>
                  <a:txBody>
                    <a:bodyPr/>
                    <a:lstStyle/>
                    <a:p>
                      <a:pPr algn="ctr">
                        <a:defRPr sz="1000">
                          <a:solidFill>
                            <a:srgbClr val="FFFFFF"/>
                          </a:solidFill>
                          <a:latin typeface="Inter"/>
                        </a:defRPr>
                      </a:pPr>
                      <a:r>
                        <a:t>675</a:t>
                      </a:r>
                    </a:p>
                  </a:txBody>
                  <a:tcPr>
                    <a:solidFill>
                      <a:srgbClr val="5D2F85"/>
                    </a:solidFill>
                  </a:tcPr>
                </a:tc>
              </a:tr>
              <a:tr h="502920">
                <a:tc>
                  <a:txBody>
                    <a:bodyPr/>
                    <a:lstStyle/>
                    <a:p>
                      <a:pPr algn="ctr">
                        <a:defRPr sz="1000">
                          <a:solidFill>
                            <a:srgbClr val="FFFFFF"/>
                          </a:solidFill>
                          <a:latin typeface="Inter"/>
                        </a:defRPr>
                      </a:pPr>
                      <a:r>
                        <a:t>CE-PBFT</a:t>
                      </a:r>
                    </a:p>
                  </a:txBody>
                  <a:tcPr>
                    <a:solidFill>
                      <a:srgbClr val="205A49"/>
                    </a:solidFill>
                  </a:tcPr>
                </a:tc>
                <a:tc>
                  <a:txBody>
                    <a:bodyPr/>
                    <a:lstStyle/>
                    <a:p>
                      <a:pPr algn="ctr">
                        <a:defRPr sz="1000">
                          <a:solidFill>
                            <a:srgbClr val="FFFFFF"/>
                          </a:solidFill>
                          <a:latin typeface="Inter"/>
                        </a:defRPr>
                      </a:pPr>
                      <a:r>
                        <a:t>G3: HTC-PBFT</a:t>
                      </a:r>
                    </a:p>
                  </a:txBody>
                  <a:tcPr>
                    <a:solidFill>
                      <a:srgbClr val="205A49"/>
                    </a:solidFill>
                  </a:tcPr>
                </a:tc>
                <a:tc>
                  <a:txBody>
                    <a:bodyPr/>
                    <a:lstStyle/>
                    <a:p>
                      <a:pPr algn="ctr">
                        <a:defRPr sz="1000">
                          <a:solidFill>
                            <a:srgbClr val="FFFFFF"/>
                          </a:solidFill>
                          <a:latin typeface="Inter"/>
                        </a:defRPr>
                      </a:pPr>
                      <a:r>
                        <a:t>800 ms</a:t>
                      </a:r>
                    </a:p>
                  </a:txBody>
                  <a:tcPr>
                    <a:solidFill>
                      <a:srgbClr val="205A49"/>
                    </a:solidFill>
                  </a:tcPr>
                </a:tc>
                <a:tc>
                  <a:txBody>
                    <a:bodyPr/>
                    <a:lstStyle/>
                    <a:p>
                      <a:pPr algn="ctr">
                        <a:defRPr sz="1000">
                          <a:solidFill>
                            <a:srgbClr val="FFFFFF"/>
                          </a:solidFill>
                          <a:latin typeface="Inter"/>
                        </a:defRPr>
                      </a:pPr>
                      <a:r>
                        <a:t>62.5</a:t>
                      </a:r>
                    </a:p>
                  </a:txBody>
                  <a:tcPr>
                    <a:solidFill>
                      <a:srgbClr val="205A49"/>
                    </a:solidFill>
                  </a:tcPr>
                </a:tc>
                <a:tc>
                  <a:txBody>
                    <a:bodyPr/>
                    <a:lstStyle/>
                    <a:p>
                      <a:pPr algn="ctr">
                        <a:defRPr sz="1000">
                          <a:solidFill>
                            <a:srgbClr val="FFFFFF"/>
                          </a:solidFill>
                          <a:latin typeface="Inter"/>
                        </a:defRPr>
                      </a:pPr>
                      <a:r>
                        <a:t>16</a:t>
                      </a:r>
                    </a:p>
                  </a:txBody>
                  <a:tcPr>
                    <a:solidFill>
                      <a:srgbClr val="205A49"/>
                    </a:solidFill>
                  </a:tcPr>
                </a:tc>
                <a:tc>
                  <a:txBody>
                    <a:bodyPr/>
                    <a:lstStyle/>
                    <a:p>
                      <a:pPr algn="ctr">
                        <a:defRPr sz="1000">
                          <a:solidFill>
                            <a:srgbClr val="FFFFFF"/>
                          </a:solidFill>
                          <a:latin typeface="Inter"/>
                        </a:defRPr>
                      </a:pPr>
                      <a:r>
                        <a:t>0.0771</a:t>
                      </a:r>
                    </a:p>
                  </a:txBody>
                  <a:tcPr>
                    <a:solidFill>
                      <a:srgbClr val="205A49"/>
                    </a:solidFill>
                  </a:tcPr>
                </a:tc>
                <a:tc>
                  <a:txBody>
                    <a:bodyPr/>
                    <a:lstStyle/>
                    <a:p>
                      <a:pPr algn="ctr">
                        <a:defRPr sz="1000">
                          <a:solidFill>
                            <a:srgbClr val="FFFFFF"/>
                          </a:solidFill>
                          <a:latin typeface="Inter"/>
                        </a:defRPr>
                      </a:pPr>
                      <a:r>
                        <a:t>0.9229</a:t>
                      </a:r>
                    </a:p>
                  </a:txBody>
                  <a:tcPr>
                    <a:solidFill>
                      <a:srgbClr val="205A49"/>
                    </a:solidFill>
                  </a:tcPr>
                </a:tc>
                <a:tc>
                  <a:txBody>
                    <a:bodyPr/>
                    <a:lstStyle/>
                    <a:p>
                      <a:pPr algn="ctr">
                        <a:defRPr sz="1000">
                          <a:solidFill>
                            <a:srgbClr val="FFFFFF"/>
                          </a:solidFill>
                          <a:latin typeface="Inter"/>
                        </a:defRPr>
                      </a:pPr>
                      <a:r>
                        <a:t>1,875</a:t>
                      </a:r>
                    </a:p>
                  </a:txBody>
                  <a:tcPr>
                    <a:solidFill>
                      <a:srgbClr val="205A49"/>
                    </a:solidFill>
                  </a:tcPr>
                </a:tc>
              </a:tr>
              <a:tr h="502920">
                <a:tc>
                  <a:txBody>
                    <a:bodyPr/>
                    <a:lstStyle/>
                    <a:p>
                      <a:pPr algn="ctr">
                        <a:defRPr sz="1000">
                          <a:solidFill>
                            <a:srgbClr val="FFFFFF"/>
                          </a:solidFill>
                          <a:latin typeface="Inter"/>
                        </a:defRPr>
                      </a:pPr>
                      <a:r>
                        <a:t>G-PBFT</a:t>
                      </a:r>
                    </a:p>
                  </a:txBody>
                  <a:tcPr>
                    <a:solidFill>
                      <a:srgbClr val="205A49"/>
                    </a:solidFill>
                  </a:tcPr>
                </a:tc>
                <a:tc>
                  <a:txBody>
                    <a:bodyPr/>
                    <a:lstStyle/>
                    <a:p>
                      <a:pPr algn="ctr">
                        <a:defRPr sz="1000">
                          <a:solidFill>
                            <a:srgbClr val="FFFFFF"/>
                          </a:solidFill>
                          <a:latin typeface="Inter"/>
                        </a:defRPr>
                      </a:pPr>
                      <a:r>
                        <a:t>G3: HTC-PBFT</a:t>
                      </a:r>
                    </a:p>
                  </a:txBody>
                  <a:tcPr>
                    <a:solidFill>
                      <a:srgbClr val="205A49"/>
                    </a:solidFill>
                  </a:tcPr>
                </a:tc>
                <a:tc>
                  <a:txBody>
                    <a:bodyPr/>
                    <a:lstStyle/>
                    <a:p>
                      <a:pPr algn="ctr">
                        <a:defRPr sz="1000">
                          <a:solidFill>
                            <a:srgbClr val="FFFFFF"/>
                          </a:solidFill>
                          <a:latin typeface="Inter"/>
                        </a:defRPr>
                      </a:pPr>
                      <a:r>
                        <a:t>650 ms</a:t>
                      </a:r>
                    </a:p>
                  </a:txBody>
                  <a:tcPr>
                    <a:solidFill>
                      <a:srgbClr val="205A49"/>
                    </a:solidFill>
                  </a:tcPr>
                </a:tc>
                <a:tc>
                  <a:txBody>
                    <a:bodyPr/>
                    <a:lstStyle/>
                    <a:p>
                      <a:pPr algn="ctr">
                        <a:defRPr sz="1000">
                          <a:solidFill>
                            <a:srgbClr val="FFFFFF"/>
                          </a:solidFill>
                          <a:latin typeface="Inter"/>
                        </a:defRPr>
                      </a:pPr>
                      <a:r>
                        <a:t>76.9</a:t>
                      </a:r>
                    </a:p>
                  </a:txBody>
                  <a:tcPr>
                    <a:solidFill>
                      <a:srgbClr val="205A49"/>
                    </a:solidFill>
                  </a:tcPr>
                </a:tc>
                <a:tc>
                  <a:txBody>
                    <a:bodyPr/>
                    <a:lstStyle/>
                    <a:p>
                      <a:pPr algn="ctr">
                        <a:defRPr sz="1000">
                          <a:solidFill>
                            <a:srgbClr val="FFFFFF"/>
                          </a:solidFill>
                          <a:latin typeface="Inter"/>
                        </a:defRPr>
                      </a:pPr>
                      <a:r>
                        <a:t>13</a:t>
                      </a:r>
                    </a:p>
                  </a:txBody>
                  <a:tcPr>
                    <a:solidFill>
                      <a:srgbClr val="205A49"/>
                    </a:solidFill>
                  </a:tcPr>
                </a:tc>
                <a:tc>
                  <a:txBody>
                    <a:bodyPr/>
                    <a:lstStyle/>
                    <a:p>
                      <a:pPr algn="ctr">
                        <a:defRPr sz="1000">
                          <a:solidFill>
                            <a:srgbClr val="FFFFFF"/>
                          </a:solidFill>
                          <a:latin typeface="Inter"/>
                        </a:defRPr>
                      </a:pPr>
                      <a:r>
                        <a:t>0.0631</a:t>
                      </a:r>
                    </a:p>
                  </a:txBody>
                  <a:tcPr>
                    <a:solidFill>
                      <a:srgbClr val="205A49"/>
                    </a:solidFill>
                  </a:tcPr>
                </a:tc>
                <a:tc>
                  <a:txBody>
                    <a:bodyPr/>
                    <a:lstStyle/>
                    <a:p>
                      <a:pPr algn="ctr">
                        <a:defRPr sz="1000">
                          <a:solidFill>
                            <a:srgbClr val="FFFFFF"/>
                          </a:solidFill>
                          <a:latin typeface="Inter"/>
                        </a:defRPr>
                      </a:pPr>
                      <a:r>
                        <a:t>0.9369</a:t>
                      </a:r>
                    </a:p>
                  </a:txBody>
                  <a:tcPr>
                    <a:solidFill>
                      <a:srgbClr val="205A49"/>
                    </a:solidFill>
                  </a:tcPr>
                </a:tc>
                <a:tc>
                  <a:txBody>
                    <a:bodyPr/>
                    <a:lstStyle/>
                    <a:p>
                      <a:pPr algn="ctr">
                        <a:defRPr sz="1000">
                          <a:solidFill>
                            <a:srgbClr val="FFFFFF"/>
                          </a:solidFill>
                          <a:latin typeface="Inter"/>
                        </a:defRPr>
                      </a:pPr>
                      <a:r>
                        <a:t>2,700</a:t>
                      </a:r>
                    </a:p>
                  </a:txBody>
                  <a:tcPr>
                    <a:solidFill>
                      <a:srgbClr val="205A49"/>
                    </a:solidFill>
                  </a:tcPr>
                </a:tc>
              </a:tr>
              <a:tr h="502920">
                <a:tc>
                  <a:txBody>
                    <a:bodyPr/>
                    <a:lstStyle/>
                    <a:p>
                      <a:pPr algn="ctr">
                        <a:defRPr sz="1000">
                          <a:solidFill>
                            <a:srgbClr val="FFFFFF"/>
                          </a:solidFill>
                          <a:latin typeface="Inter"/>
                        </a:defRPr>
                      </a:pPr>
                      <a:r>
                        <a:t>SV-PBFT</a:t>
                      </a:r>
                    </a:p>
                  </a:txBody>
                  <a:tcPr>
                    <a:solidFill>
                      <a:srgbClr val="205A49"/>
                    </a:solidFill>
                  </a:tcPr>
                </a:tc>
                <a:tc>
                  <a:txBody>
                    <a:bodyPr/>
                    <a:lstStyle/>
                    <a:p>
                      <a:pPr algn="ctr">
                        <a:defRPr sz="1000">
                          <a:solidFill>
                            <a:srgbClr val="FFFFFF"/>
                          </a:solidFill>
                          <a:latin typeface="Inter"/>
                        </a:defRPr>
                      </a:pPr>
                      <a:r>
                        <a:t>G3: HTC-PBFT</a:t>
                      </a:r>
                    </a:p>
                  </a:txBody>
                  <a:tcPr>
                    <a:solidFill>
                      <a:srgbClr val="205A49"/>
                    </a:solidFill>
                  </a:tcPr>
                </a:tc>
                <a:tc>
                  <a:txBody>
                    <a:bodyPr/>
                    <a:lstStyle/>
                    <a:p>
                      <a:pPr algn="ctr">
                        <a:defRPr sz="1000">
                          <a:solidFill>
                            <a:srgbClr val="FFFFFF"/>
                          </a:solidFill>
                          <a:latin typeface="Inter"/>
                        </a:defRPr>
                      </a:pPr>
                      <a:r>
                        <a:t>500 ms</a:t>
                      </a:r>
                    </a:p>
                  </a:txBody>
                  <a:tcPr>
                    <a:solidFill>
                      <a:srgbClr val="205A49"/>
                    </a:solidFill>
                  </a:tcPr>
                </a:tc>
                <a:tc>
                  <a:txBody>
                    <a:bodyPr/>
                    <a:lstStyle/>
                    <a:p>
                      <a:pPr algn="ctr">
                        <a:defRPr sz="1000">
                          <a:solidFill>
                            <a:srgbClr val="FFFFFF"/>
                          </a:solidFill>
                          <a:latin typeface="Inter"/>
                        </a:defRPr>
                      </a:pPr>
                      <a:r>
                        <a:t>100.0</a:t>
                      </a:r>
                    </a:p>
                  </a:txBody>
                  <a:tcPr>
                    <a:solidFill>
                      <a:srgbClr val="205A49"/>
                    </a:solidFill>
                  </a:tcPr>
                </a:tc>
                <a:tc>
                  <a:txBody>
                    <a:bodyPr/>
                    <a:lstStyle/>
                    <a:p>
                      <a:pPr algn="ctr">
                        <a:defRPr sz="1000">
                          <a:solidFill>
                            <a:srgbClr val="FFFFFF"/>
                          </a:solidFill>
                          <a:latin typeface="Inter"/>
                        </a:defRPr>
                      </a:pPr>
                      <a:r>
                        <a:t>10</a:t>
                      </a:r>
                    </a:p>
                  </a:txBody>
                  <a:tcPr>
                    <a:solidFill>
                      <a:srgbClr val="205A49"/>
                    </a:solidFill>
                  </a:tcPr>
                </a:tc>
                <a:tc>
                  <a:txBody>
                    <a:bodyPr/>
                    <a:lstStyle/>
                    <a:p>
                      <a:pPr algn="ctr">
                        <a:defRPr sz="1000">
                          <a:solidFill>
                            <a:srgbClr val="FFFFFF"/>
                          </a:solidFill>
                          <a:latin typeface="Inter"/>
                        </a:defRPr>
                      </a:pPr>
                      <a:r>
                        <a:t>0.0489</a:t>
                      </a:r>
                    </a:p>
                  </a:txBody>
                  <a:tcPr>
                    <a:solidFill>
                      <a:srgbClr val="205A49"/>
                    </a:solidFill>
                  </a:tcPr>
                </a:tc>
                <a:tc>
                  <a:txBody>
                    <a:bodyPr/>
                    <a:lstStyle/>
                    <a:p>
                      <a:pPr algn="ctr">
                        <a:defRPr sz="1000">
                          <a:solidFill>
                            <a:srgbClr val="FFFFFF"/>
                          </a:solidFill>
                          <a:latin typeface="Inter"/>
                        </a:defRPr>
                      </a:pPr>
                      <a:r>
                        <a:t>0.9511</a:t>
                      </a:r>
                    </a:p>
                  </a:txBody>
                  <a:tcPr>
                    <a:solidFill>
                      <a:srgbClr val="205A49"/>
                    </a:solidFill>
                  </a:tcPr>
                </a:tc>
                <a:tc>
                  <a:txBody>
                    <a:bodyPr/>
                    <a:lstStyle/>
                    <a:p>
                      <a:pPr algn="ctr">
                        <a:defRPr sz="1000">
                          <a:solidFill>
                            <a:srgbClr val="FFFFFF"/>
                          </a:solidFill>
                          <a:latin typeface="Inter"/>
                        </a:defRPr>
                      </a:pPr>
                      <a:r>
                        <a:t>1,200</a:t>
                      </a:r>
                    </a:p>
                  </a:txBody>
                  <a:tcPr>
                    <a:solidFill>
                      <a:srgbClr val="205A49"/>
                    </a:solidFill>
                  </a:tcPr>
                </a:tc>
              </a:tr>
              <a:tr h="502920">
                <a:tc>
                  <a:txBody>
                    <a:bodyPr/>
                    <a:lstStyle/>
                    <a:p>
                      <a:pPr algn="ctr">
                        <a:defRPr sz="1000">
                          <a:solidFill>
                            <a:srgbClr val="FFFFFF"/>
                          </a:solidFill>
                          <a:latin typeface="Inter"/>
                        </a:defRPr>
                      </a:pPr>
                      <a:r>
                        <a:t>Tower BFT</a:t>
                      </a:r>
                    </a:p>
                  </a:txBody>
                  <a:tcPr>
                    <a:solidFill>
                      <a:srgbClr val="2C458A"/>
                    </a:solidFill>
                  </a:tcPr>
                </a:tc>
                <a:tc>
                  <a:txBody>
                    <a:bodyPr/>
                    <a:lstStyle/>
                    <a:p>
                      <a:pPr algn="ctr">
                        <a:defRPr sz="1000">
                          <a:solidFill>
                            <a:srgbClr val="FFFFFF"/>
                          </a:solidFill>
                          <a:latin typeface="Inter"/>
                        </a:defRPr>
                      </a:pPr>
                      <a:r>
                        <a:t>G4: SS-PR-BFT</a:t>
                      </a:r>
                    </a:p>
                  </a:txBody>
                  <a:tcPr>
                    <a:solidFill>
                      <a:srgbClr val="2C458A"/>
                    </a:solidFill>
                  </a:tcPr>
                </a:tc>
                <a:tc>
                  <a:txBody>
                    <a:bodyPr/>
                    <a:lstStyle/>
                    <a:p>
                      <a:pPr algn="ctr">
                        <a:defRPr sz="1000">
                          <a:solidFill>
                            <a:srgbClr val="FFFFFF"/>
                          </a:solidFill>
                          <a:latin typeface="Inter"/>
                        </a:defRPr>
                      </a:pPr>
                      <a:r>
                        <a:t>243 ms</a:t>
                      </a:r>
                    </a:p>
                  </a:txBody>
                  <a:tcPr>
                    <a:solidFill>
                      <a:srgbClr val="2C458A"/>
                    </a:solidFill>
                  </a:tcPr>
                </a:tc>
                <a:tc>
                  <a:txBody>
                    <a:bodyPr/>
                    <a:lstStyle/>
                    <a:p>
                      <a:pPr algn="ctr">
                        <a:defRPr sz="1000">
                          <a:solidFill>
                            <a:srgbClr val="FFFFFF"/>
                          </a:solidFill>
                          <a:latin typeface="Inter"/>
                        </a:defRPr>
                      </a:pPr>
                      <a:r>
                        <a:t>205.8</a:t>
                      </a:r>
                    </a:p>
                  </a:txBody>
                  <a:tcPr>
                    <a:solidFill>
                      <a:srgbClr val="2C458A"/>
                    </a:solidFill>
                  </a:tcPr>
                </a:tc>
                <a:tc>
                  <a:txBody>
                    <a:bodyPr/>
                    <a:lstStyle/>
                    <a:p>
                      <a:pPr algn="ctr">
                        <a:defRPr sz="1000">
                          <a:solidFill>
                            <a:srgbClr val="FFFFFF"/>
                          </a:solidFill>
                          <a:latin typeface="Inter"/>
                        </a:defRPr>
                      </a:pPr>
                      <a:r>
                        <a:t>4</a:t>
                      </a:r>
                    </a:p>
                  </a:txBody>
                  <a:tcPr>
                    <a:solidFill>
                      <a:srgbClr val="2C458A"/>
                    </a:solidFill>
                  </a:tcPr>
                </a:tc>
                <a:tc>
                  <a:txBody>
                    <a:bodyPr/>
                    <a:lstStyle/>
                    <a:p>
                      <a:pPr algn="ctr">
                        <a:defRPr sz="1000">
                          <a:solidFill>
                            <a:srgbClr val="FFFFFF"/>
                          </a:solidFill>
                          <a:latin typeface="Inter"/>
                        </a:defRPr>
                      </a:pPr>
                      <a:r>
                        <a:t>0.0199</a:t>
                      </a:r>
                    </a:p>
                  </a:txBody>
                  <a:tcPr>
                    <a:solidFill>
                      <a:srgbClr val="2C458A"/>
                    </a:solidFill>
                  </a:tcPr>
                </a:tc>
                <a:tc>
                  <a:txBody>
                    <a:bodyPr/>
                    <a:lstStyle/>
                    <a:p>
                      <a:pPr algn="ctr">
                        <a:defRPr sz="1000">
                          <a:solidFill>
                            <a:srgbClr val="FFFFFF"/>
                          </a:solidFill>
                          <a:latin typeface="Inter"/>
                        </a:defRPr>
                      </a:pPr>
                      <a:r>
                        <a:t>0.9802</a:t>
                      </a:r>
                    </a:p>
                  </a:txBody>
                  <a:tcPr>
                    <a:solidFill>
                      <a:srgbClr val="2C458A"/>
                    </a:solidFill>
                  </a:tcPr>
                </a:tc>
                <a:tc>
                  <a:txBody>
                    <a:bodyPr/>
                    <a:lstStyle/>
                    <a:p>
                      <a:pPr algn="ctr">
                        <a:defRPr sz="1000">
                          <a:solidFill>
                            <a:srgbClr val="FFFFFF"/>
                          </a:solidFill>
                          <a:latin typeface="Inter"/>
                        </a:defRPr>
                      </a:pPr>
                      <a:r>
                        <a:t>1,275</a:t>
                      </a:r>
                    </a:p>
                  </a:txBody>
                  <a:tcPr>
                    <a:solidFill>
                      <a:srgbClr val="2C458A"/>
                    </a:solidFill>
                  </a:tcPr>
                </a:tc>
              </a:tr>
              <a:tr h="502920">
                <a:tc>
                  <a:txBody>
                    <a:bodyPr/>
                    <a:lstStyle/>
                    <a:p>
                      <a:pPr algn="ctr">
                        <a:defRPr sz="1000">
                          <a:solidFill>
                            <a:srgbClr val="FFFFFF"/>
                          </a:solidFill>
                          <a:latin typeface="Inter"/>
                        </a:defRPr>
                      </a:pPr>
                      <a:r>
                        <a:t>RVR</a:t>
                      </a:r>
                    </a:p>
                  </a:txBody>
                  <a:tcPr>
                    <a:solidFill>
                      <a:srgbClr val="2C458A"/>
                    </a:solidFill>
                  </a:tcPr>
                </a:tc>
                <a:tc>
                  <a:txBody>
                    <a:bodyPr/>
                    <a:lstStyle/>
                    <a:p>
                      <a:pPr algn="ctr">
                        <a:defRPr sz="1000">
                          <a:solidFill>
                            <a:srgbClr val="FFFFFF"/>
                          </a:solidFill>
                          <a:latin typeface="Inter"/>
                        </a:defRPr>
                      </a:pPr>
                      <a:r>
                        <a:t>G4: SS-PR-BFT</a:t>
                      </a:r>
                    </a:p>
                  </a:txBody>
                  <a:tcPr>
                    <a:solidFill>
                      <a:srgbClr val="2C458A"/>
                    </a:solidFill>
                  </a:tcPr>
                </a:tc>
                <a:tc>
                  <a:txBody>
                    <a:bodyPr/>
                    <a:lstStyle/>
                    <a:p>
                      <a:pPr algn="ctr">
                        <a:defRPr sz="1000">
                          <a:solidFill>
                            <a:srgbClr val="FFFFFF"/>
                          </a:solidFill>
                          <a:latin typeface="Inter"/>
                        </a:defRPr>
                      </a:pPr>
                      <a:r>
                        <a:t>200 ms</a:t>
                      </a:r>
                    </a:p>
                  </a:txBody>
                  <a:tcPr>
                    <a:solidFill>
                      <a:srgbClr val="2C458A"/>
                    </a:solidFill>
                  </a:tcPr>
                </a:tc>
                <a:tc>
                  <a:txBody>
                    <a:bodyPr/>
                    <a:lstStyle/>
                    <a:p>
                      <a:pPr algn="ctr">
                        <a:defRPr sz="1000">
                          <a:solidFill>
                            <a:srgbClr val="FFFFFF"/>
                          </a:solidFill>
                          <a:latin typeface="Inter"/>
                        </a:defRPr>
                      </a:pPr>
                      <a:r>
                        <a:t>250.0</a:t>
                      </a:r>
                    </a:p>
                  </a:txBody>
                  <a:tcPr>
                    <a:solidFill>
                      <a:srgbClr val="2C458A"/>
                    </a:solidFill>
                  </a:tcPr>
                </a:tc>
                <a:tc>
                  <a:txBody>
                    <a:bodyPr/>
                    <a:lstStyle/>
                    <a:p>
                      <a:pPr algn="ctr">
                        <a:defRPr sz="1000">
                          <a:solidFill>
                            <a:srgbClr val="FFFFFF"/>
                          </a:solidFill>
                          <a:latin typeface="Inter"/>
                        </a:defRPr>
                      </a:pPr>
                      <a:r>
                        <a:t>4</a:t>
                      </a:r>
                    </a:p>
                  </a:txBody>
                  <a:tcPr>
                    <a:solidFill>
                      <a:srgbClr val="2C458A"/>
                    </a:solidFill>
                  </a:tcPr>
                </a:tc>
                <a:tc>
                  <a:txBody>
                    <a:bodyPr/>
                    <a:lstStyle/>
                    <a:p>
                      <a:pPr algn="ctr">
                        <a:defRPr sz="1000">
                          <a:solidFill>
                            <a:srgbClr val="FFFFFF"/>
                          </a:solidFill>
                          <a:latin typeface="Inter"/>
                        </a:defRPr>
                      </a:pPr>
                      <a:r>
                        <a:t>0.0101</a:t>
                      </a:r>
                    </a:p>
                  </a:txBody>
                  <a:tcPr>
                    <a:solidFill>
                      <a:srgbClr val="2C458A"/>
                    </a:solidFill>
                  </a:tcPr>
                </a:tc>
                <a:tc>
                  <a:txBody>
                    <a:bodyPr/>
                    <a:lstStyle/>
                    <a:p>
                      <a:pPr algn="ctr">
                        <a:defRPr sz="1000">
                          <a:solidFill>
                            <a:srgbClr val="FFFFFF"/>
                          </a:solidFill>
                          <a:latin typeface="Inter"/>
                        </a:defRPr>
                      </a:pPr>
                      <a:r>
                        <a:t>0.9899</a:t>
                      </a:r>
                    </a:p>
                  </a:txBody>
                  <a:tcPr>
                    <a:solidFill>
                      <a:srgbClr val="2C458A"/>
                    </a:solidFill>
                  </a:tcPr>
                </a:tc>
                <a:tc>
                  <a:txBody>
                    <a:bodyPr/>
                    <a:lstStyle/>
                    <a:p>
                      <a:pPr algn="ctr">
                        <a:defRPr sz="1000">
                          <a:solidFill>
                            <a:srgbClr val="FFFFFF"/>
                          </a:solidFill>
                          <a:latin typeface="Inter"/>
                        </a:defRPr>
                      </a:pPr>
                      <a:r>
                        <a:t>1,020</a:t>
                      </a:r>
                    </a:p>
                  </a:txBody>
                  <a:tcPr>
                    <a:solidFill>
                      <a:srgbClr val="2C458A"/>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82880"/>
            <a:ext cx="10972800" cy="548640"/>
          </a:xfrm>
          <a:prstGeom prst="rect">
            <a:avLst/>
          </a:prstGeom>
          <a:noFill/>
        </p:spPr>
        <p:txBody>
          <a:bodyPr wrap="square" lIns="45720" rIns="45720">
            <a:spAutoFit/>
          </a:bodyPr>
          <a:lstStyle/>
          <a:p>
            <a:pPr algn="l">
              <a:defRPr sz="2400" b="1">
                <a:solidFill>
                  <a:srgbClr val="0284C7"/>
                </a:solidFill>
                <a:latin typeface="Outfit"/>
              </a:defRPr>
            </a:pPr>
            <a:r>
              <a:t>9. Results &amp; Discussion: Latency and Security Curves</a:t>
            </a:r>
          </a:p>
        </p:txBody>
      </p:sp>
      <p:sp>
        <p:nvSpPr>
          <p:cNvPr id="4" name="TextBox 3"/>
          <p:cNvSpPr txBox="1"/>
          <p:nvPr/>
        </p:nvSpPr>
        <p:spPr>
          <a:xfrm>
            <a:off x="457200" y="1188720"/>
            <a:ext cx="5303520" cy="4572000"/>
          </a:xfrm>
          <a:prstGeom prst="rect">
            <a:avLst/>
          </a:prstGeom>
          <a:noFill/>
        </p:spPr>
        <p:txBody>
          <a:bodyPr wrap="square" lIns="45720" rIns="45720">
            <a:spAutoFit/>
          </a:bodyPr>
          <a:lstStyle/>
          <a:p>
            <a:pPr>
              <a:defRPr sz="1500" b="0">
                <a:solidFill>
                  <a:srgbClr val="0F172A"/>
                </a:solidFill>
                <a:latin typeface="Inter"/>
              </a:defRPr>
            </a:pPr>
            <a:r>
              <a:t>Consensus Latency (Left Plot):</a:t>
            </a:r>
          </a:p>
          <a:p>
            <a:pPr>
              <a:defRPr sz="1500" b="0">
                <a:solidFill>
                  <a:srgbClr val="0F172A"/>
                </a:solidFill>
                <a:latin typeface="Inter"/>
              </a:defRPr>
            </a:pPr>
            <a:r>
              <a:t>  • OM(m) grows exponentially, hitting 43.35s</a:t>
            </a:r>
          </a:p>
          <a:p>
            <a:pPr>
              <a:defRPr sz="1500" b="0">
                <a:solidFill>
                  <a:srgbClr val="0F172A"/>
                </a:solidFill>
                <a:latin typeface="Inter"/>
              </a:defRPr>
            </a:pPr>
            <a:r>
              <a:t>  • Tower BFT stays flat sub-250ms due to PoH pipelining</a:t>
            </a:r>
          </a:p>
          <a:p>
            <a:pPr>
              <a:defRPr sz="1500" b="0">
                <a:solidFill>
                  <a:srgbClr val="0F172A"/>
                </a:solidFill>
                <a:latin typeface="Inter"/>
              </a:defRPr>
            </a:pPr>
          </a:p>
          <a:p>
            <a:pPr>
              <a:defRPr sz="1500" b="0">
                <a:solidFill>
                  <a:srgbClr val="0F172A"/>
                </a:solidFill>
                <a:latin typeface="Inter"/>
              </a:defRPr>
            </a:pPr>
            <a:r>
              <a:t>Static-Temporal Security (Right Plot):</a:t>
            </a:r>
          </a:p>
          <a:p>
            <a:pPr>
              <a:defRPr sz="1500" b="0">
                <a:solidFill>
                  <a:srgbClr val="0F172A"/>
                </a:solidFill>
                <a:latin typeface="Inter"/>
              </a:defRPr>
            </a:pPr>
            <a:r>
              <a:t>  • CFM-BA (Group 1) collapses to ~0.01 under faults due to 867 attempts</a:t>
            </a:r>
          </a:p>
          <a:p>
            <a:pPr>
              <a:defRPr sz="1500" b="0">
                <a:solidFill>
                  <a:srgbClr val="0F172A"/>
                </a:solidFill>
                <a:latin typeface="Inter"/>
              </a:defRPr>
            </a:pPr>
            <a:r>
              <a:t>  • CDC-C (Group 2) and HTC-PBFT (Group 3) achieve intermediate bounds</a:t>
            </a:r>
          </a:p>
          <a:p>
            <a:pPr>
              <a:defRPr sz="1500" b="0">
                <a:solidFill>
                  <a:srgbClr val="0F172A"/>
                </a:solidFill>
                <a:latin typeface="Inter"/>
              </a:defRPr>
            </a:pPr>
            <a:r>
              <a:t>  • SS-PR-BFT (Group 4) maintains high P_secure &gt;= 0.98</a:t>
            </a:r>
          </a:p>
        </p:txBody>
      </p:sp>
      <p:pic>
        <p:nvPicPr>
          <p:cNvPr id="5" name="Picture 4" descr="comparison_temporal_decay.png"/>
          <p:cNvPicPr>
            <a:picLocks noChangeAspect="1"/>
          </p:cNvPicPr>
          <p:nvPr/>
        </p:nvPicPr>
        <p:blipFill>
          <a:blip r:embed="rId3"/>
          <a:stretch>
            <a:fillRect/>
          </a:stretch>
        </p:blipFill>
        <p:spPr>
          <a:xfrm>
            <a:off x="5943600" y="1188720"/>
            <a:ext cx="5760720" cy="3200400"/>
          </a:xfrm>
          <a:prstGeom prst="rect">
            <a:avLst/>
          </a:prstGeom>
        </p:spPr>
      </p:pic>
      <p:sp>
        <p:nvSpPr>
          <p:cNvPr id="6" name="TextBox 5"/>
          <p:cNvSpPr txBox="1"/>
          <p:nvPr/>
        </p:nvSpPr>
        <p:spPr>
          <a:xfrm>
            <a:off x="5943600" y="4480559"/>
            <a:ext cx="5760720" cy="274320"/>
          </a:xfrm>
          <a:prstGeom prst="rect">
            <a:avLst/>
          </a:prstGeom>
          <a:noFill/>
        </p:spPr>
        <p:txBody>
          <a:bodyPr wrap="square" lIns="45720" rIns="45720">
            <a:spAutoFit/>
          </a:bodyPr>
          <a:lstStyle/>
          <a:p>
            <a:pPr algn="ctr">
              <a:defRPr sz="1000" b="0">
                <a:solidFill>
                  <a:srgbClr val="334155"/>
                </a:solidFill>
                <a:latin typeface="Outfit"/>
              </a:defRPr>
            </a:pPr>
            <a:r>
              <a:t>Figure 1: P_temporal Decay Curves with Operating Points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82880"/>
            <a:ext cx="10972800" cy="548640"/>
          </a:xfrm>
          <a:prstGeom prst="rect">
            <a:avLst/>
          </a:prstGeom>
          <a:noFill/>
        </p:spPr>
        <p:txBody>
          <a:bodyPr wrap="square" lIns="45720" rIns="45720">
            <a:spAutoFit/>
          </a:bodyPr>
          <a:lstStyle/>
          <a:p>
            <a:pPr algn="l">
              <a:defRPr sz="2400" b="1">
                <a:solidFill>
                  <a:srgbClr val="0284C7"/>
                </a:solidFill>
                <a:latin typeface="Outfit"/>
              </a:defRPr>
            </a:pPr>
            <a:r>
              <a:t>9. Results &amp; Discussion: Heatmap and Radar</a:t>
            </a:r>
          </a:p>
        </p:txBody>
      </p:sp>
      <p:pic>
        <p:nvPicPr>
          <p:cNvPr id="4" name="Picture 3" descr="comparison_heatmap.png"/>
          <p:cNvPicPr>
            <a:picLocks noChangeAspect="1"/>
          </p:cNvPicPr>
          <p:nvPr/>
        </p:nvPicPr>
        <p:blipFill>
          <a:blip r:embed="rId3"/>
          <a:stretch>
            <a:fillRect/>
          </a:stretch>
        </p:blipFill>
        <p:spPr>
          <a:xfrm>
            <a:off x="457200" y="1371600"/>
            <a:ext cx="5486400" cy="2743200"/>
          </a:xfrm>
          <a:prstGeom prst="rect">
            <a:avLst/>
          </a:prstGeom>
        </p:spPr>
      </p:pic>
      <p:sp>
        <p:nvSpPr>
          <p:cNvPr id="5" name="TextBox 4"/>
          <p:cNvSpPr txBox="1"/>
          <p:nvPr/>
        </p:nvSpPr>
        <p:spPr>
          <a:xfrm>
            <a:off x="457200" y="4206240"/>
            <a:ext cx="5486400" cy="274320"/>
          </a:xfrm>
          <a:prstGeom prst="rect">
            <a:avLst/>
          </a:prstGeom>
          <a:noFill/>
        </p:spPr>
        <p:txBody>
          <a:bodyPr wrap="square" lIns="45720" rIns="45720">
            <a:spAutoFit/>
          </a:bodyPr>
          <a:lstStyle/>
          <a:p>
            <a:pPr algn="ctr">
              <a:defRPr sz="1000" b="0">
                <a:solidFill>
                  <a:srgbClr val="334155"/>
                </a:solidFill>
                <a:latin typeface="Outfit"/>
              </a:defRPr>
            </a:pPr>
            <a:r>
              <a:t>Figure 2: Performance Heatmap (Normalized)</a:t>
            </a:r>
          </a:p>
        </p:txBody>
      </p:sp>
      <p:pic>
        <p:nvPicPr>
          <p:cNvPr id="6" name="Picture 5" descr="comparison_radar.png"/>
          <p:cNvPicPr>
            <a:picLocks noChangeAspect="1"/>
          </p:cNvPicPr>
          <p:nvPr/>
        </p:nvPicPr>
        <p:blipFill>
          <a:blip r:embed="rId4"/>
          <a:stretch>
            <a:fillRect/>
          </a:stretch>
        </p:blipFill>
        <p:spPr>
          <a:xfrm>
            <a:off x="6583680" y="1097280"/>
            <a:ext cx="4572000" cy="4572000"/>
          </a:xfrm>
          <a:prstGeom prst="rect">
            <a:avLst/>
          </a:prstGeom>
        </p:spPr>
      </p:pic>
      <p:sp>
        <p:nvSpPr>
          <p:cNvPr id="7" name="TextBox 6"/>
          <p:cNvSpPr txBox="1"/>
          <p:nvPr/>
        </p:nvSpPr>
        <p:spPr>
          <a:xfrm>
            <a:off x="6583680" y="5760720"/>
            <a:ext cx="4572000" cy="274320"/>
          </a:xfrm>
          <a:prstGeom prst="rect">
            <a:avLst/>
          </a:prstGeom>
          <a:noFill/>
        </p:spPr>
        <p:txBody>
          <a:bodyPr wrap="square" lIns="45720" rIns="45720">
            <a:spAutoFit/>
          </a:bodyPr>
          <a:lstStyle/>
          <a:p>
            <a:pPr algn="ctr">
              <a:defRPr sz="1000" b="0">
                <a:solidFill>
                  <a:srgbClr val="334155"/>
                </a:solidFill>
                <a:latin typeface="Outfit"/>
              </a:defRPr>
            </a:pPr>
            <a:r>
              <a:t>Figure 3: Multi-Dimensional Tradeoff Radar Chart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82880"/>
            <a:ext cx="10972800" cy="548640"/>
          </a:xfrm>
          <a:prstGeom prst="rect">
            <a:avLst/>
          </a:prstGeom>
          <a:noFill/>
        </p:spPr>
        <p:txBody>
          <a:bodyPr wrap="square" lIns="45720" rIns="45720">
            <a:spAutoFit/>
          </a:bodyPr>
          <a:lstStyle/>
          <a:p>
            <a:pPr algn="l">
              <a:defRPr sz="2400" b="1">
                <a:solidFill>
                  <a:srgbClr val="0284C7"/>
                </a:solidFill>
                <a:latin typeface="Outfit"/>
              </a:defRPr>
            </a:pPr>
            <a:r>
              <a:t>9. Results &amp; Discussion: Key Management Thresholds</a:t>
            </a:r>
          </a:p>
        </p:txBody>
      </p:sp>
      <p:sp>
        <p:nvSpPr>
          <p:cNvPr id="4" name="TextBox 3"/>
          <p:cNvSpPr txBox="1"/>
          <p:nvPr/>
        </p:nvSpPr>
        <p:spPr>
          <a:xfrm>
            <a:off x="457200" y="1188720"/>
            <a:ext cx="5303520" cy="4572000"/>
          </a:xfrm>
          <a:prstGeom prst="rect">
            <a:avLst/>
          </a:prstGeom>
          <a:noFill/>
        </p:spPr>
        <p:txBody>
          <a:bodyPr wrap="square" lIns="45720" rIns="45720">
            <a:spAutoFit/>
          </a:bodyPr>
          <a:lstStyle/>
          <a:p>
            <a:pPr>
              <a:defRPr sz="1500" b="0">
                <a:solidFill>
                  <a:srgbClr val="0F172A"/>
                </a:solidFill>
                <a:latin typeface="Inter"/>
              </a:defRPr>
            </a:pPr>
            <a:r>
              <a:t>Baseline paper assumed constant receiver risk P_R = 0.01</a:t>
            </a:r>
          </a:p>
          <a:p>
            <a:pPr>
              <a:defRPr sz="1500" b="0">
                <a:solidFill>
                  <a:srgbClr val="0F172A"/>
                </a:solidFill>
                <a:latin typeface="Inter"/>
              </a:defRPr>
            </a:pPr>
            <a:r>
              <a:t>We model threshold cryptography: Shamir Secret Sharing (k, d)</a:t>
            </a:r>
          </a:p>
          <a:p>
            <a:pPr>
              <a:defRPr sz="1500" b="0">
                <a:solidFill>
                  <a:srgbClr val="0F172A"/>
                </a:solidFill>
                <a:latin typeface="Inter"/>
              </a:defRPr>
            </a:pPr>
            <a:r>
              <a:t>Probability of compromise derived using Binomial CDF:</a:t>
            </a:r>
          </a:p>
          <a:p>
            <a:pPr>
              <a:defRPr sz="1500" b="0">
                <a:solidFill>
                  <a:srgbClr val="0F172A"/>
                </a:solidFill>
                <a:latin typeface="Inter"/>
              </a:defRPr>
            </a:pPr>
            <a:r>
              <a:t>  P_R,shamir = sum_{i=k}^{d} (d choose i) * P_R^i * (1-P_R)^(d-i)</a:t>
            </a:r>
          </a:p>
          <a:p>
            <a:pPr>
              <a:defRPr sz="1500" b="0">
                <a:solidFill>
                  <a:srgbClr val="0F172A"/>
                </a:solidFill>
                <a:latin typeface="Inter"/>
              </a:defRPr>
            </a:pPr>
          </a:p>
          <a:p>
            <a:pPr>
              <a:defRPr sz="1500" b="0">
                <a:solidFill>
                  <a:srgbClr val="0F172A"/>
                </a:solidFill>
                <a:latin typeface="Inter"/>
              </a:defRPr>
            </a:pPr>
            <a:r>
              <a:t>For a (3, 5) threshold setup:</a:t>
            </a:r>
          </a:p>
          <a:p>
            <a:pPr>
              <a:defRPr sz="1500" b="0">
                <a:solidFill>
                  <a:srgbClr val="0F172A"/>
                </a:solidFill>
                <a:latin typeface="Inter"/>
              </a:defRPr>
            </a:pPr>
            <a:r>
              <a:t>  • Receiver compromise probability drops to 9.85 x 10⁻⁶</a:t>
            </a:r>
          </a:p>
          <a:p>
            <a:pPr>
              <a:defRPr sz="1500" b="0">
                <a:solidFill>
                  <a:srgbClr val="0F172A"/>
                </a:solidFill>
                <a:latin typeface="Inter"/>
              </a:defRPr>
            </a:pPr>
            <a:r>
              <a:t>  • Over 1,000x reduction in validator compromise risk!</a:t>
            </a:r>
          </a:p>
          <a:p>
            <a:pPr>
              <a:defRPr sz="1500" b="0">
                <a:solidFill>
                  <a:srgbClr val="0F172A"/>
                </a:solidFill>
                <a:latin typeface="Inter"/>
              </a:defRPr>
            </a:pPr>
            <a:r>
              <a:t>  • Directly reinforces the blockchain static barrier P_Rb (Eq. 20)</a:t>
            </a:r>
          </a:p>
        </p:txBody>
      </p:sp>
      <p:pic>
        <p:nvPicPr>
          <p:cNvPr id="5" name="Picture 4" descr="analytical_key_management.png"/>
          <p:cNvPicPr>
            <a:picLocks noChangeAspect="1"/>
          </p:cNvPicPr>
          <p:nvPr/>
        </p:nvPicPr>
        <p:blipFill>
          <a:blip r:embed="rId3"/>
          <a:stretch>
            <a:fillRect/>
          </a:stretch>
        </p:blipFill>
        <p:spPr>
          <a:xfrm>
            <a:off x="5943600" y="1188720"/>
            <a:ext cx="5486400" cy="4114800"/>
          </a:xfrm>
          <a:prstGeom prst="rect">
            <a:avLst/>
          </a:prstGeom>
        </p:spPr>
      </p:pic>
      <p:sp>
        <p:nvSpPr>
          <p:cNvPr id="6" name="TextBox 5"/>
          <p:cNvSpPr txBox="1"/>
          <p:nvPr/>
        </p:nvSpPr>
        <p:spPr>
          <a:xfrm>
            <a:off x="5943600" y="5394959"/>
            <a:ext cx="5486400" cy="274320"/>
          </a:xfrm>
          <a:prstGeom prst="rect">
            <a:avLst/>
          </a:prstGeom>
          <a:noFill/>
        </p:spPr>
        <p:txBody>
          <a:bodyPr wrap="square" lIns="45720" rIns="45720">
            <a:spAutoFit/>
          </a:bodyPr>
          <a:lstStyle/>
          <a:p>
            <a:pPr algn="ctr">
              <a:defRPr sz="1000" b="0">
                <a:solidFill>
                  <a:srgbClr val="334155"/>
                </a:solidFill>
                <a:latin typeface="Outfit"/>
              </a:defRPr>
            </a:pPr>
            <a:r>
              <a:t>Figure 4: Effective P_R vs. Threshold size (k, 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10. Next Steps</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4754880"/>
          </a:xfrm>
          <a:prstGeom prst="rect">
            <a:avLst/>
          </a:prstGeom>
          <a:noFill/>
        </p:spPr>
        <p:txBody>
          <a:bodyPr wrap="square" lIns="45720" rIns="45720">
            <a:spAutoFit/>
          </a:bodyPr>
          <a:lstStyle/>
          <a:p>
            <a:pPr>
              <a:defRPr sz="1600" b="1">
                <a:solidFill>
                  <a:srgbClr val="0F172A"/>
                </a:solidFill>
                <a:latin typeface="Inter"/>
              </a:defRPr>
            </a:pPr>
            <a:r>
              <a:t>Planned Research Activities:</a:t>
            </a:r>
          </a:p>
          <a:p>
            <a:pPr lvl="1">
              <a:defRPr sz="1500">
                <a:solidFill>
                  <a:srgbClr val="334155"/>
                </a:solidFill>
                <a:latin typeface="Inter"/>
              </a:defRPr>
            </a:pPr>
            <a:r>
              <a:t>Complete the draft of the research paper for submission to IEEE Transactions</a:t>
            </a:r>
          </a:p>
          <a:p>
            <a:pPr lvl="1">
              <a:defRPr sz="1500">
                <a:solidFill>
                  <a:srgbClr val="334155"/>
                </a:solidFill>
                <a:latin typeface="Inter"/>
              </a:defRPr>
            </a:pPr>
            <a:r>
              <a:t>Perform network sensitivity analysis: sweeping packet loss rate (0% to 20%) and network delay jitter</a:t>
            </a:r>
          </a:p>
          <a:p>
            <a:pPr lvl="1">
              <a:defRPr sz="1500">
                <a:solidFill>
                  <a:srgbClr val="334155"/>
                </a:solidFill>
                <a:latin typeface="Inter"/>
              </a:defRPr>
            </a:pPr>
            <a:r>
              <a:t>Model view-change latency overhead under high leader failure scenarios (f &gt; 16)</a:t>
            </a:r>
          </a:p>
          <a:p>
            <a:pPr>
              <a:defRPr sz="1600" b="1">
                <a:solidFill>
                  <a:srgbClr val="0F172A"/>
                </a:solidFill>
                <a:latin typeface="Inter"/>
              </a:defRPr>
            </a:pPr>
            <a:r>
              <a:t>Pending Milestones:</a:t>
            </a:r>
          </a:p>
          <a:p>
            <a:pPr lvl="1">
              <a:defRPr sz="1500">
                <a:solidFill>
                  <a:srgbClr val="334155"/>
                </a:solidFill>
                <a:latin typeface="Inter"/>
              </a:defRPr>
            </a:pPr>
            <a:r>
              <a:t>Integrate hybrid consensus (Hierarchical clustering + Sub-Second finality)</a:t>
            </a:r>
          </a:p>
          <a:p>
            <a:pPr lvl="1">
              <a:defRPr sz="1500">
                <a:solidFill>
                  <a:srgbClr val="334155"/>
                </a:solidFill>
                <a:latin typeface="Inter"/>
              </a:defRPr>
            </a:pPr>
            <a:r>
              <a:t>Resolve code performance optimizations for the smart grid simulation tool</a:t>
            </a:r>
          </a:p>
          <a:p>
            <a:pPr lvl="1">
              <a:defRPr sz="1500">
                <a:solidFill>
                  <a:srgbClr val="334155"/>
                </a:solidFill>
                <a:latin typeface="Inter"/>
              </a:defRPr>
            </a:pPr>
            <a:r>
              <a:t>Final thesis report submission to VJTI Department of Electrical Engineering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11. Conclusion</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4754880"/>
          </a:xfrm>
          <a:prstGeom prst="rect">
            <a:avLst/>
          </a:prstGeom>
          <a:noFill/>
        </p:spPr>
        <p:txBody>
          <a:bodyPr wrap="square" lIns="45720" rIns="45720">
            <a:spAutoFit/>
          </a:bodyPr>
          <a:lstStyle/>
          <a:p>
            <a:pPr>
              <a:defRPr sz="1500" b="1">
                <a:solidFill>
                  <a:srgbClr val="0F172A"/>
                </a:solidFill>
                <a:latin typeface="Inter"/>
              </a:defRPr>
            </a:pPr>
            <a:r>
              <a:t>Summary of Work Completed:</a:t>
            </a:r>
          </a:p>
          <a:p>
            <a:pPr lvl="1">
              <a:defRPr sz="1400">
                <a:solidFill>
                  <a:srgbClr val="334155"/>
                </a:solidFill>
                <a:latin typeface="Inter"/>
              </a:defRPr>
            </a:pPr>
            <a:r>
              <a:t>Derived exact analytical proofs for latency and throughput, addressing Sheikh's static model gaps</a:t>
            </a:r>
          </a:p>
          <a:p>
            <a:pPr lvl="1">
              <a:defRPr sz="1400">
                <a:solidFill>
                  <a:srgbClr val="334155"/>
                </a:solidFill>
                <a:latin typeface="Inter"/>
              </a:defRPr>
            </a:pPr>
            <a:r>
              <a:t>Formulated the Static-Temporal Security Framework (STSF) to model latency-induced vulnerability</a:t>
            </a:r>
          </a:p>
          <a:p>
            <a:pPr lvl="1">
              <a:defRPr sz="1400">
                <a:solidFill>
                  <a:srgbClr val="334155"/>
                </a:solidFill>
                <a:latin typeface="Inter"/>
              </a:defRPr>
            </a:pPr>
            <a:r>
              <a:t>Evaluated 8 algorithms in 4 groups (CFM-BA, CDC-C, HTC-PBFT, SS-PR-BFT) on identical grid parameters</a:t>
            </a:r>
          </a:p>
          <a:p>
            <a:pPr lvl="1">
              <a:defRPr sz="1400">
                <a:solidFill>
                  <a:srgbClr val="334155"/>
                </a:solidFill>
                <a:latin typeface="Inter"/>
              </a:defRPr>
            </a:pPr>
            <a:r>
              <a:t>Proved that Sub-Second protocols (Group 4) maintain P_secure &gt;= 0.98 by limiting attack attempts to N=4</a:t>
            </a:r>
          </a:p>
          <a:p>
            <a:pPr>
              <a:defRPr sz="1500" b="1">
                <a:solidFill>
                  <a:srgbClr val="0F172A"/>
                </a:solidFill>
                <a:latin typeface="Inter"/>
              </a:defRPr>
            </a:pPr>
            <a:r>
              <a:t>Key Deployment Recommendations:</a:t>
            </a:r>
          </a:p>
          <a:p>
            <a:pPr lvl="1">
              <a:defRPr sz="1400">
                <a:solidFill>
                  <a:srgbClr val="334155"/>
                </a:solidFill>
                <a:latin typeface="Inter"/>
              </a:defRPr>
            </a:pPr>
            <a:r>
              <a:t>For modern 5G grids: Deploy Group 4 (Tower BFT, RVR) to support 250 TPS with low vulnerability</a:t>
            </a:r>
          </a:p>
          <a:p>
            <a:pPr lvl="1">
              <a:defRPr sz="1400">
                <a:solidFill>
                  <a:srgbClr val="334155"/>
                </a:solidFill>
                <a:latin typeface="Inter"/>
              </a:defRPr>
            </a:pPr>
            <a:r>
              <a:t>For legacy SCADA grids: Deploy Group 3 (Hierarchical HTC-PBFT) to achieve P_secure &gt; 0.92 without sub-ms sync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12. References</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4754880"/>
          </a:xfrm>
          <a:prstGeom prst="rect">
            <a:avLst/>
          </a:prstGeom>
          <a:noFill/>
        </p:spPr>
        <p:txBody>
          <a:bodyPr wrap="square" lIns="45720" rIns="45720">
            <a:spAutoFit/>
          </a:bodyPr>
          <a:lstStyle/>
          <a:p>
            <a:pPr>
              <a:defRPr sz="1200" b="0">
                <a:solidFill>
                  <a:srgbClr val="334155"/>
                </a:solidFill>
                <a:latin typeface="Inter"/>
              </a:defRPr>
            </a:pPr>
            <a:r>
              <a:t>[1] A. Sheikh et al., 'Secured Energy Trading Using Byzantine-Based Blockchain Consensus,' IEEE Access, vol. 8, 2020.</a:t>
            </a:r>
          </a:p>
          <a:p>
            <a:pPr>
              <a:defRPr sz="1200" b="0">
                <a:solidFill>
                  <a:srgbClr val="334155"/>
                </a:solidFill>
                <a:latin typeface="Inter"/>
              </a:defRPr>
            </a:pPr>
            <a:r>
              <a:t>[2] L. Lamport et al., 'The Byzantine Generals Problem,' ACM TOPLAS, vol. 4, no. 3, 1982.</a:t>
            </a:r>
          </a:p>
          <a:p>
            <a:pPr>
              <a:defRPr sz="1200" b="0">
                <a:solidFill>
                  <a:srgbClr val="334155"/>
                </a:solidFill>
                <a:latin typeface="Inter"/>
              </a:defRPr>
            </a:pPr>
            <a:r>
              <a:t>[3] M. Castro and B. Liskov, 'Practical Byzantine Fault Tolerance,' in Proc. OSDI, 1999.</a:t>
            </a:r>
          </a:p>
          <a:p>
            <a:pPr>
              <a:defRPr sz="1200" b="0">
                <a:solidFill>
                  <a:srgbClr val="334155"/>
                </a:solidFill>
                <a:latin typeface="Inter"/>
              </a:defRPr>
            </a:pPr>
            <a:r>
              <a:t>[4] X. Ding et al., 'CE-PBFT: An Optimized PBFT Consensus Algorithm for Microgrid Power Trading,' IEEE Trans. Smart Grid, 2024.</a:t>
            </a:r>
          </a:p>
          <a:p>
            <a:pPr>
              <a:defRPr sz="1200" b="0">
                <a:solidFill>
                  <a:srgbClr val="334155"/>
                </a:solidFill>
                <a:latin typeface="Inter"/>
              </a:defRPr>
            </a:pPr>
            <a:r>
              <a:t>[5] Z. Xu et al., 'G-PBFT Algorithm and its Application in Distributed Energy Trading,' Applied Energy, 2025.</a:t>
            </a:r>
          </a:p>
          <a:p>
            <a:pPr>
              <a:defRPr sz="1200" b="0">
                <a:solidFill>
                  <a:srgbClr val="334155"/>
                </a:solidFill>
                <a:latin typeface="Inter"/>
              </a:defRPr>
            </a:pPr>
            <a:r>
              <a:t>[6] Y. Suo et al., 'SV-PBFT: An Efficient and Stable Blockchain PBFT Improved Consensus Algorithm for Vehicle-to-Vehicle Energy Transactions,' IEEE IoT Journal, 2025.</a:t>
            </a:r>
          </a:p>
          <a:p>
            <a:pPr>
              <a:defRPr sz="1200" b="0">
                <a:solidFill>
                  <a:srgbClr val="334155"/>
                </a:solidFill>
                <a:latin typeface="Inter"/>
              </a:defRPr>
            </a:pPr>
            <a:r>
              <a:t>[7] A. Yakovenko, 'Solana: A new architecture for a high performance blockchain,' Solana Whitepaper, 2018.</a:t>
            </a:r>
          </a:p>
          <a:p>
            <a:pPr>
              <a:defRPr sz="1200" b="0">
                <a:solidFill>
                  <a:srgbClr val="334155"/>
                </a:solidFill>
                <a:latin typeface="Inter"/>
              </a:defRPr>
            </a:pPr>
            <a:r>
              <a:t>[8] H. Wang et al., 'RVR Consensus: A Verifiable, Weighted-Random, Byzantine-Tolerant Smart Grid Framework,' IEEE TPDS,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