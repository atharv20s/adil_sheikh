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research presentation on resolving the temporal vulnerability window in Byzantine-secured smart grid energy trading.</a:t>
            </a:r>
          </a:p>
          <a:p>
            <a:r>
              <a:t>This project introduces the Static-Temporal Security Framework to evaluate 8 consensus algorithms across 4 research groups. We are mentored by Uday sir and Sunny sir, and this work represents our findings for the Department of Electrical Engineering at VJTI.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begin with Slide 01: From Concept to Reality, which establishes the background. In modern distribution networks modeled on the IEEE 33-Bus topology, peer-to-peer energy trading is essential to integrate EV storage. However, smart meters are highly vulnerable to physical and cyber tampering. We implement blockchain consensus as the root of trust, requiring validator nodes to agree on the grid state before executing bids.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covers our Vision and Mission, framing the core problem statement. Blockchain is secure cryptographically, but consensus takes time. This latency creates an open window for successive False Data Injections. Our objective is to prove that consensus speed dictates physical security, and find the protocol that minimizes this temporal window.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focuses on the significance of the problem. False Data Injections cause physical destabilization: incorrect state-of-charge data triggers bad control actions, causing grid voltage sags. This occurs because grid transients happen in milliseconds while consensus takes seconds. Figure 1.2 shows the threat vector where the attacker exploits the slow block time to launch repeated injections.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details the Literature Critique and Proposed STSF Approach. We show that while Lamport's OM(m) achieves high static security, its 43-second block latency represents a huge temporal gap. We introduce the Static-Temporal Security Framework (STSF) that multiplies cryptographic strength by temporal safety. We sweep 8 algorithms classified into 4 research groups.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outlines our analytical methodology. Instead of relying solely on random simulations, we derive formal equations for latency and message counts. This ensures that our results are mathematically bounded and reproducible. We set validator nodes at 51 and faulty nodes at 16, which is the exact BFT threshold.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shows the complete comparative analysis results table. Here, we highlight the monotonic improvement from Group 1 to Group 4. Lamport OM(m) takes 43 seconds and supports only 1.2 TPS, leading to a secure probability of just 1.3%. Group 4 (Tower BFT and RVR) reduces latency to sub-250ms and achieves our security target of 98.02%.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represents triumphs and testimonials. Our major triumph is achieving a 98.02% security level. The right plot shows how the security decay occurs. Algorithms with high latency drop to the bottom, whereas our sub-second pipelined models remain safely on the far left of the security curve.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is a SWOT Analysis of smart grid BFT. Our strength is sub-second execution, while the weakness is classical BFT latency. We identify a major opportunity in key management, where threshold cryptography reduces validation keys risk by 1,000x. Our main threat is packet loss, which we mitigate with pipelined slots.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presents our timeline and progress updates. We successfully completed our modeling scripts in Weeks 1, 2, and 3. We are currently in Week 4, finalizing Shamir threshold integrations and preparing our draft report for department review.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conclude with Slide 11: Thank You. Consensus latency is the critical parameter governing physical smart grid security. We recommend Group 4 protocols for modern grids and Group 3 for legacy grids. I would like to thank our mentors, Uday sir and Sunny sir, and I am now open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Rounded Rectangle 2"/>
          <p:cNvSpPr/>
          <p:nvPr/>
        </p:nvSpPr>
        <p:spPr>
          <a:xfrm>
            <a:off x="731520" y="914400"/>
            <a:ext cx="10698480" cy="502920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280160"/>
            <a:ext cx="10058400" cy="1828800"/>
          </a:xfrm>
          <a:prstGeom prst="rect">
            <a:avLst/>
          </a:prstGeom>
          <a:noFill/>
        </p:spPr>
        <p:txBody>
          <a:bodyPr wrap="square">
            <a:spAutoFit/>
          </a:bodyPr>
          <a:lstStyle/>
          <a:p>
            <a:pPr algn="l">
              <a:defRPr sz="3200" b="1">
                <a:solidFill>
                  <a:srgbClr val="0F172A"/>
                </a:solidFill>
                <a:latin typeface="Outfit"/>
              </a:defRPr>
            </a:pPr>
            <a:r>
              <a:t>Resolving the Temporal Vulnerability Window in</a:t>
            </a:r>
            <a:br/>
            <a:r>
              <a:t>Byzantine-Secured Smart Grid Energy Trading</a:t>
            </a:r>
          </a:p>
        </p:txBody>
      </p:sp>
      <p:sp>
        <p:nvSpPr>
          <p:cNvPr id="5" name="Rectangle 4"/>
          <p:cNvSpPr/>
          <p:nvPr/>
        </p:nvSpPr>
        <p:spPr>
          <a:xfrm>
            <a:off x="1097280" y="3108960"/>
            <a:ext cx="365760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383280"/>
            <a:ext cx="10058400" cy="548640"/>
          </a:xfrm>
          <a:prstGeom prst="rect">
            <a:avLst/>
          </a:prstGeom>
          <a:noFill/>
        </p:spPr>
        <p:txBody>
          <a:bodyPr wrap="square">
            <a:spAutoFit/>
          </a:bodyPr>
          <a:lstStyle/>
          <a:p>
            <a:pPr algn="l">
              <a:defRPr sz="1800" b="0">
                <a:solidFill>
                  <a:srgbClr val="0D9488"/>
                </a:solidFill>
                <a:latin typeface="Outfit"/>
              </a:defRPr>
            </a:pPr>
            <a:r>
              <a:t>A Four-Group Evaluation Using the Static-Temporal Security Framework (STSF)</a:t>
            </a:r>
          </a:p>
        </p:txBody>
      </p:sp>
      <p:sp>
        <p:nvSpPr>
          <p:cNvPr id="7" name="TextBox 6"/>
          <p:cNvSpPr txBox="1"/>
          <p:nvPr/>
        </p:nvSpPr>
        <p:spPr>
          <a:xfrm>
            <a:off x="1097280" y="4297680"/>
            <a:ext cx="10058400" cy="1463040"/>
          </a:xfrm>
          <a:prstGeom prst="rect">
            <a:avLst/>
          </a:prstGeom>
          <a:noFill/>
        </p:spPr>
        <p:txBody>
          <a:bodyPr wrap="square">
            <a:spAutoFit/>
          </a:bodyPr>
          <a:lstStyle/>
          <a:p>
            <a:pPr algn="l">
              <a:defRPr sz="1500" b="0">
                <a:solidFill>
                  <a:srgbClr val="334155"/>
                </a:solidFill>
                <a:latin typeface="Outfit"/>
              </a:defRPr>
            </a:pPr>
            <a:r>
              <a:t>Presenter: VJTI Research Student</a:t>
            </a:r>
            <a:br/>
            <a:r>
              <a:t>Guide / Mentor: Uday sir and Sunny Sir</a:t>
            </a:r>
            <a:br/>
            <a:r>
              <a:t>Organization: Veermata Jijabai Technological Institute (VJTI) Mumbai</a:t>
            </a:r>
            <a:br/>
            <a:r>
              <a:t>Date: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365760"/>
          </a:xfrm>
          <a:prstGeom prst="rect">
            <a:avLst/>
          </a:prstGeom>
          <a:noFill/>
        </p:spPr>
        <p:txBody>
          <a:bodyPr wrap="square">
            <a:spAutoFit/>
          </a:bodyPr>
          <a:lstStyle/>
          <a:p>
            <a:pPr algn="l">
              <a:defRPr sz="1600" b="1">
                <a:solidFill>
                  <a:srgbClr val="0D9488"/>
                </a:solidFill>
                <a:latin typeface="Outfit"/>
              </a:defRPr>
            </a:pPr>
            <a:r>
              <a:t>01 / A CREATIVE JOURNEY</a:t>
            </a:r>
          </a:p>
        </p:txBody>
      </p:sp>
      <p:sp>
        <p:nvSpPr>
          <p:cNvPr id="4" name="TextBox 3"/>
          <p:cNvSpPr txBox="1"/>
          <p:nvPr/>
        </p:nvSpPr>
        <p:spPr>
          <a:xfrm>
            <a:off x="457200" y="548640"/>
            <a:ext cx="10972800" cy="548640"/>
          </a:xfrm>
          <a:prstGeom prst="rect">
            <a:avLst/>
          </a:prstGeom>
          <a:noFill/>
        </p:spPr>
        <p:txBody>
          <a:bodyPr wrap="square">
            <a:spAutoFit/>
          </a:bodyPr>
          <a:lstStyle/>
          <a:p>
            <a:pPr algn="l">
              <a:defRPr sz="2800" b="1">
                <a:solidFill>
                  <a:srgbClr val="0F172A"/>
                </a:solidFill>
                <a:latin typeface="Outfit"/>
              </a:defRPr>
            </a:pPr>
            <a:r>
              <a:t>FROM CONCEPT TO REALITY</a:t>
            </a:r>
          </a:p>
        </p:txBody>
      </p:sp>
      <p:sp>
        <p:nvSpPr>
          <p:cNvPr id="5" name="Rectangle 4"/>
          <p:cNvSpPr/>
          <p:nvPr/>
        </p:nvSpPr>
        <p:spPr>
          <a:xfrm>
            <a:off x="457200" y="1097280"/>
            <a:ext cx="22860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5303520" cy="48463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4937760" cy="4480560"/>
          </a:xfrm>
          <a:prstGeom prst="rect">
            <a:avLst/>
          </a:prstGeom>
          <a:noFill/>
        </p:spPr>
        <p:txBody>
          <a:bodyPr wrap="square">
            <a:spAutoFit/>
          </a:bodyPr>
          <a:lstStyle/>
          <a:p>
            <a:pPr>
              <a:spcBef>
                <a:spcPts val="800"/>
              </a:spcBef>
              <a:defRPr sz="1400" b="1">
                <a:solidFill>
                  <a:srgbClr val="0D9488"/>
                </a:solidFill>
                <a:latin typeface="Inter"/>
              </a:defRPr>
            </a:pPr>
            <a:r>
              <a:t>P2P Energy Trading in Smart Grids:</a:t>
            </a:r>
          </a:p>
          <a:p>
            <a:pPr lvl="1">
              <a:spcBef>
                <a:spcPts val="300"/>
              </a:spcBef>
              <a:defRPr sz="1300">
                <a:solidFill>
                  <a:srgbClr val="334155"/>
                </a:solidFill>
                <a:latin typeface="Inter"/>
              </a:defRPr>
            </a:pPr>
            <a:r>
              <a:t>Decentralized peer-to-peer (P2P) trading enables electric vehicles (EVs) to sell excess power back to Distribution Networks (DNs).</a:t>
            </a:r>
          </a:p>
          <a:p>
            <a:pPr lvl="1">
              <a:spcBef>
                <a:spcPts val="300"/>
              </a:spcBef>
              <a:defRPr sz="1300">
                <a:solidFill>
                  <a:srgbClr val="334155"/>
                </a:solidFill>
                <a:latin typeface="Inter"/>
              </a:defRPr>
            </a:pPr>
            <a:r>
              <a:t>This physical network operates under the standard IEEE 33-Bus distribution system topology.</a:t>
            </a:r>
          </a:p>
          <a:p>
            <a:pPr>
              <a:spcBef>
                <a:spcPts val="800"/>
              </a:spcBef>
              <a:defRPr sz="1400" b="1">
                <a:solidFill>
                  <a:srgbClr val="0D9488"/>
                </a:solidFill>
                <a:latin typeface="Inter"/>
              </a:defRPr>
            </a:pPr>
            <a:r>
              <a:t>Decentralized Trust Verification:</a:t>
            </a:r>
          </a:p>
          <a:p>
            <a:pPr lvl="1">
              <a:spcBef>
                <a:spcPts val="300"/>
              </a:spcBef>
              <a:defRPr sz="1300">
                <a:solidFill>
                  <a:srgbClr val="334155"/>
                </a:solidFill>
                <a:latin typeface="Inter"/>
              </a:defRPr>
            </a:pPr>
            <a:r>
              <a:t>Smart meters are deployed in untrusted consumer environments, making them highly vulnerable to hardware and data manipulation.</a:t>
            </a:r>
          </a:p>
          <a:p>
            <a:pPr lvl="1">
              <a:spcBef>
                <a:spcPts val="300"/>
              </a:spcBef>
              <a:defRPr sz="1300">
                <a:solidFill>
                  <a:srgbClr val="334155"/>
                </a:solidFill>
                <a:latin typeface="Inter"/>
              </a:defRPr>
            </a:pPr>
            <a:r>
              <a:t>Blockchain consensus layers act as the decentralized root of trust, validating transactions before execution.</a:t>
            </a:r>
          </a:p>
        </p:txBody>
      </p:sp>
      <p:sp>
        <p:nvSpPr>
          <p:cNvPr id="8" name="Rounded Rectangle 7"/>
          <p:cNvSpPr/>
          <p:nvPr/>
        </p:nvSpPr>
        <p:spPr>
          <a:xfrm>
            <a:off x="5989320" y="1325880"/>
            <a:ext cx="5760720" cy="4297680"/>
          </a:xfrm>
          <a:prstGeom prst="roundRect">
            <a:avLst/>
          </a:prstGeom>
          <a:solidFill>
            <a:srgbClr val="FFFFFF">
              <a:alpha val="10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isual_smart_grid_trading.png"/>
          <p:cNvPicPr>
            <a:picLocks noChangeAspect="1"/>
          </p:cNvPicPr>
          <p:nvPr/>
        </p:nvPicPr>
        <p:blipFill>
          <a:blip r:embed="rId3"/>
          <a:stretch>
            <a:fillRect/>
          </a:stretch>
        </p:blipFill>
        <p:spPr>
          <a:xfrm>
            <a:off x="6035040" y="1371600"/>
            <a:ext cx="5669280" cy="3931920"/>
          </a:xfrm>
          <a:prstGeom prst="rect">
            <a:avLst/>
          </a:prstGeom>
        </p:spPr>
      </p:pic>
      <p:sp>
        <p:nvSpPr>
          <p:cNvPr id="10" name="TextBox 9"/>
          <p:cNvSpPr txBox="1"/>
          <p:nvPr/>
        </p:nvSpPr>
        <p:spPr>
          <a:xfrm>
            <a:off x="6035040" y="5394959"/>
            <a:ext cx="5669280" cy="274320"/>
          </a:xfrm>
          <a:prstGeom prst="rect">
            <a:avLst/>
          </a:prstGeom>
          <a:noFill/>
        </p:spPr>
        <p:txBody>
          <a:bodyPr wrap="square">
            <a:spAutoFit/>
          </a:bodyPr>
          <a:lstStyle/>
          <a:p>
            <a:pPr algn="ctr">
              <a:defRPr sz="1000" b="0">
                <a:solidFill>
                  <a:srgbClr val="334155"/>
                </a:solidFill>
                <a:latin typeface="Outfit"/>
              </a:defRPr>
            </a:pPr>
            <a:r>
              <a:t>Figure 1.1: Schematic of Blockchain-Secured P2P V2G Energy Trading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365760"/>
          </a:xfrm>
          <a:prstGeom prst="rect">
            <a:avLst/>
          </a:prstGeom>
          <a:noFill/>
        </p:spPr>
        <p:txBody>
          <a:bodyPr wrap="square">
            <a:spAutoFit/>
          </a:bodyPr>
          <a:lstStyle/>
          <a:p>
            <a:pPr algn="l">
              <a:defRPr sz="1600" b="1">
                <a:solidFill>
                  <a:srgbClr val="0D9488"/>
                </a:solidFill>
                <a:latin typeface="Outfit"/>
              </a:defRPr>
            </a:pPr>
            <a:r>
              <a:t>02 / OUR GUIDING STARS</a:t>
            </a:r>
          </a:p>
        </p:txBody>
      </p:sp>
      <p:sp>
        <p:nvSpPr>
          <p:cNvPr id="4" name="TextBox 3"/>
          <p:cNvSpPr txBox="1"/>
          <p:nvPr/>
        </p:nvSpPr>
        <p:spPr>
          <a:xfrm>
            <a:off x="457200" y="548640"/>
            <a:ext cx="10972800" cy="548640"/>
          </a:xfrm>
          <a:prstGeom prst="rect">
            <a:avLst/>
          </a:prstGeom>
          <a:noFill/>
        </p:spPr>
        <p:txBody>
          <a:bodyPr wrap="square">
            <a:spAutoFit/>
          </a:bodyPr>
          <a:lstStyle/>
          <a:p>
            <a:pPr algn="l">
              <a:defRPr sz="2800" b="1">
                <a:solidFill>
                  <a:srgbClr val="0F172A"/>
                </a:solidFill>
                <a:latin typeface="Outfit"/>
              </a:defRPr>
            </a:pPr>
            <a:r>
              <a:t>VISION AND MISSION STATEMENT</a:t>
            </a:r>
          </a:p>
        </p:txBody>
      </p:sp>
      <p:sp>
        <p:nvSpPr>
          <p:cNvPr id="5" name="Rectangle 4"/>
          <p:cNvSpPr/>
          <p:nvPr/>
        </p:nvSpPr>
        <p:spPr>
          <a:xfrm>
            <a:off x="457200" y="1097280"/>
            <a:ext cx="22860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463040"/>
            <a:ext cx="3566160" cy="43891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45920"/>
            <a:ext cx="3200400" cy="457200"/>
          </a:xfrm>
          <a:prstGeom prst="rect">
            <a:avLst/>
          </a:prstGeom>
          <a:noFill/>
        </p:spPr>
        <p:txBody>
          <a:bodyPr wrap="square">
            <a:spAutoFit/>
          </a:bodyPr>
          <a:lstStyle/>
          <a:p>
            <a:pPr algn="l">
              <a:defRPr sz="3200" b="1">
                <a:solidFill>
                  <a:srgbClr val="0284C7"/>
                </a:solidFill>
                <a:latin typeface="Outfit"/>
              </a:defRPr>
            </a:pPr>
            <a:r>
              <a:t>01</a:t>
            </a:r>
          </a:p>
        </p:txBody>
      </p:sp>
      <p:sp>
        <p:nvSpPr>
          <p:cNvPr id="8" name="TextBox 7"/>
          <p:cNvSpPr txBox="1"/>
          <p:nvPr/>
        </p:nvSpPr>
        <p:spPr>
          <a:xfrm>
            <a:off x="640080" y="2103120"/>
            <a:ext cx="3200400" cy="365760"/>
          </a:xfrm>
          <a:prstGeom prst="rect">
            <a:avLst/>
          </a:prstGeom>
          <a:noFill/>
        </p:spPr>
        <p:txBody>
          <a:bodyPr wrap="square">
            <a:spAutoFit/>
          </a:bodyPr>
          <a:lstStyle/>
          <a:p>
            <a:pPr algn="l">
              <a:defRPr sz="1800" b="1">
                <a:solidFill>
                  <a:srgbClr val="0F172A"/>
                </a:solidFill>
                <a:latin typeface="Outfit"/>
              </a:defRPr>
            </a:pPr>
            <a:r>
              <a:t>Core Problem</a:t>
            </a:r>
          </a:p>
        </p:txBody>
      </p:sp>
      <p:sp>
        <p:nvSpPr>
          <p:cNvPr id="9" name="TextBox 8"/>
          <p:cNvSpPr txBox="1"/>
          <p:nvPr/>
        </p:nvSpPr>
        <p:spPr>
          <a:xfrm>
            <a:off x="640080" y="2468880"/>
            <a:ext cx="3200400" cy="3200400"/>
          </a:xfrm>
          <a:prstGeom prst="rect">
            <a:avLst/>
          </a:prstGeom>
          <a:noFill/>
        </p:spPr>
        <p:txBody>
          <a:bodyPr wrap="square">
            <a:spAutoFit/>
          </a:bodyPr>
          <a:lstStyle/>
          <a:p>
            <a:pPr>
              <a:spcBef>
                <a:spcPts val="800"/>
              </a:spcBef>
              <a:defRPr sz="1300" b="0">
                <a:solidFill>
                  <a:srgbClr val="0F172A"/>
                </a:solidFill>
                <a:latin typeface="Inter"/>
              </a:defRPr>
            </a:pPr>
            <a:r>
              <a:t>Traditional blockchain security models assume that consensus is instantaneous.</a:t>
            </a:r>
          </a:p>
          <a:p>
            <a:pPr>
              <a:spcBef>
                <a:spcPts val="800"/>
              </a:spcBef>
              <a:defRPr sz="1300" b="0">
                <a:solidFill>
                  <a:srgbClr val="0F172A"/>
                </a:solidFill>
                <a:latin typeface="Inter"/>
              </a:defRPr>
            </a:pPr>
            <a:r>
              <a:t>In reality, achieving Byzantine Fault Tolerance (BFT) consensus requires significant time, defined as Latency (L).</a:t>
            </a:r>
          </a:p>
          <a:p>
            <a:pPr>
              <a:spcBef>
                <a:spcPts val="800"/>
              </a:spcBef>
              <a:defRPr sz="1300" b="0">
                <a:solidFill>
                  <a:srgbClr val="0F172A"/>
                </a:solidFill>
                <a:latin typeface="Inter"/>
              </a:defRPr>
            </a:pPr>
            <a:r>
              <a:t>During this period, the smart grid remains in an unfinalized state.</a:t>
            </a:r>
          </a:p>
        </p:txBody>
      </p:sp>
      <p:sp>
        <p:nvSpPr>
          <p:cNvPr id="10" name="Rounded Rectangle 9"/>
          <p:cNvSpPr/>
          <p:nvPr/>
        </p:nvSpPr>
        <p:spPr>
          <a:xfrm>
            <a:off x="4297680" y="1463040"/>
            <a:ext cx="3566160" cy="43891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45920"/>
            <a:ext cx="3200400" cy="457200"/>
          </a:xfrm>
          <a:prstGeom prst="rect">
            <a:avLst/>
          </a:prstGeom>
          <a:noFill/>
        </p:spPr>
        <p:txBody>
          <a:bodyPr wrap="square">
            <a:spAutoFit/>
          </a:bodyPr>
          <a:lstStyle/>
          <a:p>
            <a:pPr algn="l">
              <a:defRPr sz="3200" b="1">
                <a:solidFill>
                  <a:srgbClr val="0284C7"/>
                </a:solidFill>
                <a:latin typeface="Outfit"/>
              </a:defRPr>
            </a:pPr>
            <a:r>
              <a:t>02</a:t>
            </a:r>
          </a:p>
        </p:txBody>
      </p:sp>
      <p:sp>
        <p:nvSpPr>
          <p:cNvPr id="12" name="TextBox 11"/>
          <p:cNvSpPr txBox="1"/>
          <p:nvPr/>
        </p:nvSpPr>
        <p:spPr>
          <a:xfrm>
            <a:off x="4480560" y="2103120"/>
            <a:ext cx="3200400" cy="365760"/>
          </a:xfrm>
          <a:prstGeom prst="rect">
            <a:avLst/>
          </a:prstGeom>
          <a:noFill/>
        </p:spPr>
        <p:txBody>
          <a:bodyPr wrap="square">
            <a:spAutoFit/>
          </a:bodyPr>
          <a:lstStyle/>
          <a:p>
            <a:pPr algn="l">
              <a:defRPr sz="1800" b="1">
                <a:solidFill>
                  <a:srgbClr val="0F172A"/>
                </a:solidFill>
                <a:latin typeface="Outfit"/>
              </a:defRPr>
            </a:pPr>
            <a:r>
              <a:t>Temporal Window</a:t>
            </a:r>
          </a:p>
        </p:txBody>
      </p:sp>
      <p:sp>
        <p:nvSpPr>
          <p:cNvPr id="13" name="TextBox 12"/>
          <p:cNvSpPr txBox="1"/>
          <p:nvPr/>
        </p:nvSpPr>
        <p:spPr>
          <a:xfrm>
            <a:off x="4480560" y="2468880"/>
            <a:ext cx="3200400" cy="3200400"/>
          </a:xfrm>
          <a:prstGeom prst="rect">
            <a:avLst/>
          </a:prstGeom>
          <a:noFill/>
        </p:spPr>
        <p:txBody>
          <a:bodyPr wrap="square">
            <a:spAutoFit/>
          </a:bodyPr>
          <a:lstStyle/>
          <a:p>
            <a:pPr>
              <a:spcBef>
                <a:spcPts val="800"/>
              </a:spcBef>
              <a:defRPr sz="1300" b="0">
                <a:solidFill>
                  <a:srgbClr val="0F172A"/>
                </a:solidFill>
                <a:latin typeface="Inter"/>
              </a:defRPr>
            </a:pPr>
            <a:r>
              <a:t>This consensus latency (L) creates a 'temporal vulnerability window'.</a:t>
            </a:r>
          </a:p>
          <a:p>
            <a:pPr>
              <a:spcBef>
                <a:spcPts val="800"/>
              </a:spcBef>
              <a:defRPr sz="1300" b="0">
                <a:solidFill>
                  <a:srgbClr val="0F172A"/>
                </a:solidFill>
                <a:latin typeface="Inter"/>
              </a:defRPr>
            </a:pPr>
            <a:r>
              <a:t>Inside this window, attackers can launch repeated, successive False Data Injection (FDI) attacks.</a:t>
            </a:r>
          </a:p>
          <a:p>
            <a:pPr>
              <a:spcBef>
                <a:spcPts val="800"/>
              </a:spcBef>
              <a:defRPr sz="1300" b="0">
                <a:solidFill>
                  <a:srgbClr val="0F172A"/>
                </a:solidFill>
                <a:latin typeface="Inter"/>
              </a:defRPr>
            </a:pPr>
            <a:r>
              <a:t>Slow protocols allow attackers to succeed simply by trying multiple times before the block seals.</a:t>
            </a:r>
          </a:p>
        </p:txBody>
      </p:sp>
      <p:sp>
        <p:nvSpPr>
          <p:cNvPr id="14" name="Rounded Rectangle 13"/>
          <p:cNvSpPr/>
          <p:nvPr/>
        </p:nvSpPr>
        <p:spPr>
          <a:xfrm>
            <a:off x="8138160" y="1463040"/>
            <a:ext cx="3566160" cy="43891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645920"/>
            <a:ext cx="3200400" cy="457200"/>
          </a:xfrm>
          <a:prstGeom prst="rect">
            <a:avLst/>
          </a:prstGeom>
          <a:noFill/>
        </p:spPr>
        <p:txBody>
          <a:bodyPr wrap="square">
            <a:spAutoFit/>
          </a:bodyPr>
          <a:lstStyle/>
          <a:p>
            <a:pPr algn="l">
              <a:defRPr sz="3200" b="1">
                <a:solidFill>
                  <a:srgbClr val="0284C7"/>
                </a:solidFill>
                <a:latin typeface="Outfit"/>
              </a:defRPr>
            </a:pPr>
            <a:r>
              <a:t>03</a:t>
            </a:r>
          </a:p>
        </p:txBody>
      </p:sp>
      <p:sp>
        <p:nvSpPr>
          <p:cNvPr id="16" name="TextBox 15"/>
          <p:cNvSpPr txBox="1"/>
          <p:nvPr/>
        </p:nvSpPr>
        <p:spPr>
          <a:xfrm>
            <a:off x="8321040" y="2103120"/>
            <a:ext cx="3200400" cy="365760"/>
          </a:xfrm>
          <a:prstGeom prst="rect">
            <a:avLst/>
          </a:prstGeom>
          <a:noFill/>
        </p:spPr>
        <p:txBody>
          <a:bodyPr wrap="square">
            <a:spAutoFit/>
          </a:bodyPr>
          <a:lstStyle/>
          <a:p>
            <a:pPr algn="l">
              <a:defRPr sz="1800" b="1">
                <a:solidFill>
                  <a:srgbClr val="0F172A"/>
                </a:solidFill>
                <a:latin typeface="Outfit"/>
              </a:defRPr>
            </a:pPr>
            <a:r>
              <a:t>Research Objective</a:t>
            </a:r>
          </a:p>
        </p:txBody>
      </p:sp>
      <p:sp>
        <p:nvSpPr>
          <p:cNvPr id="17" name="TextBox 16"/>
          <p:cNvSpPr txBox="1"/>
          <p:nvPr/>
        </p:nvSpPr>
        <p:spPr>
          <a:xfrm>
            <a:off x="8321040" y="2468880"/>
            <a:ext cx="3200400" cy="3200400"/>
          </a:xfrm>
          <a:prstGeom prst="rect">
            <a:avLst/>
          </a:prstGeom>
          <a:noFill/>
        </p:spPr>
        <p:txBody>
          <a:bodyPr wrap="square">
            <a:spAutoFit/>
          </a:bodyPr>
          <a:lstStyle/>
          <a:p>
            <a:pPr>
              <a:spcBef>
                <a:spcPts val="800"/>
              </a:spcBef>
              <a:defRPr sz="1300" b="0">
                <a:solidFill>
                  <a:srgbClr val="0F172A"/>
                </a:solidFill>
                <a:latin typeface="Inter"/>
              </a:defRPr>
            </a:pPr>
            <a:r>
              <a:t>Prove that consensus latency directly governs physical grid security.</a:t>
            </a:r>
          </a:p>
          <a:p>
            <a:pPr>
              <a:spcBef>
                <a:spcPts val="800"/>
              </a:spcBef>
              <a:defRPr sz="1300" b="0">
                <a:solidFill>
                  <a:srgbClr val="0F172A"/>
                </a:solidFill>
                <a:latin typeface="Inter"/>
              </a:defRPr>
            </a:pPr>
            <a:r>
              <a:t>Model this vulnerability mathematically by mapping BFT algorithms to physical outcomes.</a:t>
            </a:r>
          </a:p>
          <a:p>
            <a:pPr>
              <a:spcBef>
                <a:spcPts val="800"/>
              </a:spcBef>
              <a:defRPr sz="1300" b="0">
                <a:solidFill>
                  <a:srgbClr val="0F172A"/>
                </a:solidFill>
                <a:latin typeface="Inter"/>
              </a:defRPr>
            </a:pPr>
            <a:r>
              <a:t>Identify the optimal consensus protocol to seal the temporal vulnerability window.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365760"/>
          </a:xfrm>
          <a:prstGeom prst="rect">
            <a:avLst/>
          </a:prstGeom>
          <a:noFill/>
        </p:spPr>
        <p:txBody>
          <a:bodyPr wrap="square">
            <a:spAutoFit/>
          </a:bodyPr>
          <a:lstStyle/>
          <a:p>
            <a:pPr algn="l">
              <a:defRPr sz="1600" b="1">
                <a:solidFill>
                  <a:srgbClr val="0D9488"/>
                </a:solidFill>
                <a:latin typeface="Outfit"/>
              </a:defRPr>
            </a:pPr>
            <a:r>
              <a:t>03 / FUELING THE FIRE</a:t>
            </a:r>
          </a:p>
        </p:txBody>
      </p:sp>
      <p:sp>
        <p:nvSpPr>
          <p:cNvPr id="4" name="TextBox 3"/>
          <p:cNvSpPr txBox="1"/>
          <p:nvPr/>
        </p:nvSpPr>
        <p:spPr>
          <a:xfrm>
            <a:off x="457200" y="548640"/>
            <a:ext cx="10972800" cy="548640"/>
          </a:xfrm>
          <a:prstGeom prst="rect">
            <a:avLst/>
          </a:prstGeom>
          <a:noFill/>
        </p:spPr>
        <p:txBody>
          <a:bodyPr wrap="square">
            <a:spAutoFit/>
          </a:bodyPr>
          <a:lstStyle/>
          <a:p>
            <a:pPr algn="l">
              <a:defRPr sz="2800" b="1">
                <a:solidFill>
                  <a:srgbClr val="0F172A"/>
                </a:solidFill>
                <a:latin typeface="Outfit"/>
              </a:defRPr>
            </a:pPr>
            <a:r>
              <a:t>SOURCES OF INSPIRATION AND CREATIVITY</a:t>
            </a:r>
          </a:p>
        </p:txBody>
      </p:sp>
      <p:sp>
        <p:nvSpPr>
          <p:cNvPr id="5" name="Rectangle 4"/>
          <p:cNvSpPr/>
          <p:nvPr/>
        </p:nvSpPr>
        <p:spPr>
          <a:xfrm>
            <a:off x="457200" y="1097280"/>
            <a:ext cx="22860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5303520" cy="48463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4937760" cy="4480560"/>
          </a:xfrm>
          <a:prstGeom prst="rect">
            <a:avLst/>
          </a:prstGeom>
          <a:noFill/>
        </p:spPr>
        <p:txBody>
          <a:bodyPr wrap="square">
            <a:spAutoFit/>
          </a:bodyPr>
          <a:lstStyle/>
          <a:p>
            <a:pPr>
              <a:spcBef>
                <a:spcPts val="800"/>
              </a:spcBef>
              <a:defRPr sz="1400" b="1">
                <a:solidFill>
                  <a:srgbClr val="0D9488"/>
                </a:solidFill>
                <a:latin typeface="Inter"/>
              </a:defRPr>
            </a:pPr>
            <a:r>
              <a:t>Physical Grid Destabilization:</a:t>
            </a:r>
          </a:p>
          <a:p>
            <a:pPr lvl="1">
              <a:spcBef>
                <a:spcPts val="300"/>
              </a:spcBef>
              <a:defRPr sz="1300">
                <a:solidFill>
                  <a:srgbClr val="334155"/>
                </a:solidFill>
                <a:latin typeface="Inter"/>
              </a:defRPr>
            </a:pPr>
            <a:r>
              <a:t>FDI attacks on smart meters inject corrupt battery state-of-charge measurements.</a:t>
            </a:r>
          </a:p>
          <a:p>
            <a:pPr lvl="1">
              <a:spcBef>
                <a:spcPts val="300"/>
              </a:spcBef>
              <a:defRPr sz="1300">
                <a:solidFill>
                  <a:srgbClr val="334155"/>
                </a:solidFill>
                <a:latin typeface="Inter"/>
              </a:defRPr>
            </a:pPr>
            <a:r>
              <a:t>If these corrupted values bypass validation, they trigger erroneous dispatch controls, leading to grid voltage sags, phase imbalances, and system trips.</a:t>
            </a:r>
          </a:p>
          <a:p>
            <a:pPr>
              <a:spcBef>
                <a:spcPts val="800"/>
              </a:spcBef>
              <a:defRPr sz="1400" b="1">
                <a:solidFill>
                  <a:srgbClr val="0D9488"/>
                </a:solidFill>
                <a:latin typeface="Inter"/>
              </a:defRPr>
            </a:pPr>
            <a:r>
              <a:t>The Millisecond Timescale Challenge:</a:t>
            </a:r>
          </a:p>
          <a:p>
            <a:pPr lvl="1">
              <a:spcBef>
                <a:spcPts val="300"/>
              </a:spcBef>
              <a:defRPr sz="1300">
                <a:solidFill>
                  <a:srgbClr val="334155"/>
                </a:solidFill>
                <a:latin typeface="Inter"/>
              </a:defRPr>
            </a:pPr>
            <a:r>
              <a:t>Smart grid transient stability operates on a millisecond timescale.</a:t>
            </a:r>
          </a:p>
          <a:p>
            <a:pPr lvl="1">
              <a:spcBef>
                <a:spcPts val="300"/>
              </a:spcBef>
              <a:defRPr sz="1300">
                <a:solidFill>
                  <a:srgbClr val="334155"/>
                </a:solidFill>
                <a:latin typeface="Inter"/>
              </a:defRPr>
            </a:pPr>
            <a:r>
              <a:t>Traditional blockchains require seconds or minutes to achieve finality.</a:t>
            </a:r>
          </a:p>
          <a:p>
            <a:pPr lvl="1">
              <a:spcBef>
                <a:spcPts val="300"/>
              </a:spcBef>
              <a:defRPr sz="1300">
                <a:solidFill>
                  <a:srgbClr val="334155"/>
                </a:solidFill>
                <a:latin typeface="Inter"/>
              </a:defRPr>
            </a:pPr>
            <a:r>
              <a:t>To secure the grid, blockchain consensus must resolve at sub-second speeds to match transient requirements.</a:t>
            </a:r>
          </a:p>
        </p:txBody>
      </p:sp>
      <p:sp>
        <p:nvSpPr>
          <p:cNvPr id="8" name="Rounded Rectangle 7"/>
          <p:cNvSpPr/>
          <p:nvPr/>
        </p:nvSpPr>
        <p:spPr>
          <a:xfrm>
            <a:off x="5989320" y="1325880"/>
            <a:ext cx="5760720" cy="4297680"/>
          </a:xfrm>
          <a:prstGeom prst="roundRect">
            <a:avLst/>
          </a:prstGeom>
          <a:solidFill>
            <a:srgbClr val="FFFFFF">
              <a:alpha val="10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isual_grid_cyberattack.png"/>
          <p:cNvPicPr>
            <a:picLocks noChangeAspect="1"/>
          </p:cNvPicPr>
          <p:nvPr/>
        </p:nvPicPr>
        <p:blipFill>
          <a:blip r:embed="rId3"/>
          <a:stretch>
            <a:fillRect/>
          </a:stretch>
        </p:blipFill>
        <p:spPr>
          <a:xfrm>
            <a:off x="6035040" y="1371600"/>
            <a:ext cx="5669280" cy="3931920"/>
          </a:xfrm>
          <a:prstGeom prst="rect">
            <a:avLst/>
          </a:prstGeom>
        </p:spPr>
      </p:pic>
      <p:sp>
        <p:nvSpPr>
          <p:cNvPr id="10" name="TextBox 9"/>
          <p:cNvSpPr txBox="1"/>
          <p:nvPr/>
        </p:nvSpPr>
        <p:spPr>
          <a:xfrm>
            <a:off x="6035040" y="5394959"/>
            <a:ext cx="5669280" cy="274320"/>
          </a:xfrm>
          <a:prstGeom prst="rect">
            <a:avLst/>
          </a:prstGeom>
          <a:noFill/>
        </p:spPr>
        <p:txBody>
          <a:bodyPr wrap="square">
            <a:spAutoFit/>
          </a:bodyPr>
          <a:lstStyle/>
          <a:p>
            <a:pPr algn="ctr">
              <a:defRPr sz="1000" b="0">
                <a:solidFill>
                  <a:srgbClr val="334155"/>
                </a:solidFill>
                <a:latin typeface="Outfit"/>
              </a:defRPr>
            </a:pPr>
            <a:r>
              <a:t>Figure 1.2: Threat Vector - FDI Cyberattack on Smart Grid Actuators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365760"/>
          </a:xfrm>
          <a:prstGeom prst="rect">
            <a:avLst/>
          </a:prstGeom>
          <a:noFill/>
        </p:spPr>
        <p:txBody>
          <a:bodyPr wrap="square">
            <a:spAutoFit/>
          </a:bodyPr>
          <a:lstStyle/>
          <a:p>
            <a:pPr algn="l">
              <a:defRPr sz="1600" b="1">
                <a:solidFill>
                  <a:srgbClr val="0D9488"/>
                </a:solidFill>
                <a:latin typeface="Outfit"/>
              </a:defRPr>
            </a:pPr>
            <a:r>
              <a:t>04 / THE IDEATION JOURNEY</a:t>
            </a:r>
          </a:p>
        </p:txBody>
      </p:sp>
      <p:sp>
        <p:nvSpPr>
          <p:cNvPr id="4" name="TextBox 3"/>
          <p:cNvSpPr txBox="1"/>
          <p:nvPr/>
        </p:nvSpPr>
        <p:spPr>
          <a:xfrm>
            <a:off x="457200" y="548640"/>
            <a:ext cx="10972800" cy="548640"/>
          </a:xfrm>
          <a:prstGeom prst="rect">
            <a:avLst/>
          </a:prstGeom>
          <a:noFill/>
        </p:spPr>
        <p:txBody>
          <a:bodyPr wrap="square">
            <a:spAutoFit/>
          </a:bodyPr>
          <a:lstStyle/>
          <a:p>
            <a:pPr algn="l">
              <a:defRPr sz="2800" b="1">
                <a:solidFill>
                  <a:srgbClr val="0F172A"/>
                </a:solidFill>
                <a:latin typeface="Outfit"/>
              </a:defRPr>
            </a:pPr>
            <a:r>
              <a:t>BRAINSTORMING TO BRILLIANCE</a:t>
            </a:r>
          </a:p>
        </p:txBody>
      </p:sp>
      <p:sp>
        <p:nvSpPr>
          <p:cNvPr id="5" name="Rectangle 4"/>
          <p:cNvSpPr/>
          <p:nvPr/>
        </p:nvSpPr>
        <p:spPr>
          <a:xfrm>
            <a:off x="457200" y="1097280"/>
            <a:ext cx="22860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463040"/>
            <a:ext cx="2651760" cy="43891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2286000" cy="365760"/>
          </a:xfrm>
          <a:prstGeom prst="rect">
            <a:avLst/>
          </a:prstGeom>
          <a:noFill/>
        </p:spPr>
        <p:txBody>
          <a:bodyPr wrap="square">
            <a:spAutoFit/>
          </a:bodyPr>
          <a:lstStyle/>
          <a:p>
            <a:pPr algn="l">
              <a:defRPr sz="2400" b="1">
                <a:solidFill>
                  <a:srgbClr val="0284C7"/>
                </a:solidFill>
                <a:latin typeface="Outfit"/>
              </a:defRPr>
            </a:pPr>
            <a:r>
              <a:t>01</a:t>
            </a:r>
          </a:p>
        </p:txBody>
      </p:sp>
      <p:sp>
        <p:nvSpPr>
          <p:cNvPr id="8" name="TextBox 7"/>
          <p:cNvSpPr txBox="1"/>
          <p:nvPr/>
        </p:nvSpPr>
        <p:spPr>
          <a:xfrm>
            <a:off x="640080" y="1920240"/>
            <a:ext cx="2286000" cy="274320"/>
          </a:xfrm>
          <a:prstGeom prst="rect">
            <a:avLst/>
          </a:prstGeom>
          <a:noFill/>
        </p:spPr>
        <p:txBody>
          <a:bodyPr wrap="square">
            <a:spAutoFit/>
          </a:bodyPr>
          <a:lstStyle/>
          <a:p>
            <a:pPr algn="l">
              <a:defRPr sz="1500" b="1">
                <a:solidFill>
                  <a:srgbClr val="0F172A"/>
                </a:solidFill>
                <a:latin typeface="Outfit"/>
              </a:defRPr>
            </a:pPr>
            <a:r>
              <a:t>Baseline Critique</a:t>
            </a:r>
          </a:p>
        </p:txBody>
      </p:sp>
      <p:sp>
        <p:nvSpPr>
          <p:cNvPr id="9" name="TextBox 8"/>
          <p:cNvSpPr txBox="1"/>
          <p:nvPr/>
        </p:nvSpPr>
        <p:spPr>
          <a:xfrm>
            <a:off x="640080" y="2194560"/>
            <a:ext cx="2286000" cy="3474720"/>
          </a:xfrm>
          <a:prstGeom prst="rect">
            <a:avLst/>
          </a:prstGeom>
          <a:noFill/>
        </p:spPr>
        <p:txBody>
          <a:bodyPr wrap="square">
            <a:spAutoFit/>
          </a:bodyPr>
          <a:lstStyle/>
          <a:p>
            <a:pPr>
              <a:spcBef>
                <a:spcPts val="800"/>
              </a:spcBef>
              <a:defRPr sz="1200" b="0">
                <a:solidFill>
                  <a:srgbClr val="0F172A"/>
                </a:solidFill>
                <a:latin typeface="Inter"/>
              </a:defRPr>
            </a:pPr>
            <a:r>
              <a:t>Sheikh et al. (2020) proposed Lamport OM(m) consensus.</a:t>
            </a:r>
          </a:p>
          <a:p>
            <a:pPr>
              <a:spcBef>
                <a:spcPts val="800"/>
              </a:spcBef>
              <a:defRPr sz="1200" b="0">
                <a:solidFill>
                  <a:srgbClr val="0F172A"/>
                </a:solidFill>
                <a:latin typeface="Inter"/>
              </a:defRPr>
            </a:pPr>
            <a:r>
              <a:t>Proved strong static cryptographic security (P_TAb ≈ 10^-173).</a:t>
            </a:r>
          </a:p>
          <a:p>
            <a:pPr>
              <a:spcBef>
                <a:spcPts val="800"/>
              </a:spcBef>
              <a:defRPr sz="1200" b="0">
                <a:solidFill>
                  <a:srgbClr val="0F172A"/>
                </a:solidFill>
                <a:latin typeface="Inter"/>
              </a:defRPr>
            </a:pPr>
            <a:r>
              <a:t>OM(m) requires O(n^f) complexity, requiring 10^18 messages at f=16 validators.</a:t>
            </a:r>
          </a:p>
        </p:txBody>
      </p:sp>
      <p:sp>
        <p:nvSpPr>
          <p:cNvPr id="10" name="Rounded Rectangle 9"/>
          <p:cNvSpPr/>
          <p:nvPr/>
        </p:nvSpPr>
        <p:spPr>
          <a:xfrm>
            <a:off x="3291840" y="1463040"/>
            <a:ext cx="2651760" cy="43891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1554480"/>
            <a:ext cx="2286000" cy="365760"/>
          </a:xfrm>
          <a:prstGeom prst="rect">
            <a:avLst/>
          </a:prstGeom>
          <a:noFill/>
        </p:spPr>
        <p:txBody>
          <a:bodyPr wrap="square">
            <a:spAutoFit/>
          </a:bodyPr>
          <a:lstStyle/>
          <a:p>
            <a:pPr algn="l">
              <a:defRPr sz="2400" b="1">
                <a:solidFill>
                  <a:srgbClr val="0284C7"/>
                </a:solidFill>
                <a:latin typeface="Outfit"/>
              </a:defRPr>
            </a:pPr>
            <a:r>
              <a:t>02</a:t>
            </a:r>
          </a:p>
        </p:txBody>
      </p:sp>
      <p:sp>
        <p:nvSpPr>
          <p:cNvPr id="12" name="TextBox 11"/>
          <p:cNvSpPr txBox="1"/>
          <p:nvPr/>
        </p:nvSpPr>
        <p:spPr>
          <a:xfrm>
            <a:off x="3474720" y="1920240"/>
            <a:ext cx="2286000" cy="274320"/>
          </a:xfrm>
          <a:prstGeom prst="rect">
            <a:avLst/>
          </a:prstGeom>
          <a:noFill/>
        </p:spPr>
        <p:txBody>
          <a:bodyPr wrap="square">
            <a:spAutoFit/>
          </a:bodyPr>
          <a:lstStyle/>
          <a:p>
            <a:pPr algn="l">
              <a:defRPr sz="1500" b="1">
                <a:solidFill>
                  <a:srgbClr val="0F172A"/>
                </a:solidFill>
                <a:latin typeface="Outfit"/>
              </a:defRPr>
            </a:pPr>
            <a:r>
              <a:t>Literature Gaps</a:t>
            </a:r>
          </a:p>
        </p:txBody>
      </p:sp>
      <p:sp>
        <p:nvSpPr>
          <p:cNvPr id="13" name="TextBox 12"/>
          <p:cNvSpPr txBox="1"/>
          <p:nvPr/>
        </p:nvSpPr>
        <p:spPr>
          <a:xfrm>
            <a:off x="3474720" y="2194560"/>
            <a:ext cx="2286000" cy="3474720"/>
          </a:xfrm>
          <a:prstGeom prst="rect">
            <a:avLst/>
          </a:prstGeom>
          <a:noFill/>
        </p:spPr>
        <p:txBody>
          <a:bodyPr wrap="square">
            <a:spAutoFit/>
          </a:bodyPr>
          <a:lstStyle/>
          <a:p>
            <a:pPr>
              <a:spcBef>
                <a:spcPts val="800"/>
              </a:spcBef>
              <a:defRPr sz="1200" b="0">
                <a:solidFill>
                  <a:srgbClr val="0F172A"/>
                </a:solidFill>
                <a:latin typeface="Inter"/>
              </a:defRPr>
            </a:pPr>
            <a:r>
              <a:t>Unquantified Latency: OM(m) block time is 43.35s, ignored in security bounds.</a:t>
            </a:r>
          </a:p>
          <a:p>
            <a:pPr>
              <a:spcBef>
                <a:spcPts val="800"/>
              </a:spcBef>
              <a:defRPr sz="1200" b="0">
                <a:solidFill>
                  <a:srgbClr val="0F172A"/>
                </a:solidFill>
                <a:latin typeface="Inter"/>
              </a:defRPr>
            </a:pPr>
            <a:r>
              <a:t>Static Security Blindspot: Model assumes zero attacker exposure during consensus.</a:t>
            </a:r>
          </a:p>
          <a:p>
            <a:pPr>
              <a:spcBef>
                <a:spcPts val="800"/>
              </a:spcBef>
              <a:defRPr sz="1200" b="0">
                <a:solidFill>
                  <a:srgbClr val="0F172A"/>
                </a:solidFill>
                <a:latin typeface="Inter"/>
              </a:defRPr>
            </a:pPr>
            <a:r>
              <a:t>Lack of alternative BFT evaluation under smart grid constraints.</a:t>
            </a:r>
          </a:p>
        </p:txBody>
      </p:sp>
      <p:sp>
        <p:nvSpPr>
          <p:cNvPr id="14" name="Rounded Rectangle 13"/>
          <p:cNvSpPr/>
          <p:nvPr/>
        </p:nvSpPr>
        <p:spPr>
          <a:xfrm>
            <a:off x="6126480" y="1463040"/>
            <a:ext cx="2651760" cy="43891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554480"/>
            <a:ext cx="2286000" cy="365760"/>
          </a:xfrm>
          <a:prstGeom prst="rect">
            <a:avLst/>
          </a:prstGeom>
          <a:noFill/>
        </p:spPr>
        <p:txBody>
          <a:bodyPr wrap="square">
            <a:spAutoFit/>
          </a:bodyPr>
          <a:lstStyle/>
          <a:p>
            <a:pPr algn="l">
              <a:defRPr sz="2400" b="1">
                <a:solidFill>
                  <a:srgbClr val="0284C7"/>
                </a:solidFill>
                <a:latin typeface="Outfit"/>
              </a:defRPr>
            </a:pPr>
            <a:r>
              <a:t>03</a:t>
            </a:r>
          </a:p>
        </p:txBody>
      </p:sp>
      <p:sp>
        <p:nvSpPr>
          <p:cNvPr id="16" name="TextBox 15"/>
          <p:cNvSpPr txBox="1"/>
          <p:nvPr/>
        </p:nvSpPr>
        <p:spPr>
          <a:xfrm>
            <a:off x="6309360" y="1920240"/>
            <a:ext cx="2286000" cy="274320"/>
          </a:xfrm>
          <a:prstGeom prst="rect">
            <a:avLst/>
          </a:prstGeom>
          <a:noFill/>
        </p:spPr>
        <p:txBody>
          <a:bodyPr wrap="square">
            <a:spAutoFit/>
          </a:bodyPr>
          <a:lstStyle/>
          <a:p>
            <a:pPr algn="l">
              <a:defRPr sz="1500" b="1">
                <a:solidFill>
                  <a:srgbClr val="0F172A"/>
                </a:solidFill>
                <a:latin typeface="Outfit"/>
              </a:defRPr>
            </a:pPr>
            <a:r>
              <a:t>STSF Formulation</a:t>
            </a:r>
          </a:p>
        </p:txBody>
      </p:sp>
      <p:sp>
        <p:nvSpPr>
          <p:cNvPr id="17" name="TextBox 16"/>
          <p:cNvSpPr txBox="1"/>
          <p:nvPr/>
        </p:nvSpPr>
        <p:spPr>
          <a:xfrm>
            <a:off x="6309360" y="2194560"/>
            <a:ext cx="2286000" cy="3474720"/>
          </a:xfrm>
          <a:prstGeom prst="rect">
            <a:avLst/>
          </a:prstGeom>
          <a:noFill/>
        </p:spPr>
        <p:txBody>
          <a:bodyPr wrap="square">
            <a:spAutoFit/>
          </a:bodyPr>
          <a:lstStyle/>
          <a:p>
            <a:pPr>
              <a:spcBef>
                <a:spcPts val="800"/>
              </a:spcBef>
              <a:defRPr sz="1200" b="0">
                <a:solidFill>
                  <a:srgbClr val="0F172A"/>
                </a:solidFill>
                <a:latin typeface="Inter"/>
              </a:defRPr>
            </a:pPr>
            <a:r>
              <a:t>STSF unifies static and temporal security:</a:t>
            </a:r>
          </a:p>
          <a:p>
            <a:pPr>
              <a:spcBef>
                <a:spcPts val="800"/>
              </a:spcBef>
              <a:defRPr sz="1200" b="0">
                <a:solidFill>
                  <a:srgbClr val="0F172A"/>
                </a:solidFill>
                <a:latin typeface="Inter"/>
              </a:defRPr>
            </a:pPr>
            <a:r>
              <a:t>P_secure = (1 - P_TAb)(1 - P_temporal)</a:t>
            </a:r>
          </a:p>
          <a:p>
            <a:pPr>
              <a:spcBef>
                <a:spcPts val="800"/>
              </a:spcBef>
              <a:defRPr sz="1200" b="0">
                <a:solidFill>
                  <a:srgbClr val="0F172A"/>
                </a:solidFill>
                <a:latin typeface="Inter"/>
              </a:defRPr>
            </a:pPr>
            <a:r>
              <a:t>P_temporal = 1 - (1 - P_TA)^N</a:t>
            </a:r>
          </a:p>
          <a:p>
            <a:pPr>
              <a:spcBef>
                <a:spcPts val="800"/>
              </a:spcBef>
              <a:defRPr sz="1200" b="0">
                <a:solidFill>
                  <a:srgbClr val="0F172A"/>
                </a:solidFill>
                <a:latin typeface="Inter"/>
              </a:defRPr>
            </a:pPr>
            <a:r>
              <a:t>N = L_consensus / τ_attack is the number of attempts allowed by block time L.</a:t>
            </a:r>
          </a:p>
        </p:txBody>
      </p:sp>
      <p:sp>
        <p:nvSpPr>
          <p:cNvPr id="18" name="Rounded Rectangle 17"/>
          <p:cNvSpPr/>
          <p:nvPr/>
        </p:nvSpPr>
        <p:spPr>
          <a:xfrm>
            <a:off x="8961120" y="1463040"/>
            <a:ext cx="2651760" cy="43891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0" y="1554480"/>
            <a:ext cx="2286000" cy="365760"/>
          </a:xfrm>
          <a:prstGeom prst="rect">
            <a:avLst/>
          </a:prstGeom>
          <a:noFill/>
        </p:spPr>
        <p:txBody>
          <a:bodyPr wrap="square">
            <a:spAutoFit/>
          </a:bodyPr>
          <a:lstStyle/>
          <a:p>
            <a:pPr algn="l">
              <a:defRPr sz="2400" b="1">
                <a:solidFill>
                  <a:srgbClr val="0284C7"/>
                </a:solidFill>
                <a:latin typeface="Outfit"/>
              </a:defRPr>
            </a:pPr>
            <a:r>
              <a:t>04</a:t>
            </a:r>
          </a:p>
        </p:txBody>
      </p:sp>
      <p:sp>
        <p:nvSpPr>
          <p:cNvPr id="20" name="TextBox 19"/>
          <p:cNvSpPr txBox="1"/>
          <p:nvPr/>
        </p:nvSpPr>
        <p:spPr>
          <a:xfrm>
            <a:off x="9144000" y="1920240"/>
            <a:ext cx="2286000" cy="274320"/>
          </a:xfrm>
          <a:prstGeom prst="rect">
            <a:avLst/>
          </a:prstGeom>
          <a:noFill/>
        </p:spPr>
        <p:txBody>
          <a:bodyPr wrap="square">
            <a:spAutoFit/>
          </a:bodyPr>
          <a:lstStyle/>
          <a:p>
            <a:pPr algn="l">
              <a:defRPr sz="1500" b="1">
                <a:solidFill>
                  <a:srgbClr val="0F172A"/>
                </a:solidFill>
                <a:latin typeface="Outfit"/>
              </a:defRPr>
            </a:pPr>
            <a:r>
              <a:t>Consensus Groups</a:t>
            </a:r>
          </a:p>
        </p:txBody>
      </p:sp>
      <p:sp>
        <p:nvSpPr>
          <p:cNvPr id="21" name="TextBox 20"/>
          <p:cNvSpPr txBox="1"/>
          <p:nvPr/>
        </p:nvSpPr>
        <p:spPr>
          <a:xfrm>
            <a:off x="9144000" y="2194560"/>
            <a:ext cx="2286000" cy="3474720"/>
          </a:xfrm>
          <a:prstGeom prst="rect">
            <a:avLst/>
          </a:prstGeom>
          <a:noFill/>
        </p:spPr>
        <p:txBody>
          <a:bodyPr wrap="square">
            <a:spAutoFit/>
          </a:bodyPr>
          <a:lstStyle/>
          <a:p>
            <a:pPr>
              <a:spcBef>
                <a:spcPts val="800"/>
              </a:spcBef>
              <a:defRPr sz="1200" b="0">
                <a:solidFill>
                  <a:srgbClr val="0F172A"/>
                </a:solidFill>
                <a:latin typeface="Inter"/>
              </a:defRPr>
            </a:pPr>
            <a:r>
              <a:t>Group 1 (Baseline): OM(m), PBFT</a:t>
            </a:r>
          </a:p>
          <a:p>
            <a:pPr>
              <a:spcBef>
                <a:spcPts val="800"/>
              </a:spcBef>
              <a:defRPr sz="1200" b="0">
                <a:solidFill>
                  <a:srgbClr val="0F172A"/>
                </a:solidFill>
                <a:latin typeface="Inter"/>
              </a:defRPr>
            </a:pPr>
            <a:r>
              <a:t>Group 2 (Consortium): IBFT 2.0, QBFT</a:t>
            </a:r>
          </a:p>
          <a:p>
            <a:pPr>
              <a:spcBef>
                <a:spcPts val="800"/>
              </a:spcBef>
              <a:defRPr sz="1200" b="0">
                <a:solidFill>
                  <a:srgbClr val="0F172A"/>
                </a:solidFill>
                <a:latin typeface="Inter"/>
              </a:defRPr>
            </a:pPr>
            <a:r>
              <a:t>Group 3 (Clustered): CE-PBFT, G-PBFT, SV-PBFT</a:t>
            </a:r>
          </a:p>
          <a:p>
            <a:pPr>
              <a:spcBef>
                <a:spcPts val="800"/>
              </a:spcBef>
              <a:defRPr sz="1200" b="0">
                <a:solidFill>
                  <a:srgbClr val="0F172A"/>
                </a:solidFill>
                <a:latin typeface="Inter"/>
              </a:defRPr>
            </a:pPr>
            <a:r>
              <a:t>Group 4 (Sub-Second Pipelined): Tower BFT, RVR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365760"/>
          </a:xfrm>
          <a:prstGeom prst="rect">
            <a:avLst/>
          </a:prstGeom>
          <a:noFill/>
        </p:spPr>
        <p:txBody>
          <a:bodyPr wrap="square">
            <a:spAutoFit/>
          </a:bodyPr>
          <a:lstStyle/>
          <a:p>
            <a:pPr algn="l">
              <a:defRPr sz="1600" b="1">
                <a:solidFill>
                  <a:srgbClr val="0D9488"/>
                </a:solidFill>
                <a:latin typeface="Outfit"/>
              </a:defRPr>
            </a:pPr>
            <a:r>
              <a:t>05 / BRINGING IDEAS TO LIFE</a:t>
            </a:r>
          </a:p>
        </p:txBody>
      </p:sp>
      <p:sp>
        <p:nvSpPr>
          <p:cNvPr id="4" name="TextBox 3"/>
          <p:cNvSpPr txBox="1"/>
          <p:nvPr/>
        </p:nvSpPr>
        <p:spPr>
          <a:xfrm>
            <a:off x="457200" y="548640"/>
            <a:ext cx="10972800" cy="548640"/>
          </a:xfrm>
          <a:prstGeom prst="rect">
            <a:avLst/>
          </a:prstGeom>
          <a:noFill/>
        </p:spPr>
        <p:txBody>
          <a:bodyPr wrap="square">
            <a:spAutoFit/>
          </a:bodyPr>
          <a:lstStyle/>
          <a:p>
            <a:pPr algn="l">
              <a:defRPr sz="2800" b="1">
                <a:solidFill>
                  <a:srgbClr val="0F172A"/>
                </a:solidFill>
                <a:latin typeface="Outfit"/>
              </a:defRPr>
            </a:pPr>
            <a:r>
              <a:t>THE MAKING PROCESS</a:t>
            </a:r>
          </a:p>
        </p:txBody>
      </p:sp>
      <p:sp>
        <p:nvSpPr>
          <p:cNvPr id="5" name="Rectangle 4"/>
          <p:cNvSpPr/>
          <p:nvPr/>
        </p:nvSpPr>
        <p:spPr>
          <a:xfrm>
            <a:off x="457200" y="1097280"/>
            <a:ext cx="22860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5303520" cy="48463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4937760" cy="4480560"/>
          </a:xfrm>
          <a:prstGeom prst="rect">
            <a:avLst/>
          </a:prstGeom>
          <a:noFill/>
        </p:spPr>
        <p:txBody>
          <a:bodyPr wrap="square">
            <a:spAutoFit/>
          </a:bodyPr>
          <a:lstStyle/>
          <a:p>
            <a:pPr>
              <a:spcBef>
                <a:spcPts val="800"/>
              </a:spcBef>
              <a:defRPr sz="1400" b="1">
                <a:solidFill>
                  <a:srgbClr val="0D9488"/>
                </a:solidFill>
                <a:latin typeface="Inter"/>
              </a:defRPr>
            </a:pPr>
            <a:r>
              <a:t>Closed-Form Mathematical Modeling:</a:t>
            </a:r>
          </a:p>
          <a:p>
            <a:pPr lvl="1">
              <a:spcBef>
                <a:spcPts val="300"/>
              </a:spcBef>
              <a:defRPr sz="1300">
                <a:solidFill>
                  <a:srgbClr val="334155"/>
                </a:solidFill>
                <a:latin typeface="Inter"/>
              </a:defRPr>
            </a:pPr>
            <a:r>
              <a:t>We construct closed-form equations for block latency, message complexity, and throughput per consensus protocol.</a:t>
            </a:r>
          </a:p>
          <a:p>
            <a:pPr lvl="1">
              <a:spcBef>
                <a:spcPts val="300"/>
              </a:spcBef>
              <a:defRPr sz="1300">
                <a:solidFill>
                  <a:srgbClr val="334155"/>
                </a:solidFill>
                <a:latin typeface="Inter"/>
              </a:defRPr>
            </a:pPr>
            <a:r>
              <a:t>This analytical approach provides mathematical bounds that are free of Monte Carlo statistical variance.</a:t>
            </a:r>
          </a:p>
          <a:p>
            <a:pPr>
              <a:spcBef>
                <a:spcPts val="800"/>
              </a:spcBef>
              <a:defRPr sz="1400" b="1">
                <a:solidFill>
                  <a:srgbClr val="0D9488"/>
                </a:solidFill>
                <a:latin typeface="Inter"/>
              </a:defRPr>
            </a:pPr>
            <a:r>
              <a:t>Smart Grid Grid Parameter Mapping:</a:t>
            </a:r>
          </a:p>
          <a:p>
            <a:pPr lvl="1">
              <a:spcBef>
                <a:spcPts val="300"/>
              </a:spcBef>
              <a:defRPr sz="1300">
                <a:solidFill>
                  <a:srgbClr val="334155"/>
                </a:solidFill>
                <a:latin typeface="Inter"/>
              </a:defRPr>
            </a:pPr>
            <a:r>
              <a:t>Standardized settings: n_sen = 3,854 smart meters, n = 51 validators, f = 16 Byzantine nodes.</a:t>
            </a:r>
          </a:p>
          <a:p>
            <a:pPr lvl="1">
              <a:spcBef>
                <a:spcPts val="300"/>
              </a:spcBef>
              <a:defRPr sz="1300">
                <a:solidFill>
                  <a:srgbClr val="334155"/>
                </a:solidFill>
                <a:latin typeface="Inter"/>
              </a:defRPr>
            </a:pPr>
            <a:r>
              <a:t>Group 3 models local communication channels: c*(c-1)/2.</a:t>
            </a:r>
          </a:p>
          <a:p>
            <a:pPr lvl="1">
              <a:spcBef>
                <a:spcPts val="300"/>
              </a:spcBef>
              <a:defRPr sz="1300">
                <a:solidFill>
                  <a:srgbClr val="334155"/>
                </a:solidFill>
                <a:latin typeface="Inter"/>
              </a:defRPr>
            </a:pPr>
            <a:r>
              <a:t>Group 2 limits validators to N_val &lt;= 21 to model sub-committee selection.</a:t>
            </a:r>
          </a:p>
          <a:p>
            <a:pPr>
              <a:spcBef>
                <a:spcPts val="800"/>
              </a:spcBef>
              <a:defRPr sz="1400" b="1">
                <a:solidFill>
                  <a:srgbClr val="0D9488"/>
                </a:solidFill>
                <a:latin typeface="Inter"/>
              </a:defRPr>
            </a:pPr>
            <a:r>
              <a:t>Evaluation Engine:</a:t>
            </a:r>
          </a:p>
          <a:p>
            <a:pPr lvl="1">
              <a:spcBef>
                <a:spcPts val="300"/>
              </a:spcBef>
              <a:defRPr sz="1300">
                <a:solidFill>
                  <a:srgbClr val="334155"/>
                </a:solidFill>
                <a:latin typeface="Inter"/>
              </a:defRPr>
            </a:pPr>
            <a:r>
              <a:t>Built in Python 3.11, generating latency, throughput, and P_secure curves.</a:t>
            </a:r>
          </a:p>
        </p:txBody>
      </p:sp>
      <p:sp>
        <p:nvSpPr>
          <p:cNvPr id="8" name="Rounded Rectangle 7"/>
          <p:cNvSpPr/>
          <p:nvPr/>
        </p:nvSpPr>
        <p:spPr>
          <a:xfrm>
            <a:off x="5989320" y="1325880"/>
            <a:ext cx="5760720" cy="4297680"/>
          </a:xfrm>
          <a:prstGeom prst="roundRect">
            <a:avLst/>
          </a:prstGeom>
          <a:solidFill>
            <a:srgbClr val="FFFFFF">
              <a:alpha val="10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isual_methodology.png"/>
          <p:cNvPicPr>
            <a:picLocks noChangeAspect="1"/>
          </p:cNvPicPr>
          <p:nvPr/>
        </p:nvPicPr>
        <p:blipFill>
          <a:blip r:embed="rId3"/>
          <a:stretch>
            <a:fillRect/>
          </a:stretch>
        </p:blipFill>
        <p:spPr>
          <a:xfrm>
            <a:off x="6035040" y="1371600"/>
            <a:ext cx="5669280" cy="3931920"/>
          </a:xfrm>
          <a:prstGeom prst="rect">
            <a:avLst/>
          </a:prstGeom>
        </p:spPr>
      </p:pic>
      <p:sp>
        <p:nvSpPr>
          <p:cNvPr id="10" name="TextBox 9"/>
          <p:cNvSpPr txBox="1"/>
          <p:nvPr/>
        </p:nvSpPr>
        <p:spPr>
          <a:xfrm>
            <a:off x="6035040" y="5394959"/>
            <a:ext cx="5669280" cy="274320"/>
          </a:xfrm>
          <a:prstGeom prst="rect">
            <a:avLst/>
          </a:prstGeom>
          <a:noFill/>
        </p:spPr>
        <p:txBody>
          <a:bodyPr wrap="square">
            <a:spAutoFit/>
          </a:bodyPr>
          <a:lstStyle/>
          <a:p>
            <a:pPr algn="ctr">
              <a:defRPr sz="1000" b="0">
                <a:solidFill>
                  <a:srgbClr val="334155"/>
                </a:solidFill>
                <a:latin typeface="Outfit"/>
              </a:defRPr>
            </a:pPr>
            <a:r>
              <a:t>Figure 1.3: Analytical Modeling Workflow and Engine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82880"/>
            <a:ext cx="10972800" cy="365760"/>
          </a:xfrm>
          <a:prstGeom prst="rect">
            <a:avLst/>
          </a:prstGeom>
          <a:noFill/>
        </p:spPr>
        <p:txBody>
          <a:bodyPr wrap="square">
            <a:spAutoFit/>
          </a:bodyPr>
          <a:lstStyle/>
          <a:p>
            <a:pPr algn="l">
              <a:defRPr sz="1600" b="1">
                <a:solidFill>
                  <a:srgbClr val="0D9488"/>
                </a:solidFill>
                <a:latin typeface="Outfit"/>
              </a:defRPr>
            </a:pPr>
            <a:r>
              <a:t>06 / A VISUAL ODYSSEY</a:t>
            </a:r>
          </a:p>
        </p:txBody>
      </p:sp>
      <p:sp>
        <p:nvSpPr>
          <p:cNvPr id="4" name="TextBox 3"/>
          <p:cNvSpPr txBox="1"/>
          <p:nvPr/>
        </p:nvSpPr>
        <p:spPr>
          <a:xfrm>
            <a:off x="457200" y="457200"/>
            <a:ext cx="10972800" cy="548640"/>
          </a:xfrm>
          <a:prstGeom prst="rect">
            <a:avLst/>
          </a:prstGeom>
          <a:noFill/>
        </p:spPr>
        <p:txBody>
          <a:bodyPr wrap="square">
            <a:spAutoFit/>
          </a:bodyPr>
          <a:lstStyle/>
          <a:p>
            <a:pPr algn="l">
              <a:defRPr sz="2800" b="1">
                <a:solidFill>
                  <a:srgbClr val="0F172A"/>
                </a:solidFill>
                <a:latin typeface="Outfit"/>
              </a:defRPr>
            </a:pPr>
            <a:r>
              <a:t>MAPPING OUR THOUGHTS</a:t>
            </a:r>
          </a:p>
        </p:txBody>
      </p:sp>
      <p:sp>
        <p:nvSpPr>
          <p:cNvPr id="5" name="Rounded Rectangle 4"/>
          <p:cNvSpPr/>
          <p:nvPr/>
        </p:nvSpPr>
        <p:spPr>
          <a:xfrm>
            <a:off x="365760" y="1005840"/>
            <a:ext cx="11430000" cy="548640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097280"/>
          <a:ext cx="9875520" cy="5120640"/>
        </p:xfrm>
        <a:graphic>
          <a:graphicData uri="http://schemas.openxmlformats.org/drawingml/2006/table">
            <a:tbl>
              <a:tblPr firstRow="1" bandRow="1">
                <a:tableStyleId>{5C22544A-7EE6-4342-B048-85BDC9FD1C3A}</a:tableStyleId>
              </a:tblPr>
              <a:tblGrid>
                <a:gridCol w="2011680"/>
                <a:gridCol w="1645920"/>
                <a:gridCol w="1188720"/>
                <a:gridCol w="731520"/>
                <a:gridCol w="731520"/>
                <a:gridCol w="1188720"/>
                <a:gridCol w="1188720"/>
                <a:gridCol w="1188720"/>
              </a:tblGrid>
              <a:tr h="512064">
                <a:tc>
                  <a:txBody>
                    <a:bodyPr/>
                    <a:lstStyle/>
                    <a:p>
                      <a:pPr algn="ctr">
                        <a:defRPr sz="1100" b="1">
                          <a:solidFill>
                            <a:srgbClr val="FFFFFF"/>
                          </a:solidFill>
                          <a:latin typeface="Inter"/>
                        </a:defRPr>
                      </a:pPr>
                      <a:r>
                        <a:t>Algorithm</a:t>
                      </a:r>
                    </a:p>
                  </a:txBody>
                  <a:tcPr>
                    <a:solidFill>
                      <a:srgbClr val="0F172A"/>
                    </a:solidFill>
                  </a:tcPr>
                </a:tc>
                <a:tc>
                  <a:txBody>
                    <a:bodyPr/>
                    <a:lstStyle/>
                    <a:p>
                      <a:pPr algn="ctr">
                        <a:defRPr sz="1100" b="1">
                          <a:solidFill>
                            <a:srgbClr val="FFFFFF"/>
                          </a:solidFill>
                          <a:latin typeface="Inter"/>
                        </a:defRPr>
                      </a:pPr>
                      <a:r>
                        <a:t>Group</a:t>
                      </a:r>
                    </a:p>
                  </a:txBody>
                  <a:tcPr>
                    <a:solidFill>
                      <a:srgbClr val="0F172A"/>
                    </a:solidFill>
                  </a:tcPr>
                </a:tc>
                <a:tc>
                  <a:txBody>
                    <a:bodyPr/>
                    <a:lstStyle/>
                    <a:p>
                      <a:pPr algn="ctr">
                        <a:defRPr sz="1100" b="1">
                          <a:solidFill>
                            <a:srgbClr val="FFFFFF"/>
                          </a:solidFill>
                          <a:latin typeface="Inter"/>
                        </a:defRPr>
                      </a:pPr>
                      <a:r>
                        <a:t>Latency</a:t>
                      </a:r>
                    </a:p>
                  </a:txBody>
                  <a:tcPr>
                    <a:solidFill>
                      <a:srgbClr val="0F172A"/>
                    </a:solidFill>
                  </a:tcPr>
                </a:tc>
                <a:tc>
                  <a:txBody>
                    <a:bodyPr/>
                    <a:lstStyle/>
                    <a:p>
                      <a:pPr algn="ctr">
                        <a:defRPr sz="1100" b="1">
                          <a:solidFill>
                            <a:srgbClr val="FFFFFF"/>
                          </a:solidFill>
                          <a:latin typeface="Inter"/>
                        </a:defRPr>
                      </a:pPr>
                      <a:r>
                        <a:t>TPS</a:t>
                      </a:r>
                    </a:p>
                  </a:txBody>
                  <a:tcPr>
                    <a:solidFill>
                      <a:srgbClr val="0F172A"/>
                    </a:solidFill>
                  </a:tcPr>
                </a:tc>
                <a:tc>
                  <a:txBody>
                    <a:bodyPr/>
                    <a:lstStyle/>
                    <a:p>
                      <a:pPr algn="ctr">
                        <a:defRPr sz="1100" b="1">
                          <a:solidFill>
                            <a:srgbClr val="FFFFFF"/>
                          </a:solidFill>
                          <a:latin typeface="Inter"/>
                        </a:defRPr>
                      </a:pPr>
                      <a:r>
                        <a:t>N_att</a:t>
                      </a:r>
                    </a:p>
                  </a:txBody>
                  <a:tcPr>
                    <a:solidFill>
                      <a:srgbClr val="0F172A"/>
                    </a:solidFill>
                  </a:tcPr>
                </a:tc>
                <a:tc>
                  <a:txBody>
                    <a:bodyPr/>
                    <a:lstStyle/>
                    <a:p>
                      <a:pPr algn="ctr">
                        <a:defRPr sz="1100" b="1">
                          <a:solidFill>
                            <a:srgbClr val="FFFFFF"/>
                          </a:solidFill>
                          <a:latin typeface="Inter"/>
                        </a:defRPr>
                      </a:pPr>
                      <a:r>
                        <a:t>P_temporal</a:t>
                      </a:r>
                    </a:p>
                  </a:txBody>
                  <a:tcPr>
                    <a:solidFill>
                      <a:srgbClr val="0F172A"/>
                    </a:solidFill>
                  </a:tcPr>
                </a:tc>
                <a:tc>
                  <a:txBody>
                    <a:bodyPr/>
                    <a:lstStyle/>
                    <a:p>
                      <a:pPr algn="ctr">
                        <a:defRPr sz="1100" b="1">
                          <a:solidFill>
                            <a:srgbClr val="FFFFFF"/>
                          </a:solidFill>
                          <a:latin typeface="Inter"/>
                        </a:defRPr>
                      </a:pPr>
                      <a:r>
                        <a:t>P_secure</a:t>
                      </a:r>
                    </a:p>
                  </a:txBody>
                  <a:tcPr>
                    <a:solidFill>
                      <a:srgbClr val="0F172A"/>
                    </a:solidFill>
                  </a:tcPr>
                </a:tc>
                <a:tc>
                  <a:txBody>
                    <a:bodyPr/>
                    <a:lstStyle/>
                    <a:p>
                      <a:pPr algn="ctr">
                        <a:defRPr sz="1100" b="1">
                          <a:solidFill>
                            <a:srgbClr val="FFFFFF"/>
                          </a:solidFill>
                          <a:latin typeface="Inter"/>
                        </a:defRPr>
                      </a:pPr>
                      <a:r>
                        <a:t>Msgs</a:t>
                      </a:r>
                    </a:p>
                  </a:txBody>
                  <a:tcPr>
                    <a:solidFill>
                      <a:srgbClr val="0F172A"/>
                    </a:solidFill>
                  </a:tcPr>
                </a:tc>
              </a:tr>
              <a:tr h="512064">
                <a:tc>
                  <a:txBody>
                    <a:bodyPr/>
                    <a:lstStyle/>
                    <a:p>
                      <a:pPr algn="ctr">
                        <a:defRPr sz="1100">
                          <a:solidFill>
                            <a:srgbClr val="FFFFFF"/>
                          </a:solidFill>
                          <a:latin typeface="Inter"/>
                        </a:defRPr>
                      </a:pPr>
                      <a:r>
                        <a:t>Lamport OM(m)</a:t>
                      </a:r>
                    </a:p>
                  </a:txBody>
                  <a:tcPr>
                    <a:solidFill>
                      <a:srgbClr val="7D273C"/>
                    </a:solidFill>
                  </a:tcPr>
                </a:tc>
                <a:tc>
                  <a:txBody>
                    <a:bodyPr/>
                    <a:lstStyle/>
                    <a:p>
                      <a:pPr algn="ctr">
                        <a:defRPr sz="1100">
                          <a:solidFill>
                            <a:srgbClr val="FFFFFF"/>
                          </a:solidFill>
                          <a:latin typeface="Inter"/>
                        </a:defRPr>
                      </a:pPr>
                      <a:r>
                        <a:t>G1: CFM-BA</a:t>
                      </a:r>
                    </a:p>
                  </a:txBody>
                  <a:tcPr>
                    <a:solidFill>
                      <a:srgbClr val="7D273C"/>
                    </a:solidFill>
                  </a:tcPr>
                </a:tc>
                <a:tc>
                  <a:txBody>
                    <a:bodyPr/>
                    <a:lstStyle/>
                    <a:p>
                      <a:pPr algn="ctr">
                        <a:defRPr sz="1100">
                          <a:solidFill>
                            <a:srgbClr val="FFFFFF"/>
                          </a:solidFill>
                          <a:latin typeface="Inter"/>
                        </a:defRPr>
                      </a:pPr>
                      <a:r>
                        <a:t>43,350 ms</a:t>
                      </a:r>
                    </a:p>
                  </a:txBody>
                  <a:tcPr>
                    <a:solidFill>
                      <a:srgbClr val="7D273C"/>
                    </a:solidFill>
                  </a:tcPr>
                </a:tc>
                <a:tc>
                  <a:txBody>
                    <a:bodyPr/>
                    <a:lstStyle/>
                    <a:p>
                      <a:pPr algn="ctr">
                        <a:defRPr sz="1100">
                          <a:solidFill>
                            <a:srgbClr val="FFFFFF"/>
                          </a:solidFill>
                          <a:latin typeface="Inter"/>
                        </a:defRPr>
                      </a:pPr>
                      <a:r>
                        <a:t>1.2</a:t>
                      </a:r>
                    </a:p>
                  </a:txBody>
                  <a:tcPr>
                    <a:solidFill>
                      <a:srgbClr val="7D273C"/>
                    </a:solidFill>
                  </a:tcPr>
                </a:tc>
                <a:tc>
                  <a:txBody>
                    <a:bodyPr/>
                    <a:lstStyle/>
                    <a:p>
                      <a:pPr algn="ctr">
                        <a:defRPr sz="1100">
                          <a:solidFill>
                            <a:srgbClr val="FFFFFF"/>
                          </a:solidFill>
                          <a:latin typeface="Inter"/>
                        </a:defRPr>
                      </a:pPr>
                      <a:r>
                        <a:t>867</a:t>
                      </a:r>
                    </a:p>
                  </a:txBody>
                  <a:tcPr>
                    <a:solidFill>
                      <a:srgbClr val="7D273C"/>
                    </a:solidFill>
                  </a:tcPr>
                </a:tc>
                <a:tc>
                  <a:txBody>
                    <a:bodyPr/>
                    <a:lstStyle/>
                    <a:p>
                      <a:pPr algn="ctr">
                        <a:defRPr sz="1100">
                          <a:solidFill>
                            <a:srgbClr val="FFFFFF"/>
                          </a:solidFill>
                          <a:latin typeface="Inter"/>
                        </a:defRPr>
                      </a:pPr>
                      <a:r>
                        <a:t>0.9870</a:t>
                      </a:r>
                    </a:p>
                  </a:txBody>
                  <a:tcPr>
                    <a:solidFill>
                      <a:srgbClr val="7D273C"/>
                    </a:solidFill>
                  </a:tcPr>
                </a:tc>
                <a:tc>
                  <a:txBody>
                    <a:bodyPr/>
                    <a:lstStyle/>
                    <a:p>
                      <a:pPr algn="ctr">
                        <a:defRPr sz="1100">
                          <a:solidFill>
                            <a:srgbClr val="FFFFFF"/>
                          </a:solidFill>
                          <a:latin typeface="Inter"/>
                        </a:defRPr>
                      </a:pPr>
                      <a:r>
                        <a:t>0.0130</a:t>
                      </a:r>
                    </a:p>
                  </a:txBody>
                  <a:tcPr>
                    <a:solidFill>
                      <a:srgbClr val="7D273C"/>
                    </a:solidFill>
                  </a:tcPr>
                </a:tc>
                <a:tc>
                  <a:txBody>
                    <a:bodyPr/>
                    <a:lstStyle/>
                    <a:p>
                      <a:pPr algn="ctr">
                        <a:defRPr sz="1100">
                          <a:solidFill>
                            <a:srgbClr val="FFFFFF"/>
                          </a:solidFill>
                          <a:latin typeface="Inter"/>
                        </a:defRPr>
                      </a:pPr>
                      <a:r>
                        <a:t>10¹⁸</a:t>
                      </a:r>
                    </a:p>
                  </a:txBody>
                  <a:tcPr>
                    <a:solidFill>
                      <a:srgbClr val="7D273C"/>
                    </a:solidFill>
                  </a:tcPr>
                </a:tc>
              </a:tr>
              <a:tr h="512064">
                <a:tc>
                  <a:txBody>
                    <a:bodyPr/>
                    <a:lstStyle/>
                    <a:p>
                      <a:pPr algn="ctr">
                        <a:defRPr sz="1100">
                          <a:solidFill>
                            <a:srgbClr val="FFFFFF"/>
                          </a:solidFill>
                          <a:latin typeface="Inter"/>
                        </a:defRPr>
                      </a:pPr>
                      <a:r>
                        <a:t>Classic PBFT</a:t>
                      </a:r>
                    </a:p>
                  </a:txBody>
                  <a:tcPr>
                    <a:solidFill>
                      <a:srgbClr val="7D273C"/>
                    </a:solidFill>
                  </a:tcPr>
                </a:tc>
                <a:tc>
                  <a:txBody>
                    <a:bodyPr/>
                    <a:lstStyle/>
                    <a:p>
                      <a:pPr algn="ctr">
                        <a:defRPr sz="1100">
                          <a:solidFill>
                            <a:srgbClr val="FFFFFF"/>
                          </a:solidFill>
                          <a:latin typeface="Inter"/>
                        </a:defRPr>
                      </a:pPr>
                      <a:r>
                        <a:t>G1: CFM-BA</a:t>
                      </a:r>
                    </a:p>
                  </a:txBody>
                  <a:tcPr>
                    <a:solidFill>
                      <a:srgbClr val="7D273C"/>
                    </a:solidFill>
                  </a:tcPr>
                </a:tc>
                <a:tc>
                  <a:txBody>
                    <a:bodyPr/>
                    <a:lstStyle/>
                    <a:p>
                      <a:pPr algn="ctr">
                        <a:defRPr sz="1100">
                          <a:solidFill>
                            <a:srgbClr val="FFFFFF"/>
                          </a:solidFill>
                          <a:latin typeface="Inter"/>
                        </a:defRPr>
                      </a:pPr>
                      <a:r>
                        <a:t>15,300 ms</a:t>
                      </a:r>
                    </a:p>
                  </a:txBody>
                  <a:tcPr>
                    <a:solidFill>
                      <a:srgbClr val="7D273C"/>
                    </a:solidFill>
                  </a:tcPr>
                </a:tc>
                <a:tc>
                  <a:txBody>
                    <a:bodyPr/>
                    <a:lstStyle/>
                    <a:p>
                      <a:pPr algn="ctr">
                        <a:defRPr sz="1100">
                          <a:solidFill>
                            <a:srgbClr val="FFFFFF"/>
                          </a:solidFill>
                          <a:latin typeface="Inter"/>
                        </a:defRPr>
                      </a:pPr>
                      <a:r>
                        <a:t>3.3</a:t>
                      </a:r>
                    </a:p>
                  </a:txBody>
                  <a:tcPr>
                    <a:solidFill>
                      <a:srgbClr val="7D273C"/>
                    </a:solidFill>
                  </a:tcPr>
                </a:tc>
                <a:tc>
                  <a:txBody>
                    <a:bodyPr/>
                    <a:lstStyle/>
                    <a:p>
                      <a:pPr algn="ctr">
                        <a:defRPr sz="1100">
                          <a:solidFill>
                            <a:srgbClr val="FFFFFF"/>
                          </a:solidFill>
                          <a:latin typeface="Inter"/>
                        </a:defRPr>
                      </a:pPr>
                      <a:r>
                        <a:t>306</a:t>
                      </a:r>
                    </a:p>
                  </a:txBody>
                  <a:tcPr>
                    <a:solidFill>
                      <a:srgbClr val="7D273C"/>
                    </a:solidFill>
                  </a:tcPr>
                </a:tc>
                <a:tc>
                  <a:txBody>
                    <a:bodyPr/>
                    <a:lstStyle/>
                    <a:p>
                      <a:pPr algn="ctr">
                        <a:defRPr sz="1100">
                          <a:solidFill>
                            <a:srgbClr val="FFFFFF"/>
                          </a:solidFill>
                          <a:latin typeface="Inter"/>
                        </a:defRPr>
                      </a:pPr>
                      <a:r>
                        <a:t>0.7843</a:t>
                      </a:r>
                    </a:p>
                  </a:txBody>
                  <a:tcPr>
                    <a:solidFill>
                      <a:srgbClr val="7D273C"/>
                    </a:solidFill>
                  </a:tcPr>
                </a:tc>
                <a:tc>
                  <a:txBody>
                    <a:bodyPr/>
                    <a:lstStyle/>
                    <a:p>
                      <a:pPr algn="ctr">
                        <a:defRPr sz="1100">
                          <a:solidFill>
                            <a:srgbClr val="FFFFFF"/>
                          </a:solidFill>
                          <a:latin typeface="Inter"/>
                        </a:defRPr>
                      </a:pPr>
                      <a:r>
                        <a:t>0.2157</a:t>
                      </a:r>
                    </a:p>
                  </a:txBody>
                  <a:tcPr>
                    <a:solidFill>
                      <a:srgbClr val="7D273C"/>
                    </a:solidFill>
                  </a:tcPr>
                </a:tc>
                <a:tc>
                  <a:txBody>
                    <a:bodyPr/>
                    <a:lstStyle/>
                    <a:p>
                      <a:pPr algn="ctr">
                        <a:defRPr sz="1100">
                          <a:solidFill>
                            <a:srgbClr val="FFFFFF"/>
                          </a:solidFill>
                          <a:latin typeface="Inter"/>
                        </a:defRPr>
                      </a:pPr>
                      <a:r>
                        <a:t>7,803</a:t>
                      </a:r>
                    </a:p>
                  </a:txBody>
                  <a:tcPr>
                    <a:solidFill>
                      <a:srgbClr val="7D273C"/>
                    </a:solidFill>
                  </a:tcPr>
                </a:tc>
              </a:tr>
              <a:tr h="512064">
                <a:tc>
                  <a:txBody>
                    <a:bodyPr/>
                    <a:lstStyle/>
                    <a:p>
                      <a:pPr algn="ctr">
                        <a:defRPr sz="1100">
                          <a:solidFill>
                            <a:srgbClr val="FFFFFF"/>
                          </a:solidFill>
                          <a:latin typeface="Inter"/>
                        </a:defRPr>
                      </a:pPr>
                      <a:r>
                        <a:t>IBFT 2.0</a:t>
                      </a:r>
                    </a:p>
                  </a:txBody>
                  <a:tcPr>
                    <a:solidFill>
                      <a:srgbClr val="5D2F85"/>
                    </a:solidFill>
                  </a:tcPr>
                </a:tc>
                <a:tc>
                  <a:txBody>
                    <a:bodyPr/>
                    <a:lstStyle/>
                    <a:p>
                      <a:pPr algn="ctr">
                        <a:defRPr sz="1100">
                          <a:solidFill>
                            <a:srgbClr val="FFFFFF"/>
                          </a:solidFill>
                          <a:latin typeface="Inter"/>
                        </a:defRPr>
                      </a:pPr>
                      <a:r>
                        <a:t>G2: CDC-C</a:t>
                      </a:r>
                    </a:p>
                  </a:txBody>
                  <a:tcPr>
                    <a:solidFill>
                      <a:srgbClr val="5D2F85"/>
                    </a:solidFill>
                  </a:tcPr>
                </a:tc>
                <a:tc>
                  <a:txBody>
                    <a:bodyPr/>
                    <a:lstStyle/>
                    <a:p>
                      <a:pPr algn="ctr">
                        <a:defRPr sz="1100">
                          <a:solidFill>
                            <a:srgbClr val="FFFFFF"/>
                          </a:solidFill>
                          <a:latin typeface="Inter"/>
                        </a:defRPr>
                      </a:pPr>
                      <a:r>
                        <a:t>2,500 ms</a:t>
                      </a:r>
                    </a:p>
                  </a:txBody>
                  <a:tcPr>
                    <a:solidFill>
                      <a:srgbClr val="5D2F85"/>
                    </a:solidFill>
                  </a:tcPr>
                </a:tc>
                <a:tc>
                  <a:txBody>
                    <a:bodyPr/>
                    <a:lstStyle/>
                    <a:p>
                      <a:pPr algn="ctr">
                        <a:defRPr sz="1100">
                          <a:solidFill>
                            <a:srgbClr val="FFFFFF"/>
                          </a:solidFill>
                          <a:latin typeface="Inter"/>
                        </a:defRPr>
                      </a:pPr>
                      <a:r>
                        <a:t>20.0</a:t>
                      </a:r>
                    </a:p>
                  </a:txBody>
                  <a:tcPr>
                    <a:solidFill>
                      <a:srgbClr val="5D2F85"/>
                    </a:solidFill>
                  </a:tcPr>
                </a:tc>
                <a:tc>
                  <a:txBody>
                    <a:bodyPr/>
                    <a:lstStyle/>
                    <a:p>
                      <a:pPr algn="ctr">
                        <a:defRPr sz="1100">
                          <a:solidFill>
                            <a:srgbClr val="FFFFFF"/>
                          </a:solidFill>
                          <a:latin typeface="Inter"/>
                        </a:defRPr>
                      </a:pPr>
                      <a:r>
                        <a:t>50</a:t>
                      </a:r>
                    </a:p>
                  </a:txBody>
                  <a:tcPr>
                    <a:solidFill>
                      <a:srgbClr val="5D2F85"/>
                    </a:solidFill>
                  </a:tcPr>
                </a:tc>
                <a:tc>
                  <a:txBody>
                    <a:bodyPr/>
                    <a:lstStyle/>
                    <a:p>
                      <a:pPr algn="ctr">
                        <a:defRPr sz="1100">
                          <a:solidFill>
                            <a:srgbClr val="FFFFFF"/>
                          </a:solidFill>
                          <a:latin typeface="Inter"/>
                        </a:defRPr>
                      </a:pPr>
                      <a:r>
                        <a:t>0.2217</a:t>
                      </a:r>
                    </a:p>
                  </a:txBody>
                  <a:tcPr>
                    <a:solidFill>
                      <a:srgbClr val="5D2F85"/>
                    </a:solidFill>
                  </a:tcPr>
                </a:tc>
                <a:tc>
                  <a:txBody>
                    <a:bodyPr/>
                    <a:lstStyle/>
                    <a:p>
                      <a:pPr algn="ctr">
                        <a:defRPr sz="1100">
                          <a:solidFill>
                            <a:srgbClr val="FFFFFF"/>
                          </a:solidFill>
                          <a:latin typeface="Inter"/>
                        </a:defRPr>
                      </a:pPr>
                      <a:r>
                        <a:t>0.7783</a:t>
                      </a:r>
                    </a:p>
                  </a:txBody>
                  <a:tcPr>
                    <a:solidFill>
                      <a:srgbClr val="5D2F85"/>
                    </a:solidFill>
                  </a:tcPr>
                </a:tc>
                <a:tc>
                  <a:txBody>
                    <a:bodyPr/>
                    <a:lstStyle/>
                    <a:p>
                      <a:pPr algn="ctr">
                        <a:defRPr sz="1100">
                          <a:solidFill>
                            <a:srgbClr val="FFFFFF"/>
                          </a:solidFill>
                          <a:latin typeface="Inter"/>
                        </a:defRPr>
                      </a:pPr>
                      <a:r>
                        <a:t>1,323</a:t>
                      </a:r>
                    </a:p>
                  </a:txBody>
                  <a:tcPr>
                    <a:solidFill>
                      <a:srgbClr val="5D2F85"/>
                    </a:solidFill>
                  </a:tcPr>
                </a:tc>
              </a:tr>
              <a:tr h="512064">
                <a:tc>
                  <a:txBody>
                    <a:bodyPr/>
                    <a:lstStyle/>
                    <a:p>
                      <a:pPr algn="ctr">
                        <a:defRPr sz="1100">
                          <a:solidFill>
                            <a:srgbClr val="FFFFFF"/>
                          </a:solidFill>
                          <a:latin typeface="Inter"/>
                        </a:defRPr>
                      </a:pPr>
                      <a:r>
                        <a:t>QBFT</a:t>
                      </a:r>
                    </a:p>
                  </a:txBody>
                  <a:tcPr>
                    <a:solidFill>
                      <a:srgbClr val="5D2F85"/>
                    </a:solidFill>
                  </a:tcPr>
                </a:tc>
                <a:tc>
                  <a:txBody>
                    <a:bodyPr/>
                    <a:lstStyle/>
                    <a:p>
                      <a:pPr algn="ctr">
                        <a:defRPr sz="1100">
                          <a:solidFill>
                            <a:srgbClr val="FFFFFF"/>
                          </a:solidFill>
                          <a:latin typeface="Inter"/>
                        </a:defRPr>
                      </a:pPr>
                      <a:r>
                        <a:t>G2: CDC-C</a:t>
                      </a:r>
                    </a:p>
                  </a:txBody>
                  <a:tcPr>
                    <a:solidFill>
                      <a:srgbClr val="5D2F85"/>
                    </a:solidFill>
                  </a:tcPr>
                </a:tc>
                <a:tc>
                  <a:txBody>
                    <a:bodyPr/>
                    <a:lstStyle/>
                    <a:p>
                      <a:pPr algn="ctr">
                        <a:defRPr sz="1100">
                          <a:solidFill>
                            <a:srgbClr val="FFFFFF"/>
                          </a:solidFill>
                          <a:latin typeface="Inter"/>
                        </a:defRPr>
                      </a:pPr>
                      <a:r>
                        <a:t>1,500 ms</a:t>
                      </a:r>
                    </a:p>
                  </a:txBody>
                  <a:tcPr>
                    <a:solidFill>
                      <a:srgbClr val="5D2F85"/>
                    </a:solidFill>
                  </a:tcPr>
                </a:tc>
                <a:tc>
                  <a:txBody>
                    <a:bodyPr/>
                    <a:lstStyle/>
                    <a:p>
                      <a:pPr algn="ctr">
                        <a:defRPr sz="1100">
                          <a:solidFill>
                            <a:srgbClr val="FFFFFF"/>
                          </a:solidFill>
                          <a:latin typeface="Inter"/>
                        </a:defRPr>
                      </a:pPr>
                      <a:r>
                        <a:t>33.3</a:t>
                      </a:r>
                    </a:p>
                  </a:txBody>
                  <a:tcPr>
                    <a:solidFill>
                      <a:srgbClr val="5D2F85"/>
                    </a:solidFill>
                  </a:tcPr>
                </a:tc>
                <a:tc>
                  <a:txBody>
                    <a:bodyPr/>
                    <a:lstStyle/>
                    <a:p>
                      <a:pPr algn="ctr">
                        <a:defRPr sz="1100">
                          <a:solidFill>
                            <a:srgbClr val="FFFFFF"/>
                          </a:solidFill>
                          <a:latin typeface="Inter"/>
                        </a:defRPr>
                      </a:pPr>
                      <a:r>
                        <a:t>30</a:t>
                      </a:r>
                    </a:p>
                  </a:txBody>
                  <a:tcPr>
                    <a:solidFill>
                      <a:srgbClr val="5D2F85"/>
                    </a:solidFill>
                  </a:tcPr>
                </a:tc>
                <a:tc>
                  <a:txBody>
                    <a:bodyPr/>
                    <a:lstStyle/>
                    <a:p>
                      <a:pPr algn="ctr">
                        <a:defRPr sz="1100">
                          <a:solidFill>
                            <a:srgbClr val="FFFFFF"/>
                          </a:solidFill>
                          <a:latin typeface="Inter"/>
                        </a:defRPr>
                      </a:pPr>
                      <a:r>
                        <a:t>0.1396</a:t>
                      </a:r>
                    </a:p>
                  </a:txBody>
                  <a:tcPr>
                    <a:solidFill>
                      <a:srgbClr val="5D2F85"/>
                    </a:solidFill>
                  </a:tcPr>
                </a:tc>
                <a:tc>
                  <a:txBody>
                    <a:bodyPr/>
                    <a:lstStyle/>
                    <a:p>
                      <a:pPr algn="ctr">
                        <a:defRPr sz="1100">
                          <a:solidFill>
                            <a:srgbClr val="FFFFFF"/>
                          </a:solidFill>
                          <a:latin typeface="Inter"/>
                        </a:defRPr>
                      </a:pPr>
                      <a:r>
                        <a:t>0.8604</a:t>
                      </a:r>
                    </a:p>
                  </a:txBody>
                  <a:tcPr>
                    <a:solidFill>
                      <a:srgbClr val="5D2F85"/>
                    </a:solidFill>
                  </a:tcPr>
                </a:tc>
                <a:tc>
                  <a:txBody>
                    <a:bodyPr/>
                    <a:lstStyle/>
                    <a:p>
                      <a:pPr algn="ctr">
                        <a:defRPr sz="1100">
                          <a:solidFill>
                            <a:srgbClr val="FFFFFF"/>
                          </a:solidFill>
                          <a:latin typeface="Inter"/>
                        </a:defRPr>
                      </a:pPr>
                      <a:r>
                        <a:t>675</a:t>
                      </a:r>
                    </a:p>
                  </a:txBody>
                  <a:tcPr>
                    <a:solidFill>
                      <a:srgbClr val="5D2F85"/>
                    </a:solidFill>
                  </a:tcPr>
                </a:tc>
              </a:tr>
              <a:tr h="512064">
                <a:tc>
                  <a:txBody>
                    <a:bodyPr/>
                    <a:lstStyle/>
                    <a:p>
                      <a:pPr algn="ctr">
                        <a:defRPr sz="1100">
                          <a:solidFill>
                            <a:srgbClr val="FFFFFF"/>
                          </a:solidFill>
                          <a:latin typeface="Inter"/>
                        </a:defRPr>
                      </a:pPr>
                      <a:r>
                        <a:t>CE-PBFT</a:t>
                      </a:r>
                    </a:p>
                  </a:txBody>
                  <a:tcPr>
                    <a:solidFill>
                      <a:srgbClr val="205A49"/>
                    </a:solidFill>
                  </a:tcPr>
                </a:tc>
                <a:tc>
                  <a:txBody>
                    <a:bodyPr/>
                    <a:lstStyle/>
                    <a:p>
                      <a:pPr algn="ctr">
                        <a:defRPr sz="1100">
                          <a:solidFill>
                            <a:srgbClr val="FFFFFF"/>
                          </a:solidFill>
                          <a:latin typeface="Inter"/>
                        </a:defRPr>
                      </a:pPr>
                      <a:r>
                        <a:t>G3: HTC-PBFT</a:t>
                      </a:r>
                    </a:p>
                  </a:txBody>
                  <a:tcPr>
                    <a:solidFill>
                      <a:srgbClr val="205A49"/>
                    </a:solidFill>
                  </a:tcPr>
                </a:tc>
                <a:tc>
                  <a:txBody>
                    <a:bodyPr/>
                    <a:lstStyle/>
                    <a:p>
                      <a:pPr algn="ctr">
                        <a:defRPr sz="1100">
                          <a:solidFill>
                            <a:srgbClr val="FFFFFF"/>
                          </a:solidFill>
                          <a:latin typeface="Inter"/>
                        </a:defRPr>
                      </a:pPr>
                      <a:r>
                        <a:t>800 ms</a:t>
                      </a:r>
                    </a:p>
                  </a:txBody>
                  <a:tcPr>
                    <a:solidFill>
                      <a:srgbClr val="205A49"/>
                    </a:solidFill>
                  </a:tcPr>
                </a:tc>
                <a:tc>
                  <a:txBody>
                    <a:bodyPr/>
                    <a:lstStyle/>
                    <a:p>
                      <a:pPr algn="ctr">
                        <a:defRPr sz="1100">
                          <a:solidFill>
                            <a:srgbClr val="FFFFFF"/>
                          </a:solidFill>
                          <a:latin typeface="Inter"/>
                        </a:defRPr>
                      </a:pPr>
                      <a:r>
                        <a:t>62.5</a:t>
                      </a:r>
                    </a:p>
                  </a:txBody>
                  <a:tcPr>
                    <a:solidFill>
                      <a:srgbClr val="205A49"/>
                    </a:solidFill>
                  </a:tcPr>
                </a:tc>
                <a:tc>
                  <a:txBody>
                    <a:bodyPr/>
                    <a:lstStyle/>
                    <a:p>
                      <a:pPr algn="ctr">
                        <a:defRPr sz="1100">
                          <a:solidFill>
                            <a:srgbClr val="FFFFFF"/>
                          </a:solidFill>
                          <a:latin typeface="Inter"/>
                        </a:defRPr>
                      </a:pPr>
                      <a:r>
                        <a:t>16</a:t>
                      </a:r>
                    </a:p>
                  </a:txBody>
                  <a:tcPr>
                    <a:solidFill>
                      <a:srgbClr val="205A49"/>
                    </a:solidFill>
                  </a:tcPr>
                </a:tc>
                <a:tc>
                  <a:txBody>
                    <a:bodyPr/>
                    <a:lstStyle/>
                    <a:p>
                      <a:pPr algn="ctr">
                        <a:defRPr sz="1100">
                          <a:solidFill>
                            <a:srgbClr val="FFFFFF"/>
                          </a:solidFill>
                          <a:latin typeface="Inter"/>
                        </a:defRPr>
                      </a:pPr>
                      <a:r>
                        <a:t>0.0771</a:t>
                      </a:r>
                    </a:p>
                  </a:txBody>
                  <a:tcPr>
                    <a:solidFill>
                      <a:srgbClr val="205A49"/>
                    </a:solidFill>
                  </a:tcPr>
                </a:tc>
                <a:tc>
                  <a:txBody>
                    <a:bodyPr/>
                    <a:lstStyle/>
                    <a:p>
                      <a:pPr algn="ctr">
                        <a:defRPr sz="1100">
                          <a:solidFill>
                            <a:srgbClr val="FFFFFF"/>
                          </a:solidFill>
                          <a:latin typeface="Inter"/>
                        </a:defRPr>
                      </a:pPr>
                      <a:r>
                        <a:t>0.9229</a:t>
                      </a:r>
                    </a:p>
                  </a:txBody>
                  <a:tcPr>
                    <a:solidFill>
                      <a:srgbClr val="205A49"/>
                    </a:solidFill>
                  </a:tcPr>
                </a:tc>
                <a:tc>
                  <a:txBody>
                    <a:bodyPr/>
                    <a:lstStyle/>
                    <a:p>
                      <a:pPr algn="ctr">
                        <a:defRPr sz="1100">
                          <a:solidFill>
                            <a:srgbClr val="FFFFFF"/>
                          </a:solidFill>
                          <a:latin typeface="Inter"/>
                        </a:defRPr>
                      </a:pPr>
                      <a:r>
                        <a:t>1,875</a:t>
                      </a:r>
                    </a:p>
                  </a:txBody>
                  <a:tcPr>
                    <a:solidFill>
                      <a:srgbClr val="205A49"/>
                    </a:solidFill>
                  </a:tcPr>
                </a:tc>
              </a:tr>
              <a:tr h="512064">
                <a:tc>
                  <a:txBody>
                    <a:bodyPr/>
                    <a:lstStyle/>
                    <a:p>
                      <a:pPr algn="ctr">
                        <a:defRPr sz="1100">
                          <a:solidFill>
                            <a:srgbClr val="FFFFFF"/>
                          </a:solidFill>
                          <a:latin typeface="Inter"/>
                        </a:defRPr>
                      </a:pPr>
                      <a:r>
                        <a:t>G-PBFT</a:t>
                      </a:r>
                    </a:p>
                  </a:txBody>
                  <a:tcPr>
                    <a:solidFill>
                      <a:srgbClr val="205A49"/>
                    </a:solidFill>
                  </a:tcPr>
                </a:tc>
                <a:tc>
                  <a:txBody>
                    <a:bodyPr/>
                    <a:lstStyle/>
                    <a:p>
                      <a:pPr algn="ctr">
                        <a:defRPr sz="1100">
                          <a:solidFill>
                            <a:srgbClr val="FFFFFF"/>
                          </a:solidFill>
                          <a:latin typeface="Inter"/>
                        </a:defRPr>
                      </a:pPr>
                      <a:r>
                        <a:t>G3: HTC-PBFT</a:t>
                      </a:r>
                    </a:p>
                  </a:txBody>
                  <a:tcPr>
                    <a:solidFill>
                      <a:srgbClr val="205A49"/>
                    </a:solidFill>
                  </a:tcPr>
                </a:tc>
                <a:tc>
                  <a:txBody>
                    <a:bodyPr/>
                    <a:lstStyle/>
                    <a:p>
                      <a:pPr algn="ctr">
                        <a:defRPr sz="1100">
                          <a:solidFill>
                            <a:srgbClr val="FFFFFF"/>
                          </a:solidFill>
                          <a:latin typeface="Inter"/>
                        </a:defRPr>
                      </a:pPr>
                      <a:r>
                        <a:t>650 ms</a:t>
                      </a:r>
                    </a:p>
                  </a:txBody>
                  <a:tcPr>
                    <a:solidFill>
                      <a:srgbClr val="205A49"/>
                    </a:solidFill>
                  </a:tcPr>
                </a:tc>
                <a:tc>
                  <a:txBody>
                    <a:bodyPr/>
                    <a:lstStyle/>
                    <a:p>
                      <a:pPr algn="ctr">
                        <a:defRPr sz="1100">
                          <a:solidFill>
                            <a:srgbClr val="FFFFFF"/>
                          </a:solidFill>
                          <a:latin typeface="Inter"/>
                        </a:defRPr>
                      </a:pPr>
                      <a:r>
                        <a:t>76.9</a:t>
                      </a:r>
                    </a:p>
                  </a:txBody>
                  <a:tcPr>
                    <a:solidFill>
                      <a:srgbClr val="205A49"/>
                    </a:solidFill>
                  </a:tcPr>
                </a:tc>
                <a:tc>
                  <a:txBody>
                    <a:bodyPr/>
                    <a:lstStyle/>
                    <a:p>
                      <a:pPr algn="ctr">
                        <a:defRPr sz="1100">
                          <a:solidFill>
                            <a:srgbClr val="FFFFFF"/>
                          </a:solidFill>
                          <a:latin typeface="Inter"/>
                        </a:defRPr>
                      </a:pPr>
                      <a:r>
                        <a:t>13</a:t>
                      </a:r>
                    </a:p>
                  </a:txBody>
                  <a:tcPr>
                    <a:solidFill>
                      <a:srgbClr val="205A49"/>
                    </a:solidFill>
                  </a:tcPr>
                </a:tc>
                <a:tc>
                  <a:txBody>
                    <a:bodyPr/>
                    <a:lstStyle/>
                    <a:p>
                      <a:pPr algn="ctr">
                        <a:defRPr sz="1100">
                          <a:solidFill>
                            <a:srgbClr val="FFFFFF"/>
                          </a:solidFill>
                          <a:latin typeface="Inter"/>
                        </a:defRPr>
                      </a:pPr>
                      <a:r>
                        <a:t>0.0631</a:t>
                      </a:r>
                    </a:p>
                  </a:txBody>
                  <a:tcPr>
                    <a:solidFill>
                      <a:srgbClr val="205A49"/>
                    </a:solidFill>
                  </a:tcPr>
                </a:tc>
                <a:tc>
                  <a:txBody>
                    <a:bodyPr/>
                    <a:lstStyle/>
                    <a:p>
                      <a:pPr algn="ctr">
                        <a:defRPr sz="1100">
                          <a:solidFill>
                            <a:srgbClr val="FFFFFF"/>
                          </a:solidFill>
                          <a:latin typeface="Inter"/>
                        </a:defRPr>
                      </a:pPr>
                      <a:r>
                        <a:t>0.9369</a:t>
                      </a:r>
                    </a:p>
                  </a:txBody>
                  <a:tcPr>
                    <a:solidFill>
                      <a:srgbClr val="205A49"/>
                    </a:solidFill>
                  </a:tcPr>
                </a:tc>
                <a:tc>
                  <a:txBody>
                    <a:bodyPr/>
                    <a:lstStyle/>
                    <a:p>
                      <a:pPr algn="ctr">
                        <a:defRPr sz="1100">
                          <a:solidFill>
                            <a:srgbClr val="FFFFFF"/>
                          </a:solidFill>
                          <a:latin typeface="Inter"/>
                        </a:defRPr>
                      </a:pPr>
                      <a:r>
                        <a:t>2,700</a:t>
                      </a:r>
                    </a:p>
                  </a:txBody>
                  <a:tcPr>
                    <a:solidFill>
                      <a:srgbClr val="205A49"/>
                    </a:solidFill>
                  </a:tcPr>
                </a:tc>
              </a:tr>
              <a:tr h="512064">
                <a:tc>
                  <a:txBody>
                    <a:bodyPr/>
                    <a:lstStyle/>
                    <a:p>
                      <a:pPr algn="ctr">
                        <a:defRPr sz="1100">
                          <a:solidFill>
                            <a:srgbClr val="FFFFFF"/>
                          </a:solidFill>
                          <a:latin typeface="Inter"/>
                        </a:defRPr>
                      </a:pPr>
                      <a:r>
                        <a:t>SV-PBFT</a:t>
                      </a:r>
                    </a:p>
                  </a:txBody>
                  <a:tcPr>
                    <a:solidFill>
                      <a:srgbClr val="205A49"/>
                    </a:solidFill>
                  </a:tcPr>
                </a:tc>
                <a:tc>
                  <a:txBody>
                    <a:bodyPr/>
                    <a:lstStyle/>
                    <a:p>
                      <a:pPr algn="ctr">
                        <a:defRPr sz="1100">
                          <a:solidFill>
                            <a:srgbClr val="FFFFFF"/>
                          </a:solidFill>
                          <a:latin typeface="Inter"/>
                        </a:defRPr>
                      </a:pPr>
                      <a:r>
                        <a:t>G3: HTC-PBFT</a:t>
                      </a:r>
                    </a:p>
                  </a:txBody>
                  <a:tcPr>
                    <a:solidFill>
                      <a:srgbClr val="205A49"/>
                    </a:solidFill>
                  </a:tcPr>
                </a:tc>
                <a:tc>
                  <a:txBody>
                    <a:bodyPr/>
                    <a:lstStyle/>
                    <a:p>
                      <a:pPr algn="ctr">
                        <a:defRPr sz="1100">
                          <a:solidFill>
                            <a:srgbClr val="FFFFFF"/>
                          </a:solidFill>
                          <a:latin typeface="Inter"/>
                        </a:defRPr>
                      </a:pPr>
                      <a:r>
                        <a:t>500 ms</a:t>
                      </a:r>
                    </a:p>
                  </a:txBody>
                  <a:tcPr>
                    <a:solidFill>
                      <a:srgbClr val="205A49"/>
                    </a:solidFill>
                  </a:tcPr>
                </a:tc>
                <a:tc>
                  <a:txBody>
                    <a:bodyPr/>
                    <a:lstStyle/>
                    <a:p>
                      <a:pPr algn="ctr">
                        <a:defRPr sz="1100">
                          <a:solidFill>
                            <a:srgbClr val="FFFFFF"/>
                          </a:solidFill>
                          <a:latin typeface="Inter"/>
                        </a:defRPr>
                      </a:pPr>
                      <a:r>
                        <a:t>100.0</a:t>
                      </a:r>
                    </a:p>
                  </a:txBody>
                  <a:tcPr>
                    <a:solidFill>
                      <a:srgbClr val="205A49"/>
                    </a:solidFill>
                  </a:tcPr>
                </a:tc>
                <a:tc>
                  <a:txBody>
                    <a:bodyPr/>
                    <a:lstStyle/>
                    <a:p>
                      <a:pPr algn="ctr">
                        <a:defRPr sz="1100">
                          <a:solidFill>
                            <a:srgbClr val="FFFFFF"/>
                          </a:solidFill>
                          <a:latin typeface="Inter"/>
                        </a:defRPr>
                      </a:pPr>
                      <a:r>
                        <a:t>10</a:t>
                      </a:r>
                    </a:p>
                  </a:txBody>
                  <a:tcPr>
                    <a:solidFill>
                      <a:srgbClr val="205A49"/>
                    </a:solidFill>
                  </a:tcPr>
                </a:tc>
                <a:tc>
                  <a:txBody>
                    <a:bodyPr/>
                    <a:lstStyle/>
                    <a:p>
                      <a:pPr algn="ctr">
                        <a:defRPr sz="1100">
                          <a:solidFill>
                            <a:srgbClr val="FFFFFF"/>
                          </a:solidFill>
                          <a:latin typeface="Inter"/>
                        </a:defRPr>
                      </a:pPr>
                      <a:r>
                        <a:t>0.0489</a:t>
                      </a:r>
                    </a:p>
                  </a:txBody>
                  <a:tcPr>
                    <a:solidFill>
                      <a:srgbClr val="205A49"/>
                    </a:solidFill>
                  </a:tcPr>
                </a:tc>
                <a:tc>
                  <a:txBody>
                    <a:bodyPr/>
                    <a:lstStyle/>
                    <a:p>
                      <a:pPr algn="ctr">
                        <a:defRPr sz="1100">
                          <a:solidFill>
                            <a:srgbClr val="FFFFFF"/>
                          </a:solidFill>
                          <a:latin typeface="Inter"/>
                        </a:defRPr>
                      </a:pPr>
                      <a:r>
                        <a:t>0.9511</a:t>
                      </a:r>
                    </a:p>
                  </a:txBody>
                  <a:tcPr>
                    <a:solidFill>
                      <a:srgbClr val="205A49"/>
                    </a:solidFill>
                  </a:tcPr>
                </a:tc>
                <a:tc>
                  <a:txBody>
                    <a:bodyPr/>
                    <a:lstStyle/>
                    <a:p>
                      <a:pPr algn="ctr">
                        <a:defRPr sz="1100">
                          <a:solidFill>
                            <a:srgbClr val="FFFFFF"/>
                          </a:solidFill>
                          <a:latin typeface="Inter"/>
                        </a:defRPr>
                      </a:pPr>
                      <a:r>
                        <a:t>1,200</a:t>
                      </a:r>
                    </a:p>
                  </a:txBody>
                  <a:tcPr>
                    <a:solidFill>
                      <a:srgbClr val="205A49"/>
                    </a:solidFill>
                  </a:tcPr>
                </a:tc>
              </a:tr>
              <a:tr h="512064">
                <a:tc>
                  <a:txBody>
                    <a:bodyPr/>
                    <a:lstStyle/>
                    <a:p>
                      <a:pPr algn="ctr">
                        <a:defRPr sz="1100">
                          <a:solidFill>
                            <a:srgbClr val="FFFFFF"/>
                          </a:solidFill>
                          <a:latin typeface="Inter"/>
                        </a:defRPr>
                      </a:pPr>
                      <a:r>
                        <a:t>Tower BFT</a:t>
                      </a:r>
                    </a:p>
                  </a:txBody>
                  <a:tcPr>
                    <a:solidFill>
                      <a:srgbClr val="2C458A"/>
                    </a:solidFill>
                  </a:tcPr>
                </a:tc>
                <a:tc>
                  <a:txBody>
                    <a:bodyPr/>
                    <a:lstStyle/>
                    <a:p>
                      <a:pPr algn="ctr">
                        <a:defRPr sz="1100">
                          <a:solidFill>
                            <a:srgbClr val="FFFFFF"/>
                          </a:solidFill>
                          <a:latin typeface="Inter"/>
                        </a:defRPr>
                      </a:pPr>
                      <a:r>
                        <a:t>G4: SS-PR-BFT</a:t>
                      </a:r>
                    </a:p>
                  </a:txBody>
                  <a:tcPr>
                    <a:solidFill>
                      <a:srgbClr val="2C458A"/>
                    </a:solidFill>
                  </a:tcPr>
                </a:tc>
                <a:tc>
                  <a:txBody>
                    <a:bodyPr/>
                    <a:lstStyle/>
                    <a:p>
                      <a:pPr algn="ctr">
                        <a:defRPr sz="1100">
                          <a:solidFill>
                            <a:srgbClr val="FFFFFF"/>
                          </a:solidFill>
                          <a:latin typeface="Inter"/>
                        </a:defRPr>
                      </a:pPr>
                      <a:r>
                        <a:t>243 ms</a:t>
                      </a:r>
                    </a:p>
                  </a:txBody>
                  <a:tcPr>
                    <a:solidFill>
                      <a:srgbClr val="2C458A"/>
                    </a:solidFill>
                  </a:tcPr>
                </a:tc>
                <a:tc>
                  <a:txBody>
                    <a:bodyPr/>
                    <a:lstStyle/>
                    <a:p>
                      <a:pPr algn="ctr">
                        <a:defRPr sz="1100">
                          <a:solidFill>
                            <a:srgbClr val="FFFFFF"/>
                          </a:solidFill>
                          <a:latin typeface="Inter"/>
                        </a:defRPr>
                      </a:pPr>
                      <a:r>
                        <a:t>205.8</a:t>
                      </a:r>
                    </a:p>
                  </a:txBody>
                  <a:tcPr>
                    <a:solidFill>
                      <a:srgbClr val="2C458A"/>
                    </a:solidFill>
                  </a:tcPr>
                </a:tc>
                <a:tc>
                  <a:txBody>
                    <a:bodyPr/>
                    <a:lstStyle/>
                    <a:p>
                      <a:pPr algn="ctr">
                        <a:defRPr sz="1100">
                          <a:solidFill>
                            <a:srgbClr val="FFFFFF"/>
                          </a:solidFill>
                          <a:latin typeface="Inter"/>
                        </a:defRPr>
                      </a:pPr>
                      <a:r>
                        <a:t>4</a:t>
                      </a:r>
                    </a:p>
                  </a:txBody>
                  <a:tcPr>
                    <a:solidFill>
                      <a:srgbClr val="2C458A"/>
                    </a:solidFill>
                  </a:tcPr>
                </a:tc>
                <a:tc>
                  <a:txBody>
                    <a:bodyPr/>
                    <a:lstStyle/>
                    <a:p>
                      <a:pPr algn="ctr">
                        <a:defRPr sz="1100">
                          <a:solidFill>
                            <a:srgbClr val="FFFFFF"/>
                          </a:solidFill>
                          <a:latin typeface="Inter"/>
                        </a:defRPr>
                      </a:pPr>
                      <a:r>
                        <a:t>0.0199</a:t>
                      </a:r>
                    </a:p>
                  </a:txBody>
                  <a:tcPr>
                    <a:solidFill>
                      <a:srgbClr val="2C458A"/>
                    </a:solidFill>
                  </a:tcPr>
                </a:tc>
                <a:tc>
                  <a:txBody>
                    <a:bodyPr/>
                    <a:lstStyle/>
                    <a:p>
                      <a:pPr algn="ctr">
                        <a:defRPr sz="1100">
                          <a:solidFill>
                            <a:srgbClr val="FFFFFF"/>
                          </a:solidFill>
                          <a:latin typeface="Inter"/>
                        </a:defRPr>
                      </a:pPr>
                      <a:r>
                        <a:t>0.9802</a:t>
                      </a:r>
                    </a:p>
                  </a:txBody>
                  <a:tcPr>
                    <a:solidFill>
                      <a:srgbClr val="2C458A"/>
                    </a:solidFill>
                  </a:tcPr>
                </a:tc>
                <a:tc>
                  <a:txBody>
                    <a:bodyPr/>
                    <a:lstStyle/>
                    <a:p>
                      <a:pPr algn="ctr">
                        <a:defRPr sz="1100">
                          <a:solidFill>
                            <a:srgbClr val="FFFFFF"/>
                          </a:solidFill>
                          <a:latin typeface="Inter"/>
                        </a:defRPr>
                      </a:pPr>
                      <a:r>
                        <a:t>1,275</a:t>
                      </a:r>
                    </a:p>
                  </a:txBody>
                  <a:tcPr>
                    <a:solidFill>
                      <a:srgbClr val="2C458A"/>
                    </a:solidFill>
                  </a:tcPr>
                </a:tc>
              </a:tr>
              <a:tr h="512064">
                <a:tc>
                  <a:txBody>
                    <a:bodyPr/>
                    <a:lstStyle/>
                    <a:p>
                      <a:pPr algn="ctr">
                        <a:defRPr sz="1100">
                          <a:solidFill>
                            <a:srgbClr val="FFFFFF"/>
                          </a:solidFill>
                          <a:latin typeface="Inter"/>
                        </a:defRPr>
                      </a:pPr>
                      <a:r>
                        <a:t>RVR</a:t>
                      </a:r>
                    </a:p>
                  </a:txBody>
                  <a:tcPr>
                    <a:solidFill>
                      <a:srgbClr val="2C458A"/>
                    </a:solidFill>
                  </a:tcPr>
                </a:tc>
                <a:tc>
                  <a:txBody>
                    <a:bodyPr/>
                    <a:lstStyle/>
                    <a:p>
                      <a:pPr algn="ctr">
                        <a:defRPr sz="1100">
                          <a:solidFill>
                            <a:srgbClr val="FFFFFF"/>
                          </a:solidFill>
                          <a:latin typeface="Inter"/>
                        </a:defRPr>
                      </a:pPr>
                      <a:r>
                        <a:t>G4: SS-PR-BFT</a:t>
                      </a:r>
                    </a:p>
                  </a:txBody>
                  <a:tcPr>
                    <a:solidFill>
                      <a:srgbClr val="2C458A"/>
                    </a:solidFill>
                  </a:tcPr>
                </a:tc>
                <a:tc>
                  <a:txBody>
                    <a:bodyPr/>
                    <a:lstStyle/>
                    <a:p>
                      <a:pPr algn="ctr">
                        <a:defRPr sz="1100">
                          <a:solidFill>
                            <a:srgbClr val="FFFFFF"/>
                          </a:solidFill>
                          <a:latin typeface="Inter"/>
                        </a:defRPr>
                      </a:pPr>
                      <a:r>
                        <a:t>200 ms</a:t>
                      </a:r>
                    </a:p>
                  </a:txBody>
                  <a:tcPr>
                    <a:solidFill>
                      <a:srgbClr val="2C458A"/>
                    </a:solidFill>
                  </a:tcPr>
                </a:tc>
                <a:tc>
                  <a:txBody>
                    <a:bodyPr/>
                    <a:lstStyle/>
                    <a:p>
                      <a:pPr algn="ctr">
                        <a:defRPr sz="1100">
                          <a:solidFill>
                            <a:srgbClr val="FFFFFF"/>
                          </a:solidFill>
                          <a:latin typeface="Inter"/>
                        </a:defRPr>
                      </a:pPr>
                      <a:r>
                        <a:t>250.0</a:t>
                      </a:r>
                    </a:p>
                  </a:txBody>
                  <a:tcPr>
                    <a:solidFill>
                      <a:srgbClr val="2C458A"/>
                    </a:solidFill>
                  </a:tcPr>
                </a:tc>
                <a:tc>
                  <a:txBody>
                    <a:bodyPr/>
                    <a:lstStyle/>
                    <a:p>
                      <a:pPr algn="ctr">
                        <a:defRPr sz="1100">
                          <a:solidFill>
                            <a:srgbClr val="FFFFFF"/>
                          </a:solidFill>
                          <a:latin typeface="Inter"/>
                        </a:defRPr>
                      </a:pPr>
                      <a:r>
                        <a:t>4</a:t>
                      </a:r>
                    </a:p>
                  </a:txBody>
                  <a:tcPr>
                    <a:solidFill>
                      <a:srgbClr val="2C458A"/>
                    </a:solidFill>
                  </a:tcPr>
                </a:tc>
                <a:tc>
                  <a:txBody>
                    <a:bodyPr/>
                    <a:lstStyle/>
                    <a:p>
                      <a:pPr algn="ctr">
                        <a:defRPr sz="1100">
                          <a:solidFill>
                            <a:srgbClr val="FFFFFF"/>
                          </a:solidFill>
                          <a:latin typeface="Inter"/>
                        </a:defRPr>
                      </a:pPr>
                      <a:r>
                        <a:t>0.0199</a:t>
                      </a:r>
                    </a:p>
                  </a:txBody>
                  <a:tcPr>
                    <a:solidFill>
                      <a:srgbClr val="2C458A"/>
                    </a:solidFill>
                  </a:tcPr>
                </a:tc>
                <a:tc>
                  <a:txBody>
                    <a:bodyPr/>
                    <a:lstStyle/>
                    <a:p>
                      <a:pPr algn="ctr">
                        <a:defRPr sz="1100">
                          <a:solidFill>
                            <a:srgbClr val="FFFFFF"/>
                          </a:solidFill>
                          <a:latin typeface="Inter"/>
                        </a:defRPr>
                      </a:pPr>
                      <a:r>
                        <a:t>0.9802</a:t>
                      </a:r>
                    </a:p>
                  </a:txBody>
                  <a:tcPr>
                    <a:solidFill>
                      <a:srgbClr val="2C458A"/>
                    </a:solidFill>
                  </a:tcPr>
                </a:tc>
                <a:tc>
                  <a:txBody>
                    <a:bodyPr/>
                    <a:lstStyle/>
                    <a:p>
                      <a:pPr algn="ctr">
                        <a:defRPr sz="1100">
                          <a:solidFill>
                            <a:srgbClr val="FFFFFF"/>
                          </a:solidFill>
                          <a:latin typeface="Inter"/>
                        </a:defRPr>
                      </a:pPr>
                      <a:r>
                        <a:t>1,020</a:t>
                      </a:r>
                    </a:p>
                  </a:txBody>
                  <a:tcPr>
                    <a:solidFill>
                      <a:srgbClr val="2C458A"/>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365760"/>
          </a:xfrm>
          <a:prstGeom prst="rect">
            <a:avLst/>
          </a:prstGeom>
          <a:noFill/>
        </p:spPr>
        <p:txBody>
          <a:bodyPr wrap="square">
            <a:spAutoFit/>
          </a:bodyPr>
          <a:lstStyle/>
          <a:p>
            <a:pPr algn="l">
              <a:defRPr sz="1600" b="1">
                <a:solidFill>
                  <a:srgbClr val="0D9488"/>
                </a:solidFill>
                <a:latin typeface="Outfit"/>
              </a:defRPr>
            </a:pPr>
            <a:r>
              <a:t>07 / CELEBRATING SUCCESS</a:t>
            </a:r>
          </a:p>
        </p:txBody>
      </p:sp>
      <p:sp>
        <p:nvSpPr>
          <p:cNvPr id="4" name="TextBox 3"/>
          <p:cNvSpPr txBox="1"/>
          <p:nvPr/>
        </p:nvSpPr>
        <p:spPr>
          <a:xfrm>
            <a:off x="457200" y="548640"/>
            <a:ext cx="10972800" cy="548640"/>
          </a:xfrm>
          <a:prstGeom prst="rect">
            <a:avLst/>
          </a:prstGeom>
          <a:noFill/>
        </p:spPr>
        <p:txBody>
          <a:bodyPr wrap="square">
            <a:spAutoFit/>
          </a:bodyPr>
          <a:lstStyle/>
          <a:p>
            <a:pPr algn="l">
              <a:defRPr sz="2800" b="1">
                <a:solidFill>
                  <a:srgbClr val="0F172A"/>
                </a:solidFill>
                <a:latin typeface="Outfit"/>
              </a:defRPr>
            </a:pPr>
            <a:r>
              <a:t>TRIUMPHS AND TESTIMONIALS</a:t>
            </a:r>
          </a:p>
        </p:txBody>
      </p:sp>
      <p:sp>
        <p:nvSpPr>
          <p:cNvPr id="5" name="Rectangle 4"/>
          <p:cNvSpPr/>
          <p:nvPr/>
        </p:nvSpPr>
        <p:spPr>
          <a:xfrm>
            <a:off x="457200" y="1097280"/>
            <a:ext cx="22860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5120640" cy="48463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4754880" cy="914400"/>
          </a:xfrm>
          <a:prstGeom prst="rect">
            <a:avLst/>
          </a:prstGeom>
          <a:noFill/>
        </p:spPr>
        <p:txBody>
          <a:bodyPr wrap="square">
            <a:spAutoFit/>
          </a:bodyPr>
          <a:lstStyle/>
          <a:p>
            <a:pPr algn="l">
              <a:defRPr sz="6400" b="1">
                <a:solidFill>
                  <a:srgbClr val="0284C7"/>
                </a:solidFill>
                <a:latin typeface="Outfit"/>
              </a:defRPr>
            </a:pPr>
            <a:r>
              <a:t>98.02%</a:t>
            </a:r>
          </a:p>
        </p:txBody>
      </p:sp>
      <p:sp>
        <p:nvSpPr>
          <p:cNvPr id="8" name="TextBox 7"/>
          <p:cNvSpPr txBox="1"/>
          <p:nvPr/>
        </p:nvSpPr>
        <p:spPr>
          <a:xfrm>
            <a:off x="640080" y="2468880"/>
            <a:ext cx="4754880" cy="365760"/>
          </a:xfrm>
          <a:prstGeom prst="rect">
            <a:avLst/>
          </a:prstGeom>
          <a:noFill/>
        </p:spPr>
        <p:txBody>
          <a:bodyPr wrap="square">
            <a:spAutoFit/>
          </a:bodyPr>
          <a:lstStyle/>
          <a:p>
            <a:pPr algn="l">
              <a:defRPr sz="1500" b="1">
                <a:solidFill>
                  <a:srgbClr val="334155"/>
                </a:solidFill>
                <a:latin typeface="Outfit"/>
              </a:defRPr>
            </a:pPr>
            <a:r>
              <a:t>Peak Unified Security Score (P_secure)</a:t>
            </a:r>
          </a:p>
        </p:txBody>
      </p:sp>
      <p:sp>
        <p:nvSpPr>
          <p:cNvPr id="9" name="TextBox 8"/>
          <p:cNvSpPr txBox="1"/>
          <p:nvPr/>
        </p:nvSpPr>
        <p:spPr>
          <a:xfrm>
            <a:off x="640080" y="2926080"/>
            <a:ext cx="4754880" cy="3108960"/>
          </a:xfrm>
          <a:prstGeom prst="rect">
            <a:avLst/>
          </a:prstGeom>
          <a:noFill/>
        </p:spPr>
        <p:txBody>
          <a:bodyPr wrap="square">
            <a:spAutoFit/>
          </a:bodyPr>
          <a:lstStyle/>
          <a:p>
            <a:pPr>
              <a:spcBef>
                <a:spcPts val="800"/>
              </a:spcBef>
              <a:defRPr sz="1300" b="1">
                <a:solidFill>
                  <a:srgbClr val="0D9488"/>
                </a:solidFill>
                <a:latin typeface="Inter"/>
              </a:defRPr>
            </a:pPr>
            <a:r>
              <a:t>Group 4 Sub-Second Security:</a:t>
            </a:r>
          </a:p>
          <a:p>
            <a:pPr lvl="1">
              <a:spcBef>
                <a:spcPts val="300"/>
              </a:spcBef>
              <a:defRPr sz="1200">
                <a:solidFill>
                  <a:srgbClr val="334155"/>
                </a:solidFill>
                <a:latin typeface="Inter"/>
              </a:defRPr>
            </a:pPr>
            <a:r>
              <a:t>By pipelining validation slots, Tower BFT reduces block time to 243ms, limiting the attack window to N=4 attempts.</a:t>
            </a:r>
          </a:p>
          <a:p>
            <a:pPr lvl="1">
              <a:spcBef>
                <a:spcPts val="300"/>
              </a:spcBef>
              <a:defRPr sz="1200">
                <a:solidFill>
                  <a:srgbClr val="334155"/>
                </a:solidFill>
                <a:latin typeface="Inter"/>
              </a:defRPr>
            </a:pPr>
            <a:r>
              <a:t>RVR consensus reduces latency further to 200ms using Verifiable Random Functions.</a:t>
            </a:r>
          </a:p>
          <a:p>
            <a:pPr>
              <a:spcBef>
                <a:spcPts val="800"/>
              </a:spcBef>
              <a:defRPr sz="1300" b="1">
                <a:solidFill>
                  <a:srgbClr val="0D9488"/>
                </a:solidFill>
                <a:latin typeface="Inter"/>
              </a:defRPr>
            </a:pPr>
            <a:r>
              <a:t>Consensus Latency Sensitivity:</a:t>
            </a:r>
          </a:p>
          <a:p>
            <a:pPr lvl="1">
              <a:spcBef>
                <a:spcPts val="300"/>
              </a:spcBef>
              <a:defRPr sz="1200">
                <a:solidFill>
                  <a:srgbClr val="334155"/>
                </a:solidFill>
                <a:latin typeface="Inter"/>
              </a:defRPr>
            </a:pPr>
            <a:r>
              <a:t>We show that as block time increases, P_temporal decays exponentially.</a:t>
            </a:r>
          </a:p>
          <a:p>
            <a:pPr lvl="1">
              <a:spcBef>
                <a:spcPts val="300"/>
              </a:spcBef>
              <a:defRPr sz="1200">
                <a:solidFill>
                  <a:srgbClr val="334155"/>
                </a:solidFill>
                <a:latin typeface="Inter"/>
              </a:defRPr>
            </a:pPr>
            <a:r>
              <a:t>Slowing block times directly compromise physical actuators before consensus finishes.</a:t>
            </a:r>
          </a:p>
        </p:txBody>
      </p:sp>
      <p:sp>
        <p:nvSpPr>
          <p:cNvPr id="10" name="Rounded Rectangle 9"/>
          <p:cNvSpPr/>
          <p:nvPr/>
        </p:nvSpPr>
        <p:spPr>
          <a:xfrm>
            <a:off x="5806440" y="1325880"/>
            <a:ext cx="5943600" cy="4297680"/>
          </a:xfrm>
          <a:prstGeom prst="roundRect">
            <a:avLst/>
          </a:prstGeom>
          <a:solidFill>
            <a:srgbClr val="FFFFFF">
              <a:alpha val="10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mparison_temporal_decay.png"/>
          <p:cNvPicPr>
            <a:picLocks noChangeAspect="1"/>
          </p:cNvPicPr>
          <p:nvPr/>
        </p:nvPicPr>
        <p:blipFill>
          <a:blip r:embed="rId3"/>
          <a:stretch>
            <a:fillRect/>
          </a:stretch>
        </p:blipFill>
        <p:spPr>
          <a:xfrm>
            <a:off x="5852160" y="1371600"/>
            <a:ext cx="5852160" cy="3931920"/>
          </a:xfrm>
          <a:prstGeom prst="rect">
            <a:avLst/>
          </a:prstGeom>
        </p:spPr>
      </p:pic>
      <p:sp>
        <p:nvSpPr>
          <p:cNvPr id="12" name="TextBox 11"/>
          <p:cNvSpPr txBox="1"/>
          <p:nvPr/>
        </p:nvSpPr>
        <p:spPr>
          <a:xfrm>
            <a:off x="5852160" y="5394959"/>
            <a:ext cx="5852160" cy="274320"/>
          </a:xfrm>
          <a:prstGeom prst="rect">
            <a:avLst/>
          </a:prstGeom>
          <a:noFill/>
        </p:spPr>
        <p:txBody>
          <a:bodyPr wrap="square">
            <a:spAutoFit/>
          </a:bodyPr>
          <a:lstStyle/>
          <a:p>
            <a:pPr algn="ctr">
              <a:defRPr sz="1000" b="0">
                <a:solidFill>
                  <a:srgbClr val="334155"/>
                </a:solidFill>
                <a:latin typeface="Outfit"/>
              </a:defRPr>
            </a:pPr>
            <a:r>
              <a:t>Figure 1.4: P_temporal Decay Curves with Operating Points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82880"/>
            <a:ext cx="10972800" cy="365760"/>
          </a:xfrm>
          <a:prstGeom prst="rect">
            <a:avLst/>
          </a:prstGeom>
          <a:noFill/>
        </p:spPr>
        <p:txBody>
          <a:bodyPr wrap="square">
            <a:spAutoFit/>
          </a:bodyPr>
          <a:lstStyle/>
          <a:p>
            <a:pPr algn="l">
              <a:defRPr sz="1600" b="1">
                <a:solidFill>
                  <a:srgbClr val="0D9488"/>
                </a:solidFill>
                <a:latin typeface="Outfit"/>
              </a:defRPr>
            </a:pPr>
            <a:r>
              <a:t>08 / A BALANCED PERSPECTIVE</a:t>
            </a:r>
          </a:p>
        </p:txBody>
      </p:sp>
      <p:sp>
        <p:nvSpPr>
          <p:cNvPr id="4" name="TextBox 3"/>
          <p:cNvSpPr txBox="1"/>
          <p:nvPr/>
        </p:nvSpPr>
        <p:spPr>
          <a:xfrm>
            <a:off x="457200" y="457200"/>
            <a:ext cx="10972800" cy="548640"/>
          </a:xfrm>
          <a:prstGeom prst="rect">
            <a:avLst/>
          </a:prstGeom>
          <a:noFill/>
        </p:spPr>
        <p:txBody>
          <a:bodyPr wrap="square">
            <a:spAutoFit/>
          </a:bodyPr>
          <a:lstStyle/>
          <a:p>
            <a:pPr algn="l">
              <a:defRPr sz="2800" b="1">
                <a:solidFill>
                  <a:srgbClr val="0F172A"/>
                </a:solidFill>
                <a:latin typeface="Outfit"/>
              </a:defRPr>
            </a:pPr>
            <a:r>
              <a:t>A SWOT ANALYSIS</a:t>
            </a:r>
          </a:p>
        </p:txBody>
      </p:sp>
      <p:sp>
        <p:nvSpPr>
          <p:cNvPr id="5" name="Rounded Rectangle 4"/>
          <p:cNvSpPr/>
          <p:nvPr/>
        </p:nvSpPr>
        <p:spPr>
          <a:xfrm>
            <a:off x="457200" y="1097280"/>
            <a:ext cx="5394960" cy="237744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88720"/>
            <a:ext cx="5029200" cy="274320"/>
          </a:xfrm>
          <a:prstGeom prst="rect">
            <a:avLst/>
          </a:prstGeom>
          <a:noFill/>
        </p:spPr>
        <p:txBody>
          <a:bodyPr wrap="square">
            <a:spAutoFit/>
          </a:bodyPr>
          <a:lstStyle/>
          <a:p>
            <a:pPr algn="l">
              <a:defRPr sz="1400" b="1">
                <a:solidFill>
                  <a:srgbClr val="047857"/>
                </a:solidFill>
                <a:latin typeface="Outfit"/>
              </a:defRPr>
            </a:pPr>
            <a:r>
              <a:t>STRENGTH (SS-PR-BFT)</a:t>
            </a:r>
          </a:p>
        </p:txBody>
      </p:sp>
      <p:sp>
        <p:nvSpPr>
          <p:cNvPr id="7" name="TextBox 6"/>
          <p:cNvSpPr txBox="1"/>
          <p:nvPr/>
        </p:nvSpPr>
        <p:spPr>
          <a:xfrm>
            <a:off x="640080" y="1463040"/>
            <a:ext cx="5029200" cy="1920240"/>
          </a:xfrm>
          <a:prstGeom prst="rect">
            <a:avLst/>
          </a:prstGeom>
          <a:noFill/>
        </p:spPr>
        <p:txBody>
          <a:bodyPr wrap="square">
            <a:spAutoFit/>
          </a:bodyPr>
          <a:lstStyle/>
          <a:p>
            <a:pPr>
              <a:spcBef>
                <a:spcPts val="800"/>
              </a:spcBef>
              <a:defRPr sz="1200" b="0">
                <a:solidFill>
                  <a:srgbClr val="0F172A"/>
                </a:solidFill>
                <a:latin typeface="Inter"/>
              </a:defRPr>
            </a:pPr>
            <a:r>
              <a:t>Consensus completes in sub-250ms (Tower BFT and RVR).</a:t>
            </a:r>
          </a:p>
          <a:p>
            <a:pPr>
              <a:spcBef>
                <a:spcPts val="800"/>
              </a:spcBef>
              <a:defRPr sz="1200" b="0">
                <a:solidFill>
                  <a:srgbClr val="0F172A"/>
                </a:solidFill>
                <a:latin typeface="Inter"/>
              </a:defRPr>
            </a:pPr>
            <a:r>
              <a:t>Supports high throughput (250+ TPS) for EV trading.</a:t>
            </a:r>
          </a:p>
          <a:p>
            <a:pPr>
              <a:spcBef>
                <a:spcPts val="800"/>
              </a:spcBef>
              <a:defRPr sz="1200" b="0">
                <a:solidFill>
                  <a:srgbClr val="0F172A"/>
                </a:solidFill>
                <a:latin typeface="Inter"/>
              </a:defRPr>
            </a:pPr>
            <a:r>
              <a:t>Leader selection is hidden using Verifiable Random Functions (VRF).</a:t>
            </a:r>
          </a:p>
        </p:txBody>
      </p:sp>
      <p:sp>
        <p:nvSpPr>
          <p:cNvPr id="8" name="Rounded Rectangle 7"/>
          <p:cNvSpPr/>
          <p:nvPr/>
        </p:nvSpPr>
        <p:spPr>
          <a:xfrm>
            <a:off x="6217920" y="1097280"/>
            <a:ext cx="5394960" cy="237744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188720"/>
            <a:ext cx="5029200" cy="274320"/>
          </a:xfrm>
          <a:prstGeom prst="rect">
            <a:avLst/>
          </a:prstGeom>
          <a:noFill/>
        </p:spPr>
        <p:txBody>
          <a:bodyPr wrap="square">
            <a:spAutoFit/>
          </a:bodyPr>
          <a:lstStyle/>
          <a:p>
            <a:pPr algn="l">
              <a:defRPr sz="1400" b="1">
                <a:solidFill>
                  <a:srgbClr val="BE123C"/>
                </a:solidFill>
                <a:latin typeface="Outfit"/>
              </a:defRPr>
            </a:pPr>
            <a:r>
              <a:t>WEAKNESS (CFM-BA Gaps)</a:t>
            </a:r>
          </a:p>
        </p:txBody>
      </p:sp>
      <p:sp>
        <p:nvSpPr>
          <p:cNvPr id="10" name="TextBox 9"/>
          <p:cNvSpPr txBox="1"/>
          <p:nvPr/>
        </p:nvSpPr>
        <p:spPr>
          <a:xfrm>
            <a:off x="6400800" y="1463040"/>
            <a:ext cx="5029200" cy="1920240"/>
          </a:xfrm>
          <a:prstGeom prst="rect">
            <a:avLst/>
          </a:prstGeom>
          <a:noFill/>
        </p:spPr>
        <p:txBody>
          <a:bodyPr wrap="square">
            <a:spAutoFit/>
          </a:bodyPr>
          <a:lstStyle/>
          <a:p>
            <a:pPr>
              <a:spcBef>
                <a:spcPts val="800"/>
              </a:spcBef>
              <a:defRPr sz="1200" b="0">
                <a:solidFill>
                  <a:srgbClr val="0F172A"/>
                </a:solidFill>
                <a:latin typeface="Inter"/>
              </a:defRPr>
            </a:pPr>
            <a:r>
              <a:t>Classical BFT has exponential latency (OM(m) takes 43.35s).</a:t>
            </a:r>
          </a:p>
          <a:p>
            <a:pPr>
              <a:spcBef>
                <a:spcPts val="800"/>
              </a:spcBef>
              <a:defRPr sz="1200" b="0">
                <a:solidFill>
                  <a:srgbClr val="0F172A"/>
                </a:solidFill>
                <a:latin typeface="Inter"/>
              </a:defRPr>
            </a:pPr>
            <a:r>
              <a:t>Message overhead reaches 10^18 for n=51 nodes.</a:t>
            </a:r>
          </a:p>
          <a:p>
            <a:pPr>
              <a:spcBef>
                <a:spcPts val="800"/>
              </a:spcBef>
              <a:defRPr sz="1200" b="0">
                <a:solidFill>
                  <a:srgbClr val="0F172A"/>
                </a:solidFill>
                <a:latin typeface="Inter"/>
              </a:defRPr>
            </a:pPr>
            <a:r>
              <a:t>Leaves grid exposed to repeated temporal FDI attacks.</a:t>
            </a:r>
          </a:p>
        </p:txBody>
      </p:sp>
      <p:sp>
        <p:nvSpPr>
          <p:cNvPr id="11" name="Rounded Rectangle 10"/>
          <p:cNvSpPr/>
          <p:nvPr/>
        </p:nvSpPr>
        <p:spPr>
          <a:xfrm>
            <a:off x="457200" y="3840480"/>
            <a:ext cx="5394960" cy="237744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931920"/>
            <a:ext cx="5029200" cy="274320"/>
          </a:xfrm>
          <a:prstGeom prst="rect">
            <a:avLst/>
          </a:prstGeom>
          <a:noFill/>
        </p:spPr>
        <p:txBody>
          <a:bodyPr wrap="square">
            <a:spAutoFit/>
          </a:bodyPr>
          <a:lstStyle/>
          <a:p>
            <a:pPr algn="l">
              <a:defRPr sz="1400" b="1">
                <a:solidFill>
                  <a:srgbClr val="1D4ED8"/>
                </a:solidFill>
                <a:latin typeface="Outfit"/>
              </a:defRPr>
            </a:pPr>
            <a:r>
              <a:t>OPPORTUNITY (Key Management)</a:t>
            </a:r>
          </a:p>
        </p:txBody>
      </p:sp>
      <p:sp>
        <p:nvSpPr>
          <p:cNvPr id="13" name="TextBox 12"/>
          <p:cNvSpPr txBox="1"/>
          <p:nvPr/>
        </p:nvSpPr>
        <p:spPr>
          <a:xfrm>
            <a:off x="640080" y="4206240"/>
            <a:ext cx="5029200" cy="1920240"/>
          </a:xfrm>
          <a:prstGeom prst="rect">
            <a:avLst/>
          </a:prstGeom>
          <a:noFill/>
        </p:spPr>
        <p:txBody>
          <a:bodyPr wrap="square">
            <a:spAutoFit/>
          </a:bodyPr>
          <a:lstStyle/>
          <a:p>
            <a:pPr>
              <a:spcBef>
                <a:spcPts val="800"/>
              </a:spcBef>
              <a:defRPr sz="1200" b="0">
                <a:solidFill>
                  <a:srgbClr val="0F172A"/>
                </a:solidFill>
                <a:latin typeface="Inter"/>
              </a:defRPr>
            </a:pPr>
            <a:r>
              <a:t>Deploying Shamir Secret Sharing (3,5) setup across grid nodes.</a:t>
            </a:r>
          </a:p>
          <a:p>
            <a:pPr>
              <a:spcBef>
                <a:spcPts val="800"/>
              </a:spcBef>
              <a:defRPr sz="1200" b="0">
                <a:solidFill>
                  <a:srgbClr val="0F172A"/>
                </a:solidFill>
                <a:latin typeface="Inter"/>
              </a:defRPr>
            </a:pPr>
            <a:r>
              <a:t>Reduces receiver compromise probability (P_R) from 0.01 to 9.85 x 10^-6.</a:t>
            </a:r>
          </a:p>
          <a:p>
            <a:pPr>
              <a:spcBef>
                <a:spcPts val="800"/>
              </a:spcBef>
              <a:defRPr sz="1200" b="0">
                <a:solidFill>
                  <a:srgbClr val="0F172A"/>
                </a:solidFill>
                <a:latin typeface="Inter"/>
              </a:defRPr>
            </a:pPr>
            <a:r>
              <a:t>Reduces node compromise risk by over 1,000x.</a:t>
            </a:r>
          </a:p>
        </p:txBody>
      </p:sp>
      <p:sp>
        <p:nvSpPr>
          <p:cNvPr id="14" name="Rounded Rectangle 13"/>
          <p:cNvSpPr/>
          <p:nvPr/>
        </p:nvSpPr>
        <p:spPr>
          <a:xfrm>
            <a:off x="6217920" y="3840480"/>
            <a:ext cx="5394960" cy="237744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931920"/>
            <a:ext cx="5029200" cy="274320"/>
          </a:xfrm>
          <a:prstGeom prst="rect">
            <a:avLst/>
          </a:prstGeom>
          <a:noFill/>
        </p:spPr>
        <p:txBody>
          <a:bodyPr wrap="square">
            <a:spAutoFit/>
          </a:bodyPr>
          <a:lstStyle/>
          <a:p>
            <a:pPr algn="l">
              <a:defRPr sz="1400" b="1">
                <a:solidFill>
                  <a:srgbClr val="7E22CE"/>
                </a:solidFill>
                <a:latin typeface="Outfit"/>
              </a:defRPr>
            </a:pPr>
            <a:r>
              <a:t>THREAT (Network Degradation)</a:t>
            </a:r>
          </a:p>
        </p:txBody>
      </p:sp>
      <p:sp>
        <p:nvSpPr>
          <p:cNvPr id="16" name="TextBox 15"/>
          <p:cNvSpPr txBox="1"/>
          <p:nvPr/>
        </p:nvSpPr>
        <p:spPr>
          <a:xfrm>
            <a:off x="6400800" y="4206240"/>
            <a:ext cx="5029200" cy="1920240"/>
          </a:xfrm>
          <a:prstGeom prst="rect">
            <a:avLst/>
          </a:prstGeom>
          <a:noFill/>
        </p:spPr>
        <p:txBody>
          <a:bodyPr wrap="square">
            <a:spAutoFit/>
          </a:bodyPr>
          <a:lstStyle/>
          <a:p>
            <a:pPr>
              <a:spcBef>
                <a:spcPts val="800"/>
              </a:spcBef>
              <a:defRPr sz="1200" b="0">
                <a:solidFill>
                  <a:srgbClr val="0F172A"/>
                </a:solidFill>
                <a:latin typeface="Inter"/>
              </a:defRPr>
            </a:pPr>
            <a:r>
              <a:t>SCADA grids suffer from high packet loss (up to 20%) and delay jitter.</a:t>
            </a:r>
          </a:p>
          <a:p>
            <a:pPr>
              <a:spcBef>
                <a:spcPts val="800"/>
              </a:spcBef>
              <a:defRPr sz="1200" b="0">
                <a:solidFill>
                  <a:srgbClr val="0F172A"/>
                </a:solidFill>
                <a:latin typeface="Inter"/>
              </a:defRPr>
            </a:pPr>
            <a:r>
              <a:t>Traditional consensus halts or forks under these network conditions.</a:t>
            </a:r>
          </a:p>
          <a:p>
            <a:pPr>
              <a:spcBef>
                <a:spcPts val="800"/>
              </a:spcBef>
              <a:defRPr sz="1200" b="0">
                <a:solidFill>
                  <a:srgbClr val="0F172A"/>
                </a:solidFill>
                <a:latin typeface="Inter"/>
              </a:defRPr>
            </a:pPr>
            <a:r>
              <a:t>Mitigation: Pipelined slots ensure consensus remains stable.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365760"/>
          </a:xfrm>
          <a:prstGeom prst="rect">
            <a:avLst/>
          </a:prstGeom>
          <a:noFill/>
        </p:spPr>
        <p:txBody>
          <a:bodyPr wrap="square">
            <a:spAutoFit/>
          </a:bodyPr>
          <a:lstStyle/>
          <a:p>
            <a:pPr algn="l">
              <a:defRPr sz="1600" b="1">
                <a:solidFill>
                  <a:srgbClr val="0D9488"/>
                </a:solidFill>
                <a:latin typeface="Outfit"/>
              </a:defRPr>
            </a:pPr>
            <a:r>
              <a:t>09 / THE JOURNEY CONTINUES</a:t>
            </a:r>
          </a:p>
        </p:txBody>
      </p:sp>
      <p:sp>
        <p:nvSpPr>
          <p:cNvPr id="4" name="TextBox 3"/>
          <p:cNvSpPr txBox="1"/>
          <p:nvPr/>
        </p:nvSpPr>
        <p:spPr>
          <a:xfrm>
            <a:off x="457200" y="548640"/>
            <a:ext cx="10972800" cy="548640"/>
          </a:xfrm>
          <a:prstGeom prst="rect">
            <a:avLst/>
          </a:prstGeom>
          <a:noFill/>
        </p:spPr>
        <p:txBody>
          <a:bodyPr wrap="square">
            <a:spAutoFit/>
          </a:bodyPr>
          <a:lstStyle/>
          <a:p>
            <a:pPr algn="l">
              <a:defRPr sz="2800" b="1">
                <a:solidFill>
                  <a:srgbClr val="0F172A"/>
                </a:solidFill>
                <a:latin typeface="Outfit"/>
              </a:defRPr>
            </a:pPr>
            <a:r>
              <a:t>FUTURE PLANS AND ASPIRATIONS</a:t>
            </a:r>
          </a:p>
        </p:txBody>
      </p:sp>
      <p:sp>
        <p:nvSpPr>
          <p:cNvPr id="5" name="Rectangle 4"/>
          <p:cNvSpPr/>
          <p:nvPr/>
        </p:nvSpPr>
        <p:spPr>
          <a:xfrm>
            <a:off x="457200" y="1097280"/>
            <a:ext cx="22860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5303520" cy="48463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4937760" cy="4480560"/>
          </a:xfrm>
          <a:prstGeom prst="rect">
            <a:avLst/>
          </a:prstGeom>
          <a:noFill/>
        </p:spPr>
        <p:txBody>
          <a:bodyPr wrap="square">
            <a:spAutoFit/>
          </a:bodyPr>
          <a:lstStyle/>
          <a:p>
            <a:pPr>
              <a:spcBef>
                <a:spcPts val="800"/>
              </a:spcBef>
              <a:defRPr sz="1300" b="1">
                <a:solidFill>
                  <a:srgbClr val="0D9488"/>
                </a:solidFill>
                <a:latin typeface="Inter"/>
              </a:defRPr>
            </a:pPr>
            <a:r>
              <a:t>Completed Work (Weeks 1-3):</a:t>
            </a:r>
          </a:p>
          <a:p>
            <a:pPr lvl="1">
              <a:spcBef>
                <a:spcPts val="300"/>
              </a:spcBef>
              <a:defRPr sz="1200">
                <a:solidFill>
                  <a:srgbClr val="334155"/>
                </a:solidFill>
                <a:latin typeface="Inter"/>
              </a:defRPr>
            </a:pPr>
            <a:r>
              <a:t>Week 1: Identified gaps in literature and unquantified latency vulnerabilities.</a:t>
            </a:r>
          </a:p>
          <a:p>
            <a:pPr lvl="1">
              <a:spcBef>
                <a:spcPts val="300"/>
              </a:spcBef>
              <a:defRPr sz="1200">
                <a:solidFill>
                  <a:srgbClr val="334155"/>
                </a:solidFill>
                <a:latin typeface="Inter"/>
              </a:defRPr>
            </a:pPr>
            <a:r>
              <a:t>Week 2: Derived analytical proofs for OM(m) vs. Tower BFT.</a:t>
            </a:r>
          </a:p>
          <a:p>
            <a:pPr lvl="1">
              <a:spcBef>
                <a:spcPts val="300"/>
              </a:spcBef>
              <a:defRPr sz="1200">
                <a:solidFill>
                  <a:srgbClr val="334155"/>
                </a:solidFill>
                <a:latin typeface="Inter"/>
              </a:defRPr>
            </a:pPr>
            <a:r>
              <a:t>Week 3: Coded the four-group analytical sweep engine and generated all comparative figures.</a:t>
            </a:r>
          </a:p>
          <a:p>
            <a:pPr>
              <a:spcBef>
                <a:spcPts val="800"/>
              </a:spcBef>
              <a:defRPr sz="1300" b="1">
                <a:solidFill>
                  <a:srgbClr val="0D9488"/>
                </a:solidFill>
                <a:latin typeface="Inter"/>
              </a:defRPr>
            </a:pPr>
            <a:r>
              <a:t>Future Research Activities (Week 4):</a:t>
            </a:r>
          </a:p>
          <a:p>
            <a:pPr lvl="1">
              <a:spcBef>
                <a:spcPts val="300"/>
              </a:spcBef>
              <a:defRPr sz="1200">
                <a:solidFill>
                  <a:srgbClr val="334155"/>
                </a:solidFill>
                <a:latin typeface="Inter"/>
              </a:defRPr>
            </a:pPr>
            <a:r>
              <a:t>Integrating key threshold cryptography (Shamir SSS Binomial CDF) into the STSF model.</a:t>
            </a:r>
          </a:p>
          <a:p>
            <a:pPr lvl="1">
              <a:spcBef>
                <a:spcPts val="300"/>
              </a:spcBef>
              <a:defRPr sz="1200">
                <a:solidFill>
                  <a:srgbClr val="334155"/>
                </a:solidFill>
                <a:latin typeface="Inter"/>
              </a:defRPr>
            </a:pPr>
            <a:r>
              <a:t>Sweeping packet loss (0% to 20%) and delay jitter to evaluate network resilience.</a:t>
            </a:r>
          </a:p>
          <a:p>
            <a:pPr lvl="1">
              <a:spcBef>
                <a:spcPts val="300"/>
              </a:spcBef>
              <a:defRPr sz="1200">
                <a:solidFill>
                  <a:srgbClr val="334155"/>
                </a:solidFill>
                <a:latin typeface="Inter"/>
              </a:defRPr>
            </a:pPr>
            <a:r>
              <a:t>Drafting final paper submission for IEEE Transactions.</a:t>
            </a:r>
          </a:p>
        </p:txBody>
      </p:sp>
      <p:sp>
        <p:nvSpPr>
          <p:cNvPr id="8" name="Rounded Rectangle 7"/>
          <p:cNvSpPr/>
          <p:nvPr/>
        </p:nvSpPr>
        <p:spPr>
          <a:xfrm>
            <a:off x="5989320" y="1325880"/>
            <a:ext cx="5760720" cy="4297680"/>
          </a:xfrm>
          <a:prstGeom prst="roundRect">
            <a:avLst/>
          </a:prstGeom>
          <a:solidFill>
            <a:srgbClr val="FFFFFF">
              <a:alpha val="10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isual_timeline.png"/>
          <p:cNvPicPr>
            <a:picLocks noChangeAspect="1"/>
          </p:cNvPicPr>
          <p:nvPr/>
        </p:nvPicPr>
        <p:blipFill>
          <a:blip r:embed="rId3"/>
          <a:stretch>
            <a:fillRect/>
          </a:stretch>
        </p:blipFill>
        <p:spPr>
          <a:xfrm>
            <a:off x="6035040" y="1371600"/>
            <a:ext cx="5669280" cy="3931920"/>
          </a:xfrm>
          <a:prstGeom prst="rect">
            <a:avLst/>
          </a:prstGeom>
        </p:spPr>
      </p:pic>
      <p:sp>
        <p:nvSpPr>
          <p:cNvPr id="10" name="TextBox 9"/>
          <p:cNvSpPr txBox="1"/>
          <p:nvPr/>
        </p:nvSpPr>
        <p:spPr>
          <a:xfrm>
            <a:off x="6035040" y="5394959"/>
            <a:ext cx="5669280" cy="274320"/>
          </a:xfrm>
          <a:prstGeom prst="rect">
            <a:avLst/>
          </a:prstGeom>
          <a:noFill/>
        </p:spPr>
        <p:txBody>
          <a:bodyPr wrap="square">
            <a:spAutoFit/>
          </a:bodyPr>
          <a:lstStyle/>
          <a:p>
            <a:pPr algn="ctr">
              <a:defRPr sz="1000" b="0">
                <a:solidFill>
                  <a:srgbClr val="334155"/>
                </a:solidFill>
                <a:latin typeface="Outfit"/>
              </a:defRPr>
            </a:pPr>
            <a:r>
              <a:t>Figure 1.5: Project Delivery Roadmap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365760"/>
          </a:xfrm>
          <a:prstGeom prst="rect">
            <a:avLst/>
          </a:prstGeom>
          <a:noFill/>
        </p:spPr>
        <p:txBody>
          <a:bodyPr wrap="square">
            <a:spAutoFit/>
          </a:bodyPr>
          <a:lstStyle/>
          <a:p>
            <a:pPr algn="l">
              <a:defRPr sz="1600" b="1">
                <a:solidFill>
                  <a:srgbClr val="0D9488"/>
                </a:solidFill>
                <a:latin typeface="Outfit"/>
              </a:defRPr>
            </a:pPr>
            <a:r>
              <a:t>THANK YOU</a:t>
            </a:r>
          </a:p>
        </p:txBody>
      </p:sp>
      <p:sp>
        <p:nvSpPr>
          <p:cNvPr id="4" name="TextBox 3"/>
          <p:cNvSpPr txBox="1"/>
          <p:nvPr/>
        </p:nvSpPr>
        <p:spPr>
          <a:xfrm>
            <a:off x="457200" y="548640"/>
            <a:ext cx="10972800" cy="548640"/>
          </a:xfrm>
          <a:prstGeom prst="rect">
            <a:avLst/>
          </a:prstGeom>
          <a:noFill/>
        </p:spPr>
        <p:txBody>
          <a:bodyPr wrap="square">
            <a:spAutoFit/>
          </a:bodyPr>
          <a:lstStyle/>
          <a:p>
            <a:pPr algn="l">
              <a:defRPr sz="2800" b="1">
                <a:solidFill>
                  <a:srgbClr val="0F172A"/>
                </a:solidFill>
                <a:latin typeface="Outfit"/>
              </a:defRPr>
            </a:pPr>
            <a:r>
              <a:t>WRAPPING UP AND PARTING THOUGHTS</a:t>
            </a:r>
          </a:p>
        </p:txBody>
      </p:sp>
      <p:sp>
        <p:nvSpPr>
          <p:cNvPr id="5" name="Rectangle 4"/>
          <p:cNvSpPr/>
          <p:nvPr/>
        </p:nvSpPr>
        <p:spPr>
          <a:xfrm>
            <a:off x="457200" y="1097280"/>
            <a:ext cx="22860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5303520" cy="48463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4937760" cy="4480560"/>
          </a:xfrm>
          <a:prstGeom prst="rect">
            <a:avLst/>
          </a:prstGeom>
          <a:noFill/>
        </p:spPr>
        <p:txBody>
          <a:bodyPr wrap="square">
            <a:spAutoFit/>
          </a:bodyPr>
          <a:lstStyle/>
          <a:p>
            <a:pPr>
              <a:spcBef>
                <a:spcPts val="800"/>
              </a:spcBef>
              <a:defRPr sz="1300" b="1">
                <a:solidFill>
                  <a:srgbClr val="0D9488"/>
                </a:solidFill>
                <a:latin typeface="Inter"/>
              </a:defRPr>
            </a:pPr>
            <a:r>
              <a:t>Deployment Recommendations:</a:t>
            </a:r>
          </a:p>
          <a:p>
            <a:pPr lvl="1">
              <a:spcBef>
                <a:spcPts val="300"/>
              </a:spcBef>
              <a:defRPr sz="1200">
                <a:solidFill>
                  <a:srgbClr val="334155"/>
                </a:solidFill>
                <a:latin typeface="Inter"/>
              </a:defRPr>
            </a:pPr>
            <a:r>
              <a:t>For modern 5G grids: Deploy Group 4 (Tower BFT, RVR) to support high throughput (250 TPS) and seal the temporal window (P_secure &gt;= 98%).</a:t>
            </a:r>
          </a:p>
          <a:p>
            <a:pPr lvl="1">
              <a:spcBef>
                <a:spcPts val="300"/>
              </a:spcBef>
              <a:defRPr sz="1200">
                <a:solidFill>
                  <a:srgbClr val="334155"/>
                </a:solidFill>
                <a:latin typeface="Inter"/>
              </a:defRPr>
            </a:pPr>
            <a:r>
              <a:t>For legacy SCADA grids: Deploy Group 3 (HTC-PBFT) to limit local messaging overhead and keep P_secure &gt;= 92%.</a:t>
            </a:r>
          </a:p>
          <a:p>
            <a:pPr>
              <a:spcBef>
                <a:spcPts val="800"/>
              </a:spcBef>
              <a:defRPr sz="1300" b="1">
                <a:solidFill>
                  <a:srgbClr val="0D9488"/>
                </a:solidFill>
                <a:latin typeface="Inter"/>
              </a:defRPr>
            </a:pPr>
            <a:r>
              <a:t>Contact Information:</a:t>
            </a:r>
          </a:p>
          <a:p>
            <a:pPr lvl="1">
              <a:spcBef>
                <a:spcPts val="300"/>
              </a:spcBef>
              <a:defRPr sz="1200">
                <a:solidFill>
                  <a:srgbClr val="334155"/>
                </a:solidFill>
                <a:latin typeface="Inter"/>
              </a:defRPr>
            </a:pPr>
            <a:r>
              <a:t>VJTI Electrical Engineering Department</a:t>
            </a:r>
          </a:p>
          <a:p>
            <a:pPr lvl="1">
              <a:spcBef>
                <a:spcPts val="300"/>
              </a:spcBef>
              <a:defRPr sz="1200">
                <a:solidFill>
                  <a:srgbClr val="334155"/>
                </a:solidFill>
                <a:latin typeface="Inter"/>
              </a:defRPr>
            </a:pPr>
            <a:r>
              <a:t>Research Team: presenter@vjti.ac.in</a:t>
            </a:r>
          </a:p>
        </p:txBody>
      </p:sp>
      <p:sp>
        <p:nvSpPr>
          <p:cNvPr id="8" name="Rounded Rectangle 7"/>
          <p:cNvSpPr/>
          <p:nvPr/>
        </p:nvSpPr>
        <p:spPr>
          <a:xfrm>
            <a:off x="6035040" y="1371600"/>
            <a:ext cx="5669280" cy="48463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554480"/>
            <a:ext cx="5303520" cy="365760"/>
          </a:xfrm>
          <a:prstGeom prst="rect">
            <a:avLst/>
          </a:prstGeom>
          <a:noFill/>
        </p:spPr>
        <p:txBody>
          <a:bodyPr wrap="square">
            <a:spAutoFit/>
          </a:bodyPr>
          <a:lstStyle/>
          <a:p>
            <a:pPr algn="l">
              <a:defRPr sz="1600" b="1">
                <a:solidFill>
                  <a:srgbClr val="0F172A"/>
                </a:solidFill>
                <a:latin typeface="Outfit"/>
              </a:defRPr>
            </a:pPr>
            <a:r>
              <a:t>Key Academic References</a:t>
            </a:r>
          </a:p>
        </p:txBody>
      </p:sp>
      <p:sp>
        <p:nvSpPr>
          <p:cNvPr id="10" name="TextBox 9"/>
          <p:cNvSpPr txBox="1"/>
          <p:nvPr/>
        </p:nvSpPr>
        <p:spPr>
          <a:xfrm>
            <a:off x="6217920" y="1920240"/>
            <a:ext cx="5303520" cy="4114800"/>
          </a:xfrm>
          <a:prstGeom prst="rect">
            <a:avLst/>
          </a:prstGeom>
          <a:noFill/>
        </p:spPr>
        <p:txBody>
          <a:bodyPr wrap="square">
            <a:spAutoFit/>
          </a:bodyPr>
          <a:lstStyle/>
          <a:p>
            <a:pPr>
              <a:spcBef>
                <a:spcPts val="800"/>
              </a:spcBef>
              <a:defRPr sz="1100" b="0">
                <a:solidFill>
                  <a:srgbClr val="334155"/>
                </a:solidFill>
                <a:latin typeface="Inter"/>
              </a:defRPr>
            </a:pPr>
            <a:r>
              <a:t>[1] A. Sheikh et al., 'Secured Energy Trading Using Byzantine-Based Blockchain Consensus,' IEEE Access, 2020.</a:t>
            </a:r>
          </a:p>
          <a:p>
            <a:pPr>
              <a:spcBef>
                <a:spcPts val="800"/>
              </a:spcBef>
              <a:defRPr sz="1100" b="0">
                <a:solidFill>
                  <a:srgbClr val="334155"/>
                </a:solidFill>
                <a:latin typeface="Inter"/>
              </a:defRPr>
            </a:pPr>
            <a:r>
              <a:t>[2] L. Lamport et al., 'The Byzantine Generals Problem,' ACM TOPLAS, 1982.</a:t>
            </a:r>
          </a:p>
          <a:p>
            <a:pPr>
              <a:spcBef>
                <a:spcPts val="800"/>
              </a:spcBef>
              <a:defRPr sz="1100" b="0">
                <a:solidFill>
                  <a:srgbClr val="334155"/>
                </a:solidFill>
                <a:latin typeface="Inter"/>
              </a:defRPr>
            </a:pPr>
            <a:r>
              <a:t>[3] X. Ding et al., 'CE-PBFT: Optimized PBFT Consensus for Microgrid Power Trading,' IEEE Trans. Smart Grid, 2024.</a:t>
            </a:r>
          </a:p>
          <a:p>
            <a:pPr>
              <a:spcBef>
                <a:spcPts val="800"/>
              </a:spcBef>
              <a:defRPr sz="1100" b="0">
                <a:solidFill>
                  <a:srgbClr val="334155"/>
                </a:solidFill>
                <a:latin typeface="Inter"/>
              </a:defRPr>
            </a:pPr>
            <a:r>
              <a:t>[4] Z. Xu et al., 'G-PBFT Algorithm and its Application in Distributed Energy Trading,' Applied Energy, 2025.</a:t>
            </a:r>
          </a:p>
          <a:p>
            <a:pPr>
              <a:spcBef>
                <a:spcPts val="800"/>
              </a:spcBef>
              <a:defRPr sz="1100" b="0">
                <a:solidFill>
                  <a:srgbClr val="334155"/>
                </a:solidFill>
                <a:latin typeface="Inter"/>
              </a:defRPr>
            </a:pPr>
            <a:r>
              <a:t>[5] Y. Suo et al., 'SV-PBFT: Consensus Algorithm for V2V Energy Transactions,' IEEE IoT Journal, 2025.</a:t>
            </a:r>
          </a:p>
          <a:p>
            <a:pPr>
              <a:spcBef>
                <a:spcPts val="800"/>
              </a:spcBef>
              <a:defRPr sz="1100" b="0">
                <a:solidFill>
                  <a:srgbClr val="334155"/>
                </a:solidFill>
                <a:latin typeface="Inter"/>
              </a:defRPr>
            </a:pPr>
            <a:r>
              <a:t>[6] H. Wang et al., 'RVR Blockchain Consensus for Smart Grid Energy Trading,' IEEE TPDS,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