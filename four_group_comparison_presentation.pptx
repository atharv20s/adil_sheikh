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Comparative Analysis of BFT Consensus</a:t>
            </a:r>
            <a:br/>
            <a:r>
              <a:t>Frameworks for Secured Smart Grid</a:t>
            </a:r>
            <a:br/>
            <a:r>
              <a:t>Energy Trading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2743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2FF"/>
                </a:solidFill>
              </a:defRPr>
            </a:pPr>
            <a:r>
              <a:t>A Four-Group Evaluation Using the Static-Temporal Security Framework (STSF)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VJTI Mumbai  •  Department of Electrical Engineering  •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Based on: Sheikh et al., IEEE Access, 2020</a:t>
            </a:r>
            <a:br/>
            <a:r>
              <a:t>Extended with STSF: Tower BFT &amp; RVR Consensus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CCCCC"/>
                </a:solidFill>
              </a:defRPr>
            </a:pPr>
            <a:r>
              <a:t>Sheikh et al. (2020) proved blockchain reduces attack probability from P_TA to P_TAb ≈ 10⁻¹⁷³</a:t>
            </a:r>
          </a:p>
          <a:p>
            <a:pPr>
              <a:defRPr sz="1800" b="0">
                <a:solidFill>
                  <a:srgbClr val="CCCCCC"/>
                </a:solidFill>
              </a:defRPr>
            </a:pPr>
            <a:r>
              <a:t>But: They assumed INSTANTANEOUS consensus finalization</a:t>
            </a:r>
          </a:p>
          <a:p>
            <a:pPr>
              <a:defRPr sz="1800" b="0">
                <a:solidFill>
                  <a:srgbClr val="CCCCCC"/>
                </a:solidFill>
              </a:defRPr>
            </a:pPr>
            <a:r>
              <a:t>Reality: OM(m) takes 43.35 seconds per block at f=16</a:t>
            </a:r>
          </a:p>
          <a:p>
            <a:pPr>
              <a:defRPr sz="1800" b="0">
                <a:solidFill>
                  <a:srgbClr val="CCCCCC"/>
                </a:solidFill>
              </a:defRPr>
            </a:pPr>
            <a:r>
              <a:t>During this window: 867 independent attack attempts possible</a:t>
            </a:r>
          </a:p>
          <a:p>
            <a:pPr>
              <a:defRPr sz="1800" b="0">
                <a:solidFill>
                  <a:srgbClr val="CCCCCC"/>
                </a:solidFill>
              </a:defRPr>
            </a:pPr>
            <a:r>
              <a:t>P_temporal = 1 - (1 - P_TA)⁸⁶⁷ ≈ 0.987 → GUARANTEED compromise!</a:t>
            </a:r>
          </a:p>
          <a:p>
            <a:pPr>
              <a:defRPr sz="1800" b="0">
                <a:solidFill>
                  <a:srgbClr val="CCCCCC"/>
                </a:solidFill>
              </a:defRPr>
            </a:pPr>
          </a:p>
          <a:p>
            <a:pPr>
              <a:defRPr sz="1800" b="0">
                <a:solidFill>
                  <a:srgbClr val="CCCCCC"/>
                </a:solidFill>
              </a:defRPr>
            </a:pPr>
            <a:r>
              <a:t>Question: How do different BFT algorithms affect temporal security?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Static-Temporal Security Framework (STSF)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67E22"/>
                </a:solidFill>
              </a:defRPr>
            </a:pPr>
            <a:r>
              <a:t>P_secure = (1 - P_TAb) × (1 - P_temporal)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</a:defRPr>
            </a:pPr>
            <a:r>
              <a:t>P_TAb  (Static)  →  Sheikh's Eq. 17-21: blockchain reduces attack probability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P_temporal (Temporal) → Our extension: latency creates attack window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P_temporal = 1 - (1 - P_TA)^N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 where N = ⌊ L_consensus / τ_attack ⌋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Key insight: ALL algorithms share the same P_TAb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The ONLY differentiator is consensus LATENCY → P_temporal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Four Groups of BFT Consensus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4114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Group 1: Baselines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Lamport OM(m)</a:t>
            </a:r>
            <a:br/>
            <a:r>
              <a:t>Classic PBFT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 = 15-43 s</a:t>
            </a:r>
            <a:br/>
            <a:r>
              <a:t>N = 306-867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560320" cy="4114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</a:defRPr>
            </a:pPr>
            <a:r>
              <a:t>Group 2: 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IBFT 2.0</a:t>
            </a:r>
            <a:br/>
            <a:r>
              <a:t>QBFT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 = 1.5-2.5 s</a:t>
            </a:r>
            <a:br/>
            <a:r>
              <a:t>N = 30-50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60320" cy="4114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Group 3: Clustered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CE-PBFT, G-PBFT</a:t>
            </a:r>
            <a:br/>
            <a:r>
              <a:t>SV-PBFT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 = 0.5-0.8 s</a:t>
            </a:r>
            <a:br/>
            <a:r>
              <a:t>N = 10-16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371600"/>
            <a:ext cx="2560320" cy="4114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71A3"/>
                </a:solidFill>
              </a:defRPr>
            </a:pPr>
            <a:r>
              <a:t>Group 4: Next-Gen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Tower BFT</a:t>
            </a:r>
            <a:br/>
            <a:r>
              <a:t>RVR Consensus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 ≤ 250 ms</a:t>
            </a:r>
            <a:br/>
            <a:r>
              <a:t>N =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7E22"/>
                </a:solidFill>
              </a:defRPr>
            </a:pPr>
            <a:r>
              <a:t>P_secure:  0.013  →  0.819  →  0.937  →  0.980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</a:defRPr>
            </a:pPr>
            <a:r>
              <a:t>Group 1: Baselines — OM(m) &amp; Classic PBFT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</a:defRPr>
            </a:pPr>
            <a:r>
              <a:t>Full network topology: n_sen = 3854, no clustering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OM(m): O(n^m) messages → 10¹⁸ at f=16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Latency: L_OM = (m+1) × n × τ = 43.35 seconds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Attack window: N = 867 attempts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P_temporal = 1 - (0.995)^867 ≈ 0.987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P_secure = (1 - P_TAb)(1 - 0.987) ≈ 0.013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RESULT: Static security COLLAPSES under temporal exposure</a:t>
            </a:r>
          </a:p>
        </p:txBody>
      </p:sp>
      <p:pic>
        <p:nvPicPr>
          <p:cNvPr id="5" name="Picture 4" descr="comparison_temporal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32181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E44AD"/>
                </a:solidFill>
              </a:defRPr>
            </a:pPr>
            <a:r>
              <a:t>Group 2: Enterprise Consortium — IBFT 2.0 &amp; QBFT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</a:defRPr>
            </a:pPr>
            <a:r>
              <a:t>Validator subset: N_val = 15-21 (≪ n_sen = 3854)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Round-robin leader selection → deterministic &amp; predictable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Latency: L ≈ 1.5-2.5 seconds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Attack window: N = 30-50 attempts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P_temporal ≈ 0.14 - 0.22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P_secure ≈ 0.778 - 0.860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IMPROVEMENT: 6× better than Group 1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WEAKNESS: Predictable leader = localized vulnerability</a:t>
            </a:r>
          </a:p>
        </p:txBody>
      </p:sp>
      <p:pic>
        <p:nvPicPr>
          <p:cNvPr id="5" name="Picture 4" descr="comparison_attack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23108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</a:defRPr>
            </a:pPr>
            <a:r>
              <a:t>Group 3: Clustered Energy PBFT — CE/G/SV-PBFT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</a:defRPr>
            </a:pPr>
            <a:r>
              <a:t>Grid partitioned into small committees (c = 20-30)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Spectral clustering / geohashing / V2V reputation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Comm. channels: c(c-1)/2 vs n_sen(n_sen-1)/2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 → 300 vs 7,426,681 links!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Latency: L ≈ 400-800 ms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Attack window: N = 10-16 attempts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P_temporal ≈ 0.049 - 0.077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P_secure ≈ 0.923 - 0.951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BEST TRADEOFF for legacy infrastructure</a:t>
            </a:r>
          </a:p>
        </p:txBody>
      </p:sp>
      <p:pic>
        <p:nvPicPr>
          <p:cNvPr id="5" name="Picture 4" descr="comparison_message_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28645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71A3"/>
                </a:solidFill>
              </a:defRPr>
            </a:pPr>
            <a:r>
              <a:t>Group 4: Next-Gen — Tower BFT &amp; RVR Consensus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</a:defRPr>
            </a:pPr>
            <a:r>
              <a:t>Tower BFT: PoH VDF clock → O(n) messages, L ≤ 243 ms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RVR: VRF leader hiding → L ≈ 200 ms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Attack window reaches THEORETICAL MINIMUM: N = 4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P_temporal = 1 - (0.995)⁴ ≈ 0.0199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P_secure ≈ 0.980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VRF leader hiding (RVR) additionally reduces P_R: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 P_R,VRF = P_R / n_validators = 0.01/51 ≈ 0.000196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RESULT: Definitively seals the temporal vulnerability</a:t>
            </a:r>
          </a:p>
        </p:txBody>
      </p:sp>
      <p:pic>
        <p:nvPicPr>
          <p:cNvPr id="5" name="Picture 4" descr="comparison_psecur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28525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Unified Grid Security: P_secure Across All Groups</a:t>
            </a:r>
          </a:p>
        </p:txBody>
      </p:sp>
      <p:pic>
        <p:nvPicPr>
          <p:cNvPr id="3" name="Picture 2" descr="comparison_psecur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333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Consensus Latency: The Critical Differentiator</a:t>
            </a:r>
          </a:p>
        </p:txBody>
      </p:sp>
      <p:pic>
        <p:nvPicPr>
          <p:cNvPr id="3" name="Picture 2" descr="comparison_latency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356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Throughput: Transactions Per Second (TPS)</a:t>
            </a:r>
          </a:p>
        </p:txBody>
      </p:sp>
      <p:pic>
        <p:nvPicPr>
          <p:cNvPr id="3" name="Picture 2" descr="comparison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333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Comparative Security &amp; Performance Heatmap</a:t>
            </a:r>
          </a:p>
        </p:txBody>
      </p:sp>
      <p:pic>
        <p:nvPicPr>
          <p:cNvPr id="3" name="Picture 2" descr="comparis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0972800" cy="58930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Multi-Dimensional Radar Comparison</a:t>
            </a:r>
          </a:p>
        </p:txBody>
      </p:sp>
      <p:pic>
        <p:nvPicPr>
          <p:cNvPr id="3" name="Picture 2" descr="comparison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731520"/>
            <a:ext cx="8229600" cy="72056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Progressive Improvement: Group 1 → Group 4</a:t>
            </a:r>
          </a:p>
        </p:txBody>
      </p:sp>
      <p:pic>
        <p:nvPicPr>
          <p:cNvPr id="3" name="Picture 2" descr="comparison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379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Temporal Vulnerability Decay: Operating Points</a:t>
            </a:r>
          </a:p>
        </p:txBody>
      </p:sp>
      <p:pic>
        <p:nvPicPr>
          <p:cNvPr id="3" name="Picture 2" descr="comparison_temporal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61298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Comprehensive Results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98755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1371600"/>
                <a:gridCol w="914400"/>
                <a:gridCol w="91440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TPS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N_att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P_temporal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P_secure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Msgs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Lamport OM(m)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G1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43,350 ms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867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0.9870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0.0130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10¹⁸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Classic PBFT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G1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15,300 ms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306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0.7843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0.2157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7,803</a:t>
                      </a:r>
                    </a:p>
                  </a:txBody>
                  <a:tcPr>
                    <a:solidFill>
                      <a:srgbClr val="E8615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IBFT 2.0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G2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2,500 ms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20.0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0.2217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0.7783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1,323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QBFT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G2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1,500 ms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33.3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0.1396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0.8604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675</a:t>
                      </a:r>
                    </a:p>
                  </a:txBody>
                  <a:tcPr>
                    <a:solidFill>
                      <a:srgbClr val="B66CD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CE-PBFT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G3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800 ms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62.5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0.0771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0.9229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1,875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G-PBFT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G3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650 ms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76.9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0.0631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0.9369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2,700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SV-PBFT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G3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500 ms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0.0489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0.9511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4FD6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Tower BFT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G4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243 ms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205.8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0.0199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0.9802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1,275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RVR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G4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200 ms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250.0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0.0199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0.9802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1,020</a:t>
                      </a:r>
                    </a:p>
                  </a:txBody>
                  <a:tcPr>
                    <a:solidFill>
                      <a:srgbClr val="4C99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</a:defRPr>
            </a:pPr>
            <a:r>
              <a:t>1. Latency is the DOMINANT security parameter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Static P_TAb is identical for ALL algorithms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Only P_temporal differentiates viable from non-viable protocols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2. Group progression is monotonically improving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G1: P_secure ≈ 0.01  →  G4: P_secure ≈ 0.98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Each group achieves ~1 order of magnitude improvement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3. The N ≤ 4 threshold is critical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Consensus must complete within ~250 ms for P_secure ≥ 0.98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4. Clustering (G3) provides 85-95% of security benefit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Best tradeoff for legacy infrastructure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5. VRF leader hiding (RVR) provides defence-in-depth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Reduces P_R through cryptographic unpredictability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Deployment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CC"/>
                </a:solidFill>
              </a:defRPr>
            </a:pPr>
            <a:r>
              <a:t>Legacy SCADA Grids → Group 3 (CE-PBFT, SV-PBFT)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P_secure &gt; 0.92 without sub-ms synchronization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Compatible with existing SCADA infrastructure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Enterprise Microgrids → Group 2 (IBFT 2.0, QBFT)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Familiar Hyperledger/ConsenSys tooling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P_secure ≈ 0.78-0.86 — acceptable for controlled environments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Modern 5G-Connected Grids → Group 4 (Tower BFT, RVR)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P_secure ≥ 0.98 with 200+ TPS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Optimal for V2G and real-time energy markets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Research Direction → Hybrid approaches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• Group 3 clustering + Group 4 sub-second consensus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2860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CC"/>
                </a:solidFill>
              </a:defRPr>
            </a:pPr>
            <a:r>
              <a:t>[1] Sheikh et al., IEEE Access, 2020 — Secured Energy Trading Using Byzantine Consensus</a:t>
            </a:r>
          </a:p>
          <a:p>
            <a:pPr>
              <a:defRPr sz="1100" b="0">
                <a:solidFill>
                  <a:srgbClr val="CCCCCC"/>
                </a:solidFill>
              </a:defRPr>
            </a:pPr>
            <a:r>
              <a:t>[2] Lamport et al., ACM TOPLAS, 1982 — The Byzantine Generals Problem</a:t>
            </a:r>
          </a:p>
          <a:p>
            <a:pPr>
              <a:defRPr sz="1100" b="0">
                <a:solidFill>
                  <a:srgbClr val="CCCCCC"/>
                </a:solidFill>
              </a:defRPr>
            </a:pPr>
            <a:r>
              <a:t>[3] Yakovenko, 2018 — Solana Whitepaper (PoH / Tower BFT)</a:t>
            </a:r>
          </a:p>
          <a:p>
            <a:pPr>
              <a:defRPr sz="1100" b="0">
                <a:solidFill>
                  <a:srgbClr val="CCCCCC"/>
                </a:solidFill>
              </a:defRPr>
            </a:pPr>
            <a:r>
              <a:t>[4] X. Ding et al., IEEE Trans. Smart Grid, 2024 — CE-PBFT</a:t>
            </a:r>
          </a:p>
          <a:p>
            <a:pPr>
              <a:defRPr sz="1100" b="0">
                <a:solidFill>
                  <a:srgbClr val="CCCCCC"/>
                </a:solidFill>
              </a:defRPr>
            </a:pPr>
            <a:r>
              <a:t>[5] Z. Xu et al., Applied Energy, 2025 — G-PBFT</a:t>
            </a:r>
          </a:p>
          <a:p>
            <a:pPr>
              <a:defRPr sz="1100" b="0">
                <a:solidFill>
                  <a:srgbClr val="CCCCCC"/>
                </a:solidFill>
              </a:defRPr>
            </a:pPr>
            <a:r>
              <a:t>[6] Y. Suo et al., IEEE IoT Journal, 2025 — SV-PBFT</a:t>
            </a:r>
          </a:p>
          <a:p>
            <a:pPr>
              <a:defRPr sz="1100" b="0">
                <a:solidFill>
                  <a:srgbClr val="CCCCCC"/>
                </a:solidFill>
              </a:defRPr>
            </a:pPr>
            <a:r>
              <a:t>[7] H. Wang et al., IEEE TPDS, 2025 — RVR Consensus</a:t>
            </a:r>
          </a:p>
          <a:p>
            <a:pPr>
              <a:defRPr sz="1100" b="0">
                <a:solidFill>
                  <a:srgbClr val="CCCCCC"/>
                </a:solidFill>
              </a:defRPr>
            </a:pPr>
            <a:r>
              <a:t>[8] Z. Li et al., IEEE Trans. Ind. Informatics, 2020 — Secure P2P Trading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